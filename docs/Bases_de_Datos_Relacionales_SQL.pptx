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2" Type="http://schemas.openxmlformats.org/officeDocument/2006/relationships/hyperlink" Target="https://github.com/arita-pereira/bases-de-datos-relacionales-sql" TargetMode="External"/><Relationship Id="rId1" Type="http://schemas.openxmlformats.org/officeDocument/2006/relationships/image" Target="../media/image-30-1.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5394960" y="777240"/>
            <a:ext cx="1371600" cy="1371600"/>
          </a:xfrm>
          <a:prstGeom prst="ellipse">
            <a:avLst/>
          </a:prstGeom>
          <a:solidFill>
            <a:srgbClr val="065A82"/>
          </a:solidFill>
          <a:ln/>
        </p:spPr>
      </p:sp>
      <p:pic>
        <p:nvPicPr>
          <p:cNvPr id="3" name="Image 0" descr="/home/claude/work/pptx_build/icons/database.png">    </p:cNvPr>
          <p:cNvPicPr>
            <a:picLocks noChangeAspect="1"/>
          </p:cNvPicPr>
          <p:nvPr/>
        </p:nvPicPr>
        <p:blipFill>
          <a:blip r:embed="rId1"/>
          <a:stretch>
            <a:fillRect/>
          </a:stretch>
        </p:blipFill>
        <p:spPr>
          <a:xfrm>
            <a:off x="5586984" y="969264"/>
            <a:ext cx="987552" cy="987552"/>
          </a:xfrm>
          <a:prstGeom prst="rect">
            <a:avLst/>
          </a:prstGeom>
        </p:spPr>
      </p:pic>
      <p:sp>
        <p:nvSpPr>
          <p:cNvPr id="4" name="Text 1"/>
          <p:cNvSpPr/>
          <p:nvPr/>
        </p:nvSpPr>
        <p:spPr>
          <a:xfrm>
            <a:off x="731520" y="2377440"/>
            <a:ext cx="10698480" cy="914400"/>
          </a:xfrm>
          <a:prstGeom prst="rect">
            <a:avLst/>
          </a:prstGeom>
          <a:noFill/>
          <a:ln/>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Bases de Datos Relacionales</a:t>
            </a:r>
            <a:endParaRPr lang="en-US" sz="4000" dirty="0"/>
          </a:p>
        </p:txBody>
      </p:sp>
      <p:sp>
        <p:nvSpPr>
          <p:cNvPr id="5" name="Text 2"/>
          <p:cNvSpPr/>
          <p:nvPr/>
        </p:nvSpPr>
        <p:spPr>
          <a:xfrm>
            <a:off x="731520" y="3200400"/>
            <a:ext cx="10698480" cy="640080"/>
          </a:xfrm>
          <a:prstGeom prst="rect">
            <a:avLst/>
          </a:prstGeom>
          <a:noFill/>
          <a:ln/>
        </p:spPr>
        <p:txBody>
          <a:bodyPr wrap="square" rtlCol="0" anchor="ctr"/>
          <a:lstStyle/>
          <a:p>
            <a:pPr algn="ctr" indent="0" marL="0">
              <a:buNone/>
            </a:pPr>
            <a:r>
              <a:rPr lang="en-US" sz="2600" b="1" dirty="0">
                <a:solidFill>
                  <a:srgbClr val="9FD8E8"/>
                </a:solidFill>
                <a:latin typeface="Cambria" pitchFamily="34" charset="0"/>
                <a:ea typeface="Cambria" pitchFamily="34" charset="-122"/>
                <a:cs typeface="Cambria" pitchFamily="34" charset="-120"/>
              </a:rPr>
              <a:t>CRUD, diseño e integridad en SQL puro</a:t>
            </a:r>
            <a:endParaRPr lang="en-US" sz="2600" dirty="0"/>
          </a:p>
        </p:txBody>
      </p:sp>
      <p:sp>
        <p:nvSpPr>
          <p:cNvPr id="6" name="Text 3"/>
          <p:cNvSpPr/>
          <p:nvPr/>
        </p:nvSpPr>
        <p:spPr>
          <a:xfrm>
            <a:off x="731520" y="4114800"/>
            <a:ext cx="10698480" cy="457200"/>
          </a:xfrm>
          <a:prstGeom prst="rect">
            <a:avLst/>
          </a:prstGeom>
          <a:noFill/>
          <a:ln/>
        </p:spPr>
        <p:txBody>
          <a:bodyPr wrap="square" rtlCol="0" anchor="ctr"/>
          <a:lstStyle/>
          <a:p>
            <a:pPr algn="ctr" indent="0" marL="0">
              <a:buNone/>
            </a:pPr>
            <a:r>
              <a:rPr lang="en-US" sz="1600" dirty="0">
                <a:solidFill>
                  <a:srgbClr val="C9D6E3"/>
                </a:solidFill>
                <a:latin typeface="Calibri" pitchFamily="34" charset="0"/>
                <a:ea typeface="Calibri" pitchFamily="34" charset="-122"/>
                <a:cs typeface="Calibri" pitchFamily="34" charset="-120"/>
              </a:rPr>
              <a:t>Píldora técnica · 7 de octubre · 45 minutos</a:t>
            </a:r>
            <a:endParaRPr lang="en-US" sz="1600" dirty="0"/>
          </a:p>
        </p:txBody>
      </p:sp>
      <p:sp>
        <p:nvSpPr>
          <p:cNvPr id="7" name="Text 4"/>
          <p:cNvSpPr/>
          <p:nvPr/>
        </p:nvSpPr>
        <p:spPr>
          <a:xfrm>
            <a:off x="731520" y="5257800"/>
            <a:ext cx="10698480" cy="411480"/>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Rita Pereira</a:t>
            </a:r>
            <a:endParaRPr lang="en-US" sz="1700" dirty="0"/>
          </a:p>
        </p:txBody>
      </p:sp>
      <p:sp>
        <p:nvSpPr>
          <p:cNvPr id="8" name="Text 5"/>
          <p:cNvSpPr/>
          <p:nvPr/>
        </p:nvSpPr>
        <p:spPr>
          <a:xfrm>
            <a:off x="731520" y="5669280"/>
            <a:ext cx="10698480" cy="365760"/>
          </a:xfrm>
          <a:prstGeom prst="rect">
            <a:avLst/>
          </a:prstGeom>
          <a:noFill/>
          <a:ln/>
        </p:spPr>
        <p:txBody>
          <a:bodyPr wrap="square" rtlCol="0" anchor="ctr"/>
          <a:lstStyle/>
          <a:p>
            <a:pPr algn="ctr" indent="0" marL="0">
              <a:buNone/>
            </a:pPr>
            <a:r>
              <a:rPr lang="en-US" sz="1300" dirty="0">
                <a:solidFill>
                  <a:srgbClr val="9FD8E8"/>
                </a:solidFill>
                <a:latin typeface="Calibri" pitchFamily="34" charset="0"/>
                <a:ea typeface="Calibri" pitchFamily="34" charset="-122"/>
                <a:cs typeface="Calibri" pitchFamily="34" charset="-120"/>
              </a:rPr>
              <a:t>IA School Barcelona · P1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822960"/>
          </a:xfrm>
          <a:prstGeom prst="rect">
            <a:avLst/>
          </a:prstGeom>
          <a:noFill/>
          <a:ln/>
        </p:spPr>
        <p:txBody>
          <a:bodyPr wrap="square"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¿Dónde vive todo lo que usamos a diario?</a:t>
            </a:r>
            <a:endParaRPr lang="en-US" sz="3200" dirty="0"/>
          </a:p>
        </p:txBody>
      </p:sp>
      <p:sp>
        <p:nvSpPr>
          <p:cNvPr id="3" name="Text 1"/>
          <p:cNvSpPr/>
          <p:nvPr/>
        </p:nvSpPr>
        <p:spPr>
          <a:xfrm>
            <a:off x="548640" y="1554480"/>
            <a:ext cx="6126480" cy="3657600"/>
          </a:xfrm>
          <a:prstGeom prst="rect">
            <a:avLst/>
          </a:prstGeom>
          <a:noFill/>
          <a:ln/>
        </p:spPr>
        <p:txBody>
          <a:bodyPr wrap="square" rtlCol="0" anchor="t"/>
          <a:lstStyle/>
          <a:p>
            <a:pPr algn="l" indent="0" marL="0">
              <a:lnSpc>
                <a:spcPct val="125000"/>
              </a:lnSpc>
              <a:buNone/>
            </a:pPr>
            <a:r>
              <a:rPr lang="en-US" sz="1800" dirty="0">
                <a:solidFill>
                  <a:srgbClr val="2E3B47"/>
                </a:solidFill>
                <a:latin typeface="Calibri" pitchFamily="34" charset="0"/>
                <a:ea typeface="Calibri" pitchFamily="34" charset="-122"/>
                <a:cs typeface="Calibri" pitchFamily="34" charset="-120"/>
              </a:rPr>
              <a:t>¿Alguna vez habéis buscado algo en Instagram, o mirado vuestro saldo en la app del banco?</a:t>
            </a:r>
            <a:endParaRPr lang="en-US" sz="1800" dirty="0"/>
          </a:p>
          <a:p>
            <a:pPr algn="l" indent="0" marL="0">
              <a:lnSpc>
                <a:spcPct val="125000"/>
              </a:lnSpc>
              <a:buNone/>
            </a:pPr>
            <a:endParaRPr lang="en-US" sz="1800" dirty="0"/>
          </a:p>
          <a:p>
            <a:pPr algn="l" indent="0" marL="0">
              <a:lnSpc>
                <a:spcPct val="125000"/>
              </a:lnSpc>
              <a:buNone/>
            </a:pPr>
            <a:r>
              <a:rPr lang="en-US" sz="1800" dirty="0">
                <a:solidFill>
                  <a:srgbClr val="2E3B47"/>
                </a:solidFill>
                <a:latin typeface="Calibri" pitchFamily="34" charset="0"/>
                <a:ea typeface="Calibri" pitchFamily="34" charset="-122"/>
                <a:cs typeface="Calibri" pitchFamily="34" charset="-120"/>
              </a:rPr>
              <a:t>Todo eso vive guardado en algún sitio, ordenado, para poder encontrarse en un instante.</a:t>
            </a:r>
            <a:endParaRPr lang="en-US" sz="1800" dirty="0"/>
          </a:p>
          <a:p>
            <a:pPr algn="l" indent="0" marL="0">
              <a:lnSpc>
                <a:spcPct val="125000"/>
              </a:lnSpc>
              <a:buNone/>
            </a:pPr>
            <a:endParaRPr lang="en-US" sz="1800" dirty="0"/>
          </a:p>
          <a:p>
            <a:pPr algn="l" indent="0" marL="0">
              <a:lnSpc>
                <a:spcPct val="125000"/>
              </a:lnSpc>
              <a:buNone/>
            </a:pPr>
            <a:r>
              <a:rPr lang="en-US" sz="1800" dirty="0">
                <a:solidFill>
                  <a:srgbClr val="2E3B47"/>
                </a:solidFill>
                <a:latin typeface="Calibri" pitchFamily="34" charset="0"/>
                <a:ea typeface="Calibri" pitchFamily="34" charset="-122"/>
                <a:cs typeface="Calibri" pitchFamily="34" charset="-120"/>
              </a:rPr>
              <a:t>Hoy vamos a abrir esa caja.</a:t>
            </a:r>
            <a:endParaRPr lang="en-US" sz="1800" dirty="0"/>
          </a:p>
        </p:txBody>
      </p:sp>
      <p:sp>
        <p:nvSpPr>
          <p:cNvPr id="4" name="Shape 2"/>
          <p:cNvSpPr/>
          <p:nvPr/>
        </p:nvSpPr>
        <p:spPr>
          <a:xfrm>
            <a:off x="7223760" y="1737360"/>
            <a:ext cx="4206240" cy="914400"/>
          </a:xfrm>
          <a:prstGeom prst="roundRect">
            <a:avLst>
              <a:gd name="adj" fmla="val 12000"/>
            </a:avLst>
          </a:prstGeom>
          <a:solidFill>
            <a:srgbClr val="F4F7F9"/>
          </a:solidFill>
          <a:ln/>
        </p:spPr>
      </p:sp>
      <p:sp>
        <p:nvSpPr>
          <p:cNvPr id="5" name="Text 3"/>
          <p:cNvSpPr/>
          <p:nvPr/>
        </p:nvSpPr>
        <p:spPr>
          <a:xfrm>
            <a:off x="7406640" y="1737360"/>
            <a:ext cx="3840480" cy="914400"/>
          </a:xfrm>
          <a:prstGeom prst="rect">
            <a:avLst/>
          </a:prstGeom>
          <a:noFill/>
          <a:ln/>
        </p:spPr>
        <p:txBody>
          <a:bodyPr wrap="square" rtlCol="0" anchor="ctr"/>
          <a:lstStyle/>
          <a:p>
            <a:pPr indent="0" marL="0">
              <a:buNone/>
            </a:pPr>
            <a:r>
              <a:rPr lang="en-US" sz="1500" dirty="0">
                <a:solidFill>
                  <a:srgbClr val="21295C"/>
                </a:solidFill>
                <a:latin typeface="Calibri" pitchFamily="34" charset="0"/>
                <a:ea typeface="Calibri" pitchFamily="34" charset="-122"/>
                <a:cs typeface="Calibri" pitchFamily="34" charset="-120"/>
              </a:rPr>
              <a:t>📱  Apps que usas cada día</a:t>
            </a:r>
            <a:endParaRPr lang="en-US" sz="1500" dirty="0"/>
          </a:p>
        </p:txBody>
      </p:sp>
      <p:sp>
        <p:nvSpPr>
          <p:cNvPr id="6" name="Shape 4"/>
          <p:cNvSpPr/>
          <p:nvPr/>
        </p:nvSpPr>
        <p:spPr>
          <a:xfrm>
            <a:off x="9326880" y="2697480"/>
            <a:ext cx="0" cy="502920"/>
          </a:xfrm>
          <a:prstGeom prst="line">
            <a:avLst/>
          </a:prstGeom>
          <a:noFill/>
          <a:ln w="25400">
            <a:solidFill>
              <a:srgbClr val="1C7293"/>
            </a:solidFill>
            <a:prstDash val="dash"/>
          </a:ln>
        </p:spPr>
      </p:sp>
      <p:sp>
        <p:nvSpPr>
          <p:cNvPr id="7" name="Shape 5"/>
          <p:cNvSpPr/>
          <p:nvPr/>
        </p:nvSpPr>
        <p:spPr>
          <a:xfrm>
            <a:off x="8641080" y="3246120"/>
            <a:ext cx="1371600" cy="1371600"/>
          </a:xfrm>
          <a:prstGeom prst="ellipse">
            <a:avLst/>
          </a:prstGeom>
          <a:solidFill>
            <a:srgbClr val="065A82"/>
          </a:solidFill>
          <a:ln/>
        </p:spPr>
      </p:sp>
      <p:pic>
        <p:nvPicPr>
          <p:cNvPr id="8" name="Image 0" descr="/home/claude/work/pptx_build/icons/database.png">    </p:cNvPr>
          <p:cNvPicPr>
            <a:picLocks noChangeAspect="1"/>
          </p:cNvPicPr>
          <p:nvPr/>
        </p:nvPicPr>
        <p:blipFill>
          <a:blip r:embed="rId1"/>
          <a:stretch>
            <a:fillRect/>
          </a:stretch>
        </p:blipFill>
        <p:spPr>
          <a:xfrm>
            <a:off x="8833104" y="3438144"/>
            <a:ext cx="987552" cy="987552"/>
          </a:xfrm>
          <a:prstGeom prst="rect">
            <a:avLst/>
          </a:prstGeom>
        </p:spPr>
      </p:pic>
      <p:sp>
        <p:nvSpPr>
          <p:cNvPr id="9" name="Text 6"/>
          <p:cNvSpPr/>
          <p:nvPr/>
        </p:nvSpPr>
        <p:spPr>
          <a:xfrm>
            <a:off x="7223760" y="4709160"/>
            <a:ext cx="4206240" cy="365760"/>
          </a:xfrm>
          <a:prstGeom prst="rect">
            <a:avLst/>
          </a:prstGeom>
          <a:noFill/>
          <a:ln/>
        </p:spPr>
        <p:txBody>
          <a:bodyPr wrap="square" rtlCol="0" anchor="ctr"/>
          <a:lstStyle/>
          <a:p>
            <a:pPr algn="ctr" indent="0" marL="0">
              <a:buNone/>
            </a:pPr>
            <a:r>
              <a:rPr lang="en-US" sz="1400" dirty="0">
                <a:solidFill>
                  <a:srgbClr val="5B6B7A"/>
                </a:solidFill>
                <a:latin typeface="Calibri" pitchFamily="34" charset="0"/>
                <a:ea typeface="Calibri" pitchFamily="34" charset="-122"/>
                <a:cs typeface="Calibri" pitchFamily="34" charset="-120"/>
              </a:rPr>
              <a:t>Base de datos</a:t>
            </a:r>
            <a:endParaRPr lang="en-US" sz="1400" dirty="0"/>
          </a:p>
        </p:txBody>
      </p:sp>
      <p:sp>
        <p:nvSpPr>
          <p:cNvPr id="10" name="Text 7"/>
          <p:cNvSpPr/>
          <p:nvPr/>
        </p:nvSpPr>
        <p:spPr>
          <a:xfrm>
            <a:off x="457200" y="6537960"/>
            <a:ext cx="7315200" cy="274320"/>
          </a:xfrm>
          <a:prstGeom prst="rect">
            <a:avLst/>
          </a:prstGeom>
          <a:noFill/>
          <a:ln/>
        </p:spPr>
        <p:txBody>
          <a:bodyPr wrap="square" rtlCol="0" anchor="ctr"/>
          <a:lstStyle/>
          <a:p>
            <a:pPr algn="l" indent="0" marL="0">
              <a:buNone/>
            </a:pPr>
            <a:r>
              <a:rPr lang="en-US" sz="1000" dirty="0">
                <a:solidFill>
                  <a:srgbClr val="5B6B7A"/>
                </a:solidFill>
                <a:latin typeface="Calibri" pitchFamily="34" charset="0"/>
                <a:ea typeface="Calibri" pitchFamily="34" charset="-122"/>
                <a:cs typeface="Calibri" pitchFamily="34" charset="-120"/>
              </a:rPr>
              <a:t>Introducción</a:t>
            </a:r>
            <a:endParaRPr lang="en-US" sz="1000" dirty="0"/>
          </a:p>
        </p:txBody>
      </p:sp>
      <p:sp>
        <p:nvSpPr>
          <p:cNvPr id="11" name="Text 8"/>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73152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¿Por qué necesitamos organizar la información?</a:t>
            </a:r>
            <a:endParaRPr lang="en-US" sz="3000" dirty="0"/>
          </a:p>
        </p:txBody>
      </p:sp>
      <p:sp>
        <p:nvSpPr>
          <p:cNvPr id="3" name="Shape 1"/>
          <p:cNvSpPr/>
          <p:nvPr/>
        </p:nvSpPr>
        <p:spPr>
          <a:xfrm>
            <a:off x="640080" y="1600200"/>
            <a:ext cx="731520" cy="731520"/>
          </a:xfrm>
          <a:prstGeom prst="ellipse">
            <a:avLst/>
          </a:prstGeom>
          <a:solidFill>
            <a:srgbClr val="1C7293"/>
          </a:solidFill>
          <a:ln/>
        </p:spPr>
      </p:sp>
      <p:pic>
        <p:nvPicPr>
          <p:cNvPr id="4" name="Image 0" descr="/home/claude/work/pptx_build/icons/book.png">    </p:cNvPr>
          <p:cNvPicPr>
            <a:picLocks noChangeAspect="1"/>
          </p:cNvPicPr>
          <p:nvPr/>
        </p:nvPicPr>
        <p:blipFill>
          <a:blip r:embed="rId1"/>
          <a:stretch>
            <a:fillRect/>
          </a:stretch>
        </p:blipFill>
        <p:spPr>
          <a:xfrm>
            <a:off x="742493" y="1702613"/>
            <a:ext cx="526694" cy="526694"/>
          </a:xfrm>
          <a:prstGeom prst="rect">
            <a:avLst/>
          </a:prstGeom>
        </p:spPr>
      </p:pic>
      <p:sp>
        <p:nvSpPr>
          <p:cNvPr id="5" name="Text 2"/>
          <p:cNvSpPr/>
          <p:nvPr/>
        </p:nvSpPr>
        <p:spPr>
          <a:xfrm>
            <a:off x="1645920" y="1554480"/>
            <a:ext cx="9692640" cy="365760"/>
          </a:xfrm>
          <a:prstGeom prst="rect">
            <a:avLst/>
          </a:prstGeom>
          <a:noFill/>
          <a:ln/>
        </p:spPr>
        <p:txBody>
          <a:bodyPr wrap="square"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Una biblioteca gigante</a:t>
            </a:r>
            <a:endParaRPr lang="en-US" sz="1700" dirty="0"/>
          </a:p>
        </p:txBody>
      </p:sp>
      <p:sp>
        <p:nvSpPr>
          <p:cNvPr id="6" name="Text 3"/>
          <p:cNvSpPr/>
          <p:nvPr/>
        </p:nvSpPr>
        <p:spPr>
          <a:xfrm>
            <a:off x="1645920" y="1947672"/>
            <a:ext cx="9692640" cy="548640"/>
          </a:xfrm>
          <a:prstGeom prst="rect">
            <a:avLst/>
          </a:prstGeom>
          <a:noFill/>
          <a:ln/>
        </p:spPr>
        <p:txBody>
          <a:bodyPr wrap="square" rtlCol="0" anchor="ctr"/>
          <a:lstStyle/>
          <a:p>
            <a:pPr indent="0" marL="0">
              <a:buNone/>
            </a:pPr>
            <a:r>
              <a:rPr lang="en-US" sz="1400" dirty="0">
                <a:solidFill>
                  <a:srgbClr val="5B6B7A"/>
                </a:solidFill>
                <a:latin typeface="Calibri" pitchFamily="34" charset="0"/>
                <a:ea typeface="Calibri" pitchFamily="34" charset="-122"/>
                <a:cs typeface="Calibri" pitchFamily="34" charset="-120"/>
              </a:rPr>
              <a:t>Como una biblioteca con miles de libros: sin orden, encontrar uno tardaría horas.</a:t>
            </a:r>
            <a:endParaRPr lang="en-US" sz="1400" dirty="0"/>
          </a:p>
        </p:txBody>
      </p:sp>
      <p:sp>
        <p:nvSpPr>
          <p:cNvPr id="7" name="Shape 4"/>
          <p:cNvSpPr/>
          <p:nvPr/>
        </p:nvSpPr>
        <p:spPr>
          <a:xfrm>
            <a:off x="640080" y="3017520"/>
            <a:ext cx="731520" cy="731520"/>
          </a:xfrm>
          <a:prstGeom prst="ellipse">
            <a:avLst/>
          </a:prstGeom>
          <a:solidFill>
            <a:srgbClr val="1C7293"/>
          </a:solidFill>
          <a:ln/>
        </p:spPr>
      </p:sp>
      <p:pic>
        <p:nvPicPr>
          <p:cNvPr id="8" name="Image 1" descr="/home/claude/work/pptx_build/icons/table.png">    </p:cNvPr>
          <p:cNvPicPr>
            <a:picLocks noChangeAspect="1"/>
          </p:cNvPicPr>
          <p:nvPr/>
        </p:nvPicPr>
        <p:blipFill>
          <a:blip r:embed="rId2"/>
          <a:stretch>
            <a:fillRect/>
          </a:stretch>
        </p:blipFill>
        <p:spPr>
          <a:xfrm>
            <a:off x="742493" y="3119933"/>
            <a:ext cx="526694" cy="526694"/>
          </a:xfrm>
          <a:prstGeom prst="rect">
            <a:avLst/>
          </a:prstGeom>
        </p:spPr>
      </p:pic>
      <p:sp>
        <p:nvSpPr>
          <p:cNvPr id="9" name="Text 5"/>
          <p:cNvSpPr/>
          <p:nvPr/>
        </p:nvSpPr>
        <p:spPr>
          <a:xfrm>
            <a:off x="1645920" y="2971800"/>
            <a:ext cx="9692640" cy="365760"/>
          </a:xfrm>
          <a:prstGeom prst="rect">
            <a:avLst/>
          </a:prstGeom>
          <a:noFill/>
          <a:ln/>
        </p:spPr>
        <p:txBody>
          <a:bodyPr wrap="square"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Con estructura, todo cuadra</a:t>
            </a:r>
            <a:endParaRPr lang="en-US" sz="1700" dirty="0"/>
          </a:p>
        </p:txBody>
      </p:sp>
      <p:sp>
        <p:nvSpPr>
          <p:cNvPr id="10" name="Text 6"/>
          <p:cNvSpPr/>
          <p:nvPr/>
        </p:nvSpPr>
        <p:spPr>
          <a:xfrm>
            <a:off x="1645920" y="3364992"/>
            <a:ext cx="9692640" cy="548640"/>
          </a:xfrm>
          <a:prstGeom prst="rect">
            <a:avLst/>
          </a:prstGeom>
          <a:noFill/>
          <a:ln/>
        </p:spPr>
        <p:txBody>
          <a:bodyPr wrap="square" rtlCol="0" anchor="ctr"/>
          <a:lstStyle/>
          <a:p>
            <a:pPr indent="0" marL="0">
              <a:buNone/>
            </a:pPr>
            <a:r>
              <a:rPr lang="en-US" sz="1400" dirty="0">
                <a:solidFill>
                  <a:srgbClr val="5B6B7A"/>
                </a:solidFill>
                <a:latin typeface="Calibri" pitchFamily="34" charset="0"/>
                <a:ea typeface="Calibri" pitchFamily="34" charset="-122"/>
                <a:cs typeface="Calibri" pitchFamily="34" charset="-120"/>
              </a:rPr>
              <a:t>Tablas, filas y columnas permiten que un ordenador encuentre exactamente lo que le pides, en milisegundos.</a:t>
            </a:r>
            <a:endParaRPr lang="en-US" sz="1400" dirty="0"/>
          </a:p>
        </p:txBody>
      </p:sp>
      <p:sp>
        <p:nvSpPr>
          <p:cNvPr id="11" name="Shape 7"/>
          <p:cNvSpPr/>
          <p:nvPr/>
        </p:nvSpPr>
        <p:spPr>
          <a:xfrm>
            <a:off x="640080" y="4434840"/>
            <a:ext cx="731520" cy="731520"/>
          </a:xfrm>
          <a:prstGeom prst="ellipse">
            <a:avLst/>
          </a:prstGeom>
          <a:solidFill>
            <a:srgbClr val="1C7293"/>
          </a:solidFill>
          <a:ln/>
        </p:spPr>
      </p:sp>
      <p:pic>
        <p:nvPicPr>
          <p:cNvPr id="12" name="Image 2" descr="/home/claude/work/pptx_build/icons/check.png">    </p:cNvPr>
          <p:cNvPicPr>
            <a:picLocks noChangeAspect="1"/>
          </p:cNvPicPr>
          <p:nvPr/>
        </p:nvPicPr>
        <p:blipFill>
          <a:blip r:embed="rId3"/>
          <a:stretch>
            <a:fillRect/>
          </a:stretch>
        </p:blipFill>
        <p:spPr>
          <a:xfrm>
            <a:off x="742493" y="4537253"/>
            <a:ext cx="526694" cy="526694"/>
          </a:xfrm>
          <a:prstGeom prst="rect">
            <a:avLst/>
          </a:prstGeom>
        </p:spPr>
      </p:pic>
      <p:sp>
        <p:nvSpPr>
          <p:cNvPr id="13" name="Text 8"/>
          <p:cNvSpPr/>
          <p:nvPr/>
        </p:nvSpPr>
        <p:spPr>
          <a:xfrm>
            <a:off x="1645920" y="4389120"/>
            <a:ext cx="9692640" cy="365760"/>
          </a:xfrm>
          <a:prstGeom prst="rect">
            <a:avLst/>
          </a:prstGeom>
          <a:noFill/>
          <a:ln/>
        </p:spPr>
        <p:txBody>
          <a:bodyPr wrap="square"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Sin errores ni duplicados</a:t>
            </a:r>
            <a:endParaRPr lang="en-US" sz="1700" dirty="0"/>
          </a:p>
        </p:txBody>
      </p:sp>
      <p:sp>
        <p:nvSpPr>
          <p:cNvPr id="14" name="Text 9"/>
          <p:cNvSpPr/>
          <p:nvPr/>
        </p:nvSpPr>
        <p:spPr>
          <a:xfrm>
            <a:off x="1645920" y="4782312"/>
            <a:ext cx="9692640" cy="548640"/>
          </a:xfrm>
          <a:prstGeom prst="rect">
            <a:avLst/>
          </a:prstGeom>
          <a:noFill/>
          <a:ln/>
        </p:spPr>
        <p:txBody>
          <a:bodyPr wrap="square" rtlCol="0" anchor="ctr"/>
          <a:lstStyle/>
          <a:p>
            <a:pPr indent="0" marL="0">
              <a:buNone/>
            </a:pPr>
            <a:r>
              <a:rPr lang="en-US" sz="1400" dirty="0">
                <a:solidFill>
                  <a:srgbClr val="5B6B7A"/>
                </a:solidFill>
                <a:latin typeface="Calibri" pitchFamily="34" charset="0"/>
                <a:ea typeface="Calibri" pitchFamily="34" charset="-122"/>
                <a:cs typeface="Calibri" pitchFamily="34" charset="-120"/>
              </a:rPr>
              <a:t>Evita que el mismo cliente aparezca tres veces con tres direcciones distintas.</a:t>
            </a:r>
            <a:endParaRPr lang="en-US" sz="1400" dirty="0"/>
          </a:p>
        </p:txBody>
      </p:sp>
      <p:sp>
        <p:nvSpPr>
          <p:cNvPr id="15" name="Text 10"/>
          <p:cNvSpPr/>
          <p:nvPr/>
        </p:nvSpPr>
        <p:spPr>
          <a:xfrm>
            <a:off x="457200" y="6537960"/>
            <a:ext cx="7315200" cy="274320"/>
          </a:xfrm>
          <a:prstGeom prst="rect">
            <a:avLst/>
          </a:prstGeom>
          <a:noFill/>
          <a:ln/>
        </p:spPr>
        <p:txBody>
          <a:bodyPr wrap="square" rtlCol="0" anchor="ctr"/>
          <a:lstStyle/>
          <a:p>
            <a:pPr algn="l" indent="0" marL="0">
              <a:buNone/>
            </a:pPr>
            <a:r>
              <a:rPr lang="en-US" sz="1000" dirty="0">
                <a:solidFill>
                  <a:srgbClr val="5B6B7A"/>
                </a:solidFill>
                <a:latin typeface="Calibri" pitchFamily="34" charset="0"/>
                <a:ea typeface="Calibri" pitchFamily="34" charset="-122"/>
                <a:cs typeface="Calibri" pitchFamily="34" charset="-120"/>
              </a:rPr>
              <a:t>Introducción</a:t>
            </a:r>
            <a:endParaRPr lang="en-US" sz="1000" dirty="0"/>
          </a:p>
        </p:txBody>
      </p:sp>
      <p:sp>
        <p:nvSpPr>
          <p:cNvPr id="16" name="Text 11"/>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73152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Tipos de bases de datos</a:t>
            </a:r>
            <a:endParaRPr lang="en-US" sz="3000" dirty="0"/>
          </a:p>
        </p:txBody>
      </p:sp>
      <p:sp>
        <p:nvSpPr>
          <p:cNvPr id="3" name="Shape 1"/>
          <p:cNvSpPr/>
          <p:nvPr/>
        </p:nvSpPr>
        <p:spPr>
          <a:xfrm>
            <a:off x="640080" y="1554480"/>
            <a:ext cx="5212080" cy="4297680"/>
          </a:xfrm>
          <a:prstGeom prst="roundRect">
            <a:avLst>
              <a:gd name="adj" fmla="val 2553"/>
            </a:avLst>
          </a:prstGeom>
          <a:solidFill>
            <a:srgbClr val="065A82"/>
          </a:solidFill>
          <a:ln/>
        </p:spPr>
      </p:sp>
      <p:sp>
        <p:nvSpPr>
          <p:cNvPr id="4" name="Text 2"/>
          <p:cNvSpPr/>
          <p:nvPr/>
        </p:nvSpPr>
        <p:spPr>
          <a:xfrm>
            <a:off x="914400" y="1783080"/>
            <a:ext cx="4663440" cy="45720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Relacionales (SQL)</a:t>
            </a:r>
            <a:endParaRPr lang="en-US" sz="2000" dirty="0"/>
          </a:p>
        </p:txBody>
      </p:sp>
      <p:sp>
        <p:nvSpPr>
          <p:cNvPr id="5" name="Text 3"/>
          <p:cNvSpPr/>
          <p:nvPr/>
        </p:nvSpPr>
        <p:spPr>
          <a:xfrm>
            <a:off x="914400" y="2377440"/>
            <a:ext cx="4663440" cy="3200400"/>
          </a:xfrm>
          <a:prstGeom prst="rect">
            <a:avLst/>
          </a:prstGeom>
          <a:noFill/>
          <a:ln/>
        </p:spPr>
        <p:txBody>
          <a:bodyPr wrap="square" rtlCol="0" anchor="t"/>
          <a:lstStyle/>
          <a:p>
            <a:pPr marL="342900" indent="-342900">
              <a:spcAft>
                <a:spcPts val="1000"/>
              </a:spcAft>
              <a:buSzPct val="100000"/>
              <a:buChar char="•"/>
            </a:pPr>
            <a:r>
              <a:rPr lang="en-US" sz="1400" dirty="0">
                <a:solidFill>
                  <a:srgbClr val="E7F1F7"/>
                </a:solidFill>
                <a:latin typeface="Calibri" pitchFamily="34" charset="0"/>
                <a:ea typeface="Calibri" pitchFamily="34" charset="-122"/>
                <a:cs typeface="Calibri" pitchFamily="34" charset="-120"/>
              </a:rPr>
              <a:t>Datos organizados en tablas conectadas entre sí.</a:t>
            </a:r>
            <a:endParaRPr lang="en-US" sz="1400" dirty="0"/>
          </a:p>
          <a:p>
            <a:pPr marL="342900" indent="-342900">
              <a:spcAft>
                <a:spcPts val="1000"/>
              </a:spcAft>
              <a:buSzPct val="100000"/>
              <a:buChar char="•"/>
            </a:pPr>
            <a:r>
              <a:rPr lang="en-US" sz="1400" dirty="0">
                <a:solidFill>
                  <a:srgbClr val="E7F1F7"/>
                </a:solidFill>
                <a:latin typeface="Calibri" pitchFamily="34" charset="0"/>
                <a:ea typeface="Calibri" pitchFamily="34" charset="-122"/>
                <a:cs typeface="Calibri" pitchFamily="34" charset="-120"/>
              </a:rPr>
              <a:t>MySQL, PostgreSQL, SQL Server.</a:t>
            </a:r>
            <a:endParaRPr lang="en-US" sz="1400" dirty="0"/>
          </a:p>
          <a:p>
            <a:pPr marL="342900" indent="-342900">
              <a:spcAft>
                <a:spcPts val="1000"/>
              </a:spcAft>
              <a:buSzPct val="100000"/>
              <a:buChar char="•"/>
            </a:pPr>
            <a:r>
              <a:rPr lang="en-US" sz="1400" dirty="0">
                <a:solidFill>
                  <a:srgbClr val="E7F1F7"/>
                </a:solidFill>
                <a:latin typeface="Calibri" pitchFamily="34" charset="0"/>
                <a:ea typeface="Calibri" pitchFamily="34" charset="-122"/>
                <a:cs typeface="Calibri" pitchFamily="34" charset="-120"/>
              </a:rPr>
              <a:t>La base de casi cualquier sistema empresarial: bancos, tiendas online, hospitales.</a:t>
            </a:r>
            <a:endParaRPr lang="en-US" sz="1400" dirty="0"/>
          </a:p>
        </p:txBody>
      </p:sp>
      <p:sp>
        <p:nvSpPr>
          <p:cNvPr id="6" name="Shape 4"/>
          <p:cNvSpPr/>
          <p:nvPr/>
        </p:nvSpPr>
        <p:spPr>
          <a:xfrm>
            <a:off x="6309360" y="1554480"/>
            <a:ext cx="5212080" cy="4297680"/>
          </a:xfrm>
          <a:prstGeom prst="roundRect">
            <a:avLst>
              <a:gd name="adj" fmla="val 2553"/>
            </a:avLst>
          </a:prstGeom>
          <a:solidFill>
            <a:srgbClr val="F4F7F9"/>
          </a:solidFill>
          <a:ln/>
        </p:spPr>
      </p:sp>
      <p:sp>
        <p:nvSpPr>
          <p:cNvPr id="7" name="Text 5"/>
          <p:cNvSpPr/>
          <p:nvPr/>
        </p:nvSpPr>
        <p:spPr>
          <a:xfrm>
            <a:off x="6583680" y="1783080"/>
            <a:ext cx="4663440" cy="457200"/>
          </a:xfrm>
          <a:prstGeom prst="rect">
            <a:avLst/>
          </a:prstGeom>
          <a:noFill/>
          <a:ln/>
        </p:spPr>
        <p:txBody>
          <a:bodyPr wrap="square" rtlCol="0" anchor="ctr"/>
          <a:lstStyle/>
          <a:p>
            <a:pPr indent="0" marL="0">
              <a:buNone/>
            </a:pPr>
            <a:r>
              <a:rPr lang="en-US" sz="2000" b="1" dirty="0">
                <a:solidFill>
                  <a:srgbClr val="21295C"/>
                </a:solidFill>
                <a:latin typeface="Calibri" pitchFamily="34" charset="0"/>
                <a:ea typeface="Calibri" pitchFamily="34" charset="-122"/>
                <a:cs typeface="Calibri" pitchFamily="34" charset="-120"/>
              </a:rPr>
              <a:t>No relacionales (NoSQL)</a:t>
            </a:r>
            <a:endParaRPr lang="en-US" sz="2000" dirty="0"/>
          </a:p>
        </p:txBody>
      </p:sp>
      <p:sp>
        <p:nvSpPr>
          <p:cNvPr id="8" name="Text 6"/>
          <p:cNvSpPr/>
          <p:nvPr/>
        </p:nvSpPr>
        <p:spPr>
          <a:xfrm>
            <a:off x="6583680" y="2377440"/>
            <a:ext cx="4663440" cy="3200400"/>
          </a:xfrm>
          <a:prstGeom prst="rect">
            <a:avLst/>
          </a:prstGeom>
          <a:noFill/>
          <a:ln/>
        </p:spPr>
        <p:txBody>
          <a:bodyPr wrap="square" rtlCol="0" anchor="t"/>
          <a:lstStyle/>
          <a:p>
            <a:pPr marL="342900" indent="-342900">
              <a:spcAft>
                <a:spcPts val="1000"/>
              </a:spcAft>
              <a:buSzPct val="100000"/>
              <a:buChar char="•"/>
            </a:pPr>
            <a:r>
              <a:rPr lang="en-US" sz="1400" dirty="0">
                <a:solidFill>
                  <a:srgbClr val="2E3B47"/>
                </a:solidFill>
                <a:latin typeface="Calibri" pitchFamily="34" charset="0"/>
                <a:ea typeface="Calibri" pitchFamily="34" charset="-122"/>
                <a:cs typeface="Calibri" pitchFamily="34" charset="-120"/>
              </a:rPr>
              <a:t>Datos más flexibles, sin una estructura fija de tablas.</a:t>
            </a:r>
            <a:endParaRPr lang="en-US" sz="1400" dirty="0"/>
          </a:p>
          <a:p>
            <a:pPr marL="342900" indent="-342900">
              <a:spcAft>
                <a:spcPts val="1000"/>
              </a:spcAft>
              <a:buSzPct val="100000"/>
              <a:buChar char="•"/>
            </a:pPr>
            <a:r>
              <a:rPr lang="en-US" sz="1400" dirty="0">
                <a:solidFill>
                  <a:srgbClr val="2E3B47"/>
                </a:solidFill>
                <a:latin typeface="Calibri" pitchFamily="34" charset="0"/>
                <a:ea typeface="Calibri" pitchFamily="34" charset="-122"/>
                <a:cs typeface="Calibri" pitchFamily="34" charset="-120"/>
              </a:rPr>
              <a:t>MongoDB, Firebase.</a:t>
            </a:r>
            <a:endParaRPr lang="en-US" sz="1400" dirty="0"/>
          </a:p>
          <a:p>
            <a:pPr marL="342900" indent="-342900">
              <a:spcAft>
                <a:spcPts val="1000"/>
              </a:spcAft>
              <a:buSzPct val="100000"/>
              <a:buChar char="•"/>
            </a:pPr>
            <a:r>
              <a:rPr lang="en-US" sz="1400" dirty="0">
                <a:solidFill>
                  <a:srgbClr val="2E3B47"/>
                </a:solidFill>
                <a:latin typeface="Calibri" pitchFamily="34" charset="0"/>
                <a:ea typeface="Calibri" pitchFamily="34" charset="-122"/>
                <a:cs typeface="Calibri" pitchFamily="34" charset="-120"/>
              </a:rPr>
              <a:t>Útiles para datos muy variables o de gran volumen.</a:t>
            </a:r>
            <a:endParaRPr lang="en-US" sz="1400" dirty="0"/>
          </a:p>
        </p:txBody>
      </p:sp>
      <p:sp>
        <p:nvSpPr>
          <p:cNvPr id="9" name="Text 7"/>
          <p:cNvSpPr/>
          <p:nvPr/>
        </p:nvSpPr>
        <p:spPr>
          <a:xfrm>
            <a:off x="640080" y="5989320"/>
            <a:ext cx="10881360" cy="365760"/>
          </a:xfrm>
          <a:prstGeom prst="rect">
            <a:avLst/>
          </a:prstGeom>
          <a:noFill/>
          <a:ln/>
        </p:spPr>
        <p:txBody>
          <a:bodyPr wrap="square" rtlCol="0" anchor="ctr"/>
          <a:lstStyle/>
          <a:p>
            <a:pPr algn="ctr" indent="0" marL="0">
              <a:buNone/>
            </a:pPr>
            <a:r>
              <a:rPr lang="en-US" sz="1400" i="1" dirty="0">
                <a:solidFill>
                  <a:srgbClr val="1C7293"/>
                </a:solidFill>
                <a:latin typeface="Calibri" pitchFamily="34" charset="0"/>
                <a:ea typeface="Calibri" pitchFamily="34" charset="-122"/>
                <a:cs typeface="Calibri" pitchFamily="34" charset="-120"/>
              </a:rPr>
              <a:t>Hoy nos centramos en las relacionales.</a:t>
            </a:r>
            <a:endParaRPr lang="en-US" sz="1400" dirty="0"/>
          </a:p>
        </p:txBody>
      </p:sp>
      <p:sp>
        <p:nvSpPr>
          <p:cNvPr id="10" name="Text 8"/>
          <p:cNvSpPr/>
          <p:nvPr/>
        </p:nvSpPr>
        <p:spPr>
          <a:xfrm>
            <a:off x="457200" y="6537960"/>
            <a:ext cx="7315200" cy="274320"/>
          </a:xfrm>
          <a:prstGeom prst="rect">
            <a:avLst/>
          </a:prstGeom>
          <a:noFill/>
          <a:ln/>
        </p:spPr>
        <p:txBody>
          <a:bodyPr wrap="square" rtlCol="0" anchor="ctr"/>
          <a:lstStyle/>
          <a:p>
            <a:pPr algn="l" indent="0" marL="0">
              <a:buNone/>
            </a:pPr>
            <a:r>
              <a:rPr lang="en-US" sz="1000" dirty="0">
                <a:solidFill>
                  <a:srgbClr val="5B6B7A"/>
                </a:solidFill>
                <a:latin typeface="Calibri" pitchFamily="34" charset="0"/>
                <a:ea typeface="Calibri" pitchFamily="34" charset="-122"/>
                <a:cs typeface="Calibri" pitchFamily="34" charset="-120"/>
              </a:rPr>
              <a:t>Introducción</a:t>
            </a:r>
            <a:endParaRPr lang="en-US" sz="1000" dirty="0"/>
          </a:p>
        </p:txBody>
      </p:sp>
      <p:sp>
        <p:nvSpPr>
          <p:cNvPr id="11" name="Text 9"/>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822960" y="2103120"/>
            <a:ext cx="2743200" cy="1097280"/>
          </a:xfrm>
          <a:prstGeom prst="rect">
            <a:avLst/>
          </a:prstGeom>
          <a:noFill/>
          <a:ln/>
        </p:spPr>
        <p:txBody>
          <a:bodyPr wrap="square" rtlCol="0" anchor="ctr"/>
          <a:lstStyle/>
          <a:p>
            <a:pPr indent="0" marL="0">
              <a:buNone/>
            </a:pPr>
            <a:r>
              <a:rPr lang="en-US" sz="6000" b="1" dirty="0">
                <a:solidFill>
                  <a:srgbClr val="1C7293"/>
                </a:solidFill>
                <a:latin typeface="Cambria" pitchFamily="34" charset="0"/>
                <a:ea typeface="Cambria" pitchFamily="34" charset="-122"/>
                <a:cs typeface="Cambria" pitchFamily="34" charset="-120"/>
              </a:rPr>
              <a:t>02</a:t>
            </a:r>
            <a:endParaRPr lang="en-US" sz="6000" dirty="0"/>
          </a:p>
        </p:txBody>
      </p:sp>
      <p:sp>
        <p:nvSpPr>
          <p:cNvPr id="3" name="Text 1"/>
          <p:cNvSpPr/>
          <p:nvPr/>
        </p:nvSpPr>
        <p:spPr>
          <a:xfrm>
            <a:off x="822960" y="3108960"/>
            <a:ext cx="10058400" cy="146304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Bases de Datos Relacionales,</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explicadas de verdad</a:t>
            </a:r>
            <a:endParaRPr lang="en-US" sz="3400" dirty="0"/>
          </a:p>
        </p:txBody>
      </p:sp>
      <p:sp>
        <p:nvSpPr>
          <p:cNvPr id="4" name="Text 2"/>
          <p:cNvSpPr/>
          <p:nvPr/>
        </p:nvSpPr>
        <p:spPr>
          <a:xfrm>
            <a:off x="822960" y="4480560"/>
            <a:ext cx="10058400" cy="457200"/>
          </a:xfrm>
          <a:prstGeom prst="rect">
            <a:avLst/>
          </a:prstGeom>
          <a:noFill/>
          <a:ln/>
        </p:spPr>
        <p:txBody>
          <a:bodyPr wrap="square" rtlCol="0" anchor="ctr"/>
          <a:lstStyle/>
          <a:p>
            <a:pPr indent="0" marL="0">
              <a:buNone/>
            </a:pPr>
            <a:r>
              <a:rPr lang="en-US" sz="1600" i="1" dirty="0">
                <a:solidFill>
                  <a:srgbClr val="C9D6E3"/>
                </a:solidFill>
                <a:latin typeface="Calibri" pitchFamily="34" charset="0"/>
                <a:ea typeface="Calibri" pitchFamily="34" charset="-122"/>
                <a:cs typeface="Calibri" pitchFamily="34" charset="-120"/>
              </a:rPr>
              <a:t>(como si tuvierais 5 años)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Imagina que tienes muchos juguetes...</a:t>
            </a:r>
            <a:endParaRPr lang="en-US" sz="2800" dirty="0"/>
          </a:p>
        </p:txBody>
      </p:sp>
      <p:sp>
        <p:nvSpPr>
          <p:cNvPr id="3" name="Text 1"/>
          <p:cNvSpPr/>
          <p:nvPr/>
        </p:nvSpPr>
        <p:spPr>
          <a:xfrm>
            <a:off x="548640" y="1097280"/>
            <a:ext cx="10972800" cy="457200"/>
          </a:xfrm>
          <a:prstGeom prst="rect">
            <a:avLst/>
          </a:prstGeom>
          <a:noFill/>
          <a:ln/>
        </p:spPr>
        <p:txBody>
          <a:bodyPr wrap="square" rtlCol="0" anchor="ctr"/>
          <a:lstStyle/>
          <a:p>
            <a:pPr indent="0" marL="0">
              <a:buNone/>
            </a:pPr>
            <a:r>
              <a:rPr lang="en-US" sz="1500" i="1" dirty="0">
                <a:solidFill>
                  <a:srgbClr val="5B6B7A"/>
                </a:solidFill>
                <a:latin typeface="Calibri" pitchFamily="34" charset="0"/>
                <a:ea typeface="Calibri" pitchFamily="34" charset="-122"/>
                <a:cs typeface="Calibri" pitchFamily="34" charset="-120"/>
              </a:rPr>
              <a:t>Una base de datos relacional es como tener varios cajones especiales, cada uno para un tipo de cosa.</a:t>
            </a:r>
            <a:endParaRPr lang="en-US" sz="1500" dirty="0"/>
          </a:p>
        </p:txBody>
      </p:sp>
      <p:sp>
        <p:nvSpPr>
          <p:cNvPr id="4" name="Shape 2"/>
          <p:cNvSpPr/>
          <p:nvPr/>
        </p:nvSpPr>
        <p:spPr>
          <a:xfrm>
            <a:off x="548640" y="1828800"/>
            <a:ext cx="5349240" cy="1920240"/>
          </a:xfrm>
          <a:prstGeom prst="roundRect">
            <a:avLst>
              <a:gd name="adj" fmla="val 4762"/>
            </a:avLst>
          </a:prstGeom>
          <a:solidFill>
            <a:srgbClr val="F4F7F9"/>
          </a:solidFill>
          <a:ln/>
        </p:spPr>
      </p:sp>
      <p:sp>
        <p:nvSpPr>
          <p:cNvPr id="5" name="Shape 3"/>
          <p:cNvSpPr/>
          <p:nvPr/>
        </p:nvSpPr>
        <p:spPr>
          <a:xfrm>
            <a:off x="777240" y="2057400"/>
            <a:ext cx="640080" cy="640080"/>
          </a:xfrm>
          <a:prstGeom prst="ellipse">
            <a:avLst/>
          </a:prstGeom>
          <a:solidFill>
            <a:srgbClr val="065A82"/>
          </a:solidFill>
          <a:ln/>
        </p:spPr>
      </p:sp>
      <p:pic>
        <p:nvPicPr>
          <p:cNvPr id="6" name="Image 0" descr="/home/claude/work/pptx_build/icons/table.png">    </p:cNvPr>
          <p:cNvPicPr>
            <a:picLocks noChangeAspect="1"/>
          </p:cNvPicPr>
          <p:nvPr/>
        </p:nvPicPr>
        <p:blipFill>
          <a:blip r:embed="rId1"/>
          <a:stretch>
            <a:fillRect/>
          </a:stretch>
        </p:blipFill>
        <p:spPr>
          <a:xfrm>
            <a:off x="866851" y="2147011"/>
            <a:ext cx="460858" cy="460858"/>
          </a:xfrm>
          <a:prstGeom prst="rect">
            <a:avLst/>
          </a:prstGeom>
        </p:spPr>
      </p:pic>
      <p:sp>
        <p:nvSpPr>
          <p:cNvPr id="7" name="Text 4"/>
          <p:cNvSpPr/>
          <p:nvPr/>
        </p:nvSpPr>
        <p:spPr>
          <a:xfrm>
            <a:off x="1600200" y="2057400"/>
            <a:ext cx="4023360" cy="45720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Tablas = cajones</a:t>
            </a:r>
            <a:endParaRPr lang="en-US" sz="1500" dirty="0"/>
          </a:p>
        </p:txBody>
      </p:sp>
      <p:sp>
        <p:nvSpPr>
          <p:cNvPr id="8" name="Text 5"/>
          <p:cNvSpPr/>
          <p:nvPr/>
        </p:nvSpPr>
        <p:spPr>
          <a:xfrm>
            <a:off x="777240" y="2697480"/>
            <a:ext cx="4937760" cy="914400"/>
          </a:xfrm>
          <a:prstGeom prst="rect">
            <a:avLst/>
          </a:prstGeom>
          <a:noFill/>
          <a:ln/>
        </p:spPr>
        <p:txBody>
          <a:bodyPr wrap="square" rtlCol="0" anchor="t"/>
          <a:lstStyle/>
          <a:p>
            <a:pPr indent="0" marL="0">
              <a:buNone/>
            </a:pPr>
            <a:r>
              <a:rPr lang="en-US" sz="1200" dirty="0">
                <a:solidFill>
                  <a:srgbClr val="5B6B7A"/>
                </a:solidFill>
                <a:latin typeface="Calibri" pitchFamily="34" charset="0"/>
                <a:ea typeface="Calibri" pitchFamily="34" charset="-122"/>
                <a:cs typeface="Calibri" pitchFamily="34" charset="-120"/>
              </a:rPr>
              <a:t>Un cajón para "Niños", otro para "Juguetes". Cada cajón guarda solo un tipo de información.</a:t>
            </a:r>
            <a:endParaRPr lang="en-US" sz="1200" dirty="0"/>
          </a:p>
        </p:txBody>
      </p:sp>
      <p:sp>
        <p:nvSpPr>
          <p:cNvPr id="9" name="Shape 6"/>
          <p:cNvSpPr/>
          <p:nvPr/>
        </p:nvSpPr>
        <p:spPr>
          <a:xfrm>
            <a:off x="6172200" y="1828800"/>
            <a:ext cx="5349240" cy="1920240"/>
          </a:xfrm>
          <a:prstGeom prst="roundRect">
            <a:avLst>
              <a:gd name="adj" fmla="val 4762"/>
            </a:avLst>
          </a:prstGeom>
          <a:solidFill>
            <a:srgbClr val="F4F7F9"/>
          </a:solidFill>
          <a:ln/>
        </p:spPr>
      </p:sp>
      <p:sp>
        <p:nvSpPr>
          <p:cNvPr id="10" name="Shape 7"/>
          <p:cNvSpPr/>
          <p:nvPr/>
        </p:nvSpPr>
        <p:spPr>
          <a:xfrm>
            <a:off x="6400800" y="2057400"/>
            <a:ext cx="640080" cy="640080"/>
          </a:xfrm>
          <a:prstGeom prst="ellipse">
            <a:avLst/>
          </a:prstGeom>
          <a:solidFill>
            <a:srgbClr val="065A82"/>
          </a:solidFill>
          <a:ln/>
        </p:spPr>
      </p:sp>
      <p:pic>
        <p:nvPicPr>
          <p:cNvPr id="11" name="Image 1" descr="/home/claude/work/pptx_build/icons/book.png">    </p:cNvPr>
          <p:cNvPicPr>
            <a:picLocks noChangeAspect="1"/>
          </p:cNvPicPr>
          <p:nvPr/>
        </p:nvPicPr>
        <p:blipFill>
          <a:blip r:embed="rId2"/>
          <a:stretch>
            <a:fillRect/>
          </a:stretch>
        </p:blipFill>
        <p:spPr>
          <a:xfrm>
            <a:off x="6490411" y="2147011"/>
            <a:ext cx="460858" cy="460858"/>
          </a:xfrm>
          <a:prstGeom prst="rect">
            <a:avLst/>
          </a:prstGeom>
        </p:spPr>
      </p:pic>
      <p:sp>
        <p:nvSpPr>
          <p:cNvPr id="12" name="Text 8"/>
          <p:cNvSpPr/>
          <p:nvPr/>
        </p:nvSpPr>
        <p:spPr>
          <a:xfrm>
            <a:off x="7223760" y="2057400"/>
            <a:ext cx="4023360" cy="45720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Filas = tarjetas</a:t>
            </a:r>
            <a:endParaRPr lang="en-US" sz="1500" dirty="0"/>
          </a:p>
        </p:txBody>
      </p:sp>
      <p:sp>
        <p:nvSpPr>
          <p:cNvPr id="13" name="Text 9"/>
          <p:cNvSpPr/>
          <p:nvPr/>
        </p:nvSpPr>
        <p:spPr>
          <a:xfrm>
            <a:off x="6400800" y="2697480"/>
            <a:ext cx="4937760" cy="914400"/>
          </a:xfrm>
          <a:prstGeom prst="rect">
            <a:avLst/>
          </a:prstGeom>
          <a:noFill/>
          <a:ln/>
        </p:spPr>
        <p:txBody>
          <a:bodyPr wrap="square" rtlCol="0" anchor="t"/>
          <a:lstStyle/>
          <a:p>
            <a:pPr indent="0" marL="0">
              <a:buNone/>
            </a:pPr>
            <a:r>
              <a:rPr lang="en-US" sz="1200" dirty="0">
                <a:solidFill>
                  <a:srgbClr val="5B6B7A"/>
                </a:solidFill>
                <a:latin typeface="Calibri" pitchFamily="34" charset="0"/>
                <a:ea typeface="Calibri" pitchFamily="34" charset="-122"/>
                <a:cs typeface="Calibri" pitchFamily="34" charset="-120"/>
              </a:rPr>
              <a:t>Dentro del cajón "Juguetes", cada tarjeta es un juguete distinto: el osito, el coche rojo, el balón.</a:t>
            </a:r>
            <a:endParaRPr lang="en-US" sz="1200" dirty="0"/>
          </a:p>
        </p:txBody>
      </p:sp>
      <p:sp>
        <p:nvSpPr>
          <p:cNvPr id="14" name="Shape 10"/>
          <p:cNvSpPr/>
          <p:nvPr/>
        </p:nvSpPr>
        <p:spPr>
          <a:xfrm>
            <a:off x="548640" y="3977640"/>
            <a:ext cx="5349240" cy="1920240"/>
          </a:xfrm>
          <a:prstGeom prst="roundRect">
            <a:avLst>
              <a:gd name="adj" fmla="val 4762"/>
            </a:avLst>
          </a:prstGeom>
          <a:solidFill>
            <a:srgbClr val="F4F7F9"/>
          </a:solidFill>
          <a:ln/>
        </p:spPr>
      </p:sp>
      <p:sp>
        <p:nvSpPr>
          <p:cNvPr id="15" name="Shape 11"/>
          <p:cNvSpPr/>
          <p:nvPr/>
        </p:nvSpPr>
        <p:spPr>
          <a:xfrm>
            <a:off x="777240" y="4206240"/>
            <a:ext cx="640080" cy="640080"/>
          </a:xfrm>
          <a:prstGeom prst="ellipse">
            <a:avLst/>
          </a:prstGeom>
          <a:solidFill>
            <a:srgbClr val="065A82"/>
          </a:solidFill>
          <a:ln/>
        </p:spPr>
      </p:sp>
      <p:pic>
        <p:nvPicPr>
          <p:cNvPr id="16" name="Image 2" descr="/home/claude/work/pptx_build/icons/edit.png">    </p:cNvPr>
          <p:cNvPicPr>
            <a:picLocks noChangeAspect="1"/>
          </p:cNvPicPr>
          <p:nvPr/>
        </p:nvPicPr>
        <p:blipFill>
          <a:blip r:embed="rId3"/>
          <a:stretch>
            <a:fillRect/>
          </a:stretch>
        </p:blipFill>
        <p:spPr>
          <a:xfrm>
            <a:off x="866851" y="4295851"/>
            <a:ext cx="460858" cy="460858"/>
          </a:xfrm>
          <a:prstGeom prst="rect">
            <a:avLst/>
          </a:prstGeom>
        </p:spPr>
      </p:pic>
      <p:sp>
        <p:nvSpPr>
          <p:cNvPr id="17" name="Text 12"/>
          <p:cNvSpPr/>
          <p:nvPr/>
        </p:nvSpPr>
        <p:spPr>
          <a:xfrm>
            <a:off x="1600200" y="4206240"/>
            <a:ext cx="4023360" cy="45720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Columnas = etiquetas</a:t>
            </a:r>
            <a:endParaRPr lang="en-US" sz="1500" dirty="0"/>
          </a:p>
        </p:txBody>
      </p:sp>
      <p:sp>
        <p:nvSpPr>
          <p:cNvPr id="18" name="Text 13"/>
          <p:cNvSpPr/>
          <p:nvPr/>
        </p:nvSpPr>
        <p:spPr>
          <a:xfrm>
            <a:off x="777240" y="4846320"/>
            <a:ext cx="4937760" cy="914400"/>
          </a:xfrm>
          <a:prstGeom prst="rect">
            <a:avLst/>
          </a:prstGeom>
          <a:noFill/>
          <a:ln/>
        </p:spPr>
        <p:txBody>
          <a:bodyPr wrap="square" rtlCol="0" anchor="t"/>
          <a:lstStyle/>
          <a:p>
            <a:pPr indent="0" marL="0">
              <a:buNone/>
            </a:pPr>
            <a:r>
              <a:rPr lang="en-US" sz="1200" dirty="0">
                <a:solidFill>
                  <a:srgbClr val="5B6B7A"/>
                </a:solidFill>
                <a:latin typeface="Calibri" pitchFamily="34" charset="0"/>
                <a:ea typeface="Calibri" pitchFamily="34" charset="-122"/>
                <a:cs typeface="Calibri" pitchFamily="34" charset="-120"/>
              </a:rPr>
              <a:t>En la tarjeta del osito escribes: nombre, color, tamaño. Todas las tarjetas del cajón tienen las mismas etiquetas.</a:t>
            </a:r>
            <a:endParaRPr lang="en-US" sz="1200" dirty="0"/>
          </a:p>
        </p:txBody>
      </p:sp>
      <p:sp>
        <p:nvSpPr>
          <p:cNvPr id="19" name="Shape 14"/>
          <p:cNvSpPr/>
          <p:nvPr/>
        </p:nvSpPr>
        <p:spPr>
          <a:xfrm>
            <a:off x="6172200" y="3977640"/>
            <a:ext cx="5349240" cy="1920240"/>
          </a:xfrm>
          <a:prstGeom prst="roundRect">
            <a:avLst>
              <a:gd name="adj" fmla="val 4762"/>
            </a:avLst>
          </a:prstGeom>
          <a:solidFill>
            <a:srgbClr val="F4F7F9"/>
          </a:solidFill>
          <a:ln/>
        </p:spPr>
      </p:sp>
      <p:sp>
        <p:nvSpPr>
          <p:cNvPr id="20" name="Shape 15"/>
          <p:cNvSpPr/>
          <p:nvPr/>
        </p:nvSpPr>
        <p:spPr>
          <a:xfrm>
            <a:off x="6400800" y="4206240"/>
            <a:ext cx="640080" cy="640080"/>
          </a:xfrm>
          <a:prstGeom prst="ellipse">
            <a:avLst/>
          </a:prstGeom>
          <a:solidFill>
            <a:srgbClr val="065A82"/>
          </a:solidFill>
          <a:ln/>
        </p:spPr>
      </p:sp>
      <p:pic>
        <p:nvPicPr>
          <p:cNvPr id="21" name="Image 3" descr="/home/claude/work/pptx_build/icons/key.png">    </p:cNvPr>
          <p:cNvPicPr>
            <a:picLocks noChangeAspect="1"/>
          </p:cNvPicPr>
          <p:nvPr/>
        </p:nvPicPr>
        <p:blipFill>
          <a:blip r:embed="rId4"/>
          <a:stretch>
            <a:fillRect/>
          </a:stretch>
        </p:blipFill>
        <p:spPr>
          <a:xfrm>
            <a:off x="6490411" y="4295851"/>
            <a:ext cx="460858" cy="460858"/>
          </a:xfrm>
          <a:prstGeom prst="rect">
            <a:avLst/>
          </a:prstGeom>
        </p:spPr>
      </p:pic>
      <p:sp>
        <p:nvSpPr>
          <p:cNvPr id="22" name="Text 16"/>
          <p:cNvSpPr/>
          <p:nvPr/>
        </p:nvSpPr>
        <p:spPr>
          <a:xfrm>
            <a:off x="7223760" y="4206240"/>
            <a:ext cx="4023360" cy="45720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Relaciones = un número secreto</a:t>
            </a:r>
            <a:endParaRPr lang="en-US" sz="1500" dirty="0"/>
          </a:p>
        </p:txBody>
      </p:sp>
      <p:sp>
        <p:nvSpPr>
          <p:cNvPr id="23" name="Text 17"/>
          <p:cNvSpPr/>
          <p:nvPr/>
        </p:nvSpPr>
        <p:spPr>
          <a:xfrm>
            <a:off x="6400800" y="4846320"/>
            <a:ext cx="4937760" cy="914400"/>
          </a:xfrm>
          <a:prstGeom prst="rect">
            <a:avLst/>
          </a:prstGeom>
          <a:noFill/>
          <a:ln/>
        </p:spPr>
        <p:txBody>
          <a:bodyPr wrap="square" rtlCol="0" anchor="t"/>
          <a:lstStyle/>
          <a:p>
            <a:pPr indent="0" marL="0">
              <a:buNone/>
            </a:pPr>
            <a:r>
              <a:rPr lang="en-US" sz="1200" dirty="0">
                <a:solidFill>
                  <a:srgbClr val="5B6B7A"/>
                </a:solidFill>
                <a:latin typeface="Calibri" pitchFamily="34" charset="0"/>
                <a:ea typeface="Calibri" pitchFamily="34" charset="-122"/>
                <a:cs typeface="Calibri" pitchFamily="34" charset="-120"/>
              </a:rPr>
              <a:t>Si Juan es el "1" y el osito dice "dueño: 1", sabemos que ese osito es de Juan. Ese número conecta los cajones.</a:t>
            </a:r>
            <a:endParaRPr lang="en-US" sz="1200" dirty="0"/>
          </a:p>
        </p:txBody>
      </p:sp>
      <p:sp>
        <p:nvSpPr>
          <p:cNvPr id="24" name="Text 18"/>
          <p:cNvSpPr/>
          <p:nvPr/>
        </p:nvSpPr>
        <p:spPr>
          <a:xfrm>
            <a:off x="457200" y="6537960"/>
            <a:ext cx="7315200" cy="274320"/>
          </a:xfrm>
          <a:prstGeom prst="rect">
            <a:avLst/>
          </a:prstGeom>
          <a:noFill/>
          <a:ln/>
        </p:spPr>
        <p:txBody>
          <a:bodyPr wrap="square" rtlCol="0" anchor="ctr"/>
          <a:lstStyle/>
          <a:p>
            <a:pPr algn="l" indent="0" marL="0">
              <a:buNone/>
            </a:pPr>
            <a:r>
              <a:rPr lang="en-US" sz="1000" dirty="0">
                <a:solidFill>
                  <a:srgbClr val="5B6B7A"/>
                </a:solidFill>
                <a:latin typeface="Calibri" pitchFamily="34" charset="0"/>
                <a:ea typeface="Calibri" pitchFamily="34" charset="-122"/>
                <a:cs typeface="Calibri" pitchFamily="34" charset="-120"/>
              </a:rPr>
              <a:t>Bases de Datos Relacionales</a:t>
            </a:r>
            <a:endParaRPr lang="en-US" sz="1000" dirty="0"/>
          </a:p>
        </p:txBody>
      </p:sp>
      <p:sp>
        <p:nvSpPr>
          <p:cNvPr id="25" name="Text 19"/>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De la analogía al concepto técnico</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4846320"/>
        </p:xfrm>
        <a:graphic>
          <a:graphicData uri="http://schemas.openxmlformats.org/drawingml/2006/table">
            <a:tbl>
              <a:tblPr/>
              <a:tblGrid>
                <a:gridCol w="3291840"/>
                <a:gridCol w="3017520"/>
                <a:gridCol w="4754880"/>
              </a:tblGrid>
              <a:tr h="692331">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Analogía</a:t>
                      </a:r>
                      <a:endParaRPr lang="en-US" sz="13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065A82"/>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Concepto técnico</a:t>
                      </a:r>
                      <a:endParaRPr lang="en-US" sz="13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065A82"/>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Definición corta</a:t>
                      </a:r>
                      <a:endParaRPr lang="en-US" sz="13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065A82"/>
                    </a:solidFill>
                  </a:tcPr>
                </a:tc>
              </a:tr>
              <a:tr h="692331">
                <a:tc>
                  <a:txBody>
                    <a:bodyPr/>
                    <a:lstStyle/>
                    <a:p>
                      <a:pPr indent="0" marL="0">
                        <a:buNone/>
                      </a:pPr>
                      <a:r>
                        <a:rPr lang="en-US" sz="1200" dirty="0">
                          <a:solidFill>
                            <a:srgbClr val="2E3B47"/>
                          </a:solidFill>
                          <a:latin typeface="Calibri" pitchFamily="34" charset="0"/>
                          <a:ea typeface="Calibri" pitchFamily="34" charset="-122"/>
                          <a:cs typeface="Calibri" pitchFamily="34" charset="-120"/>
                        </a:rPr>
                        <a:t>Cajón</a:t>
                      </a:r>
                      <a:endParaRPr lang="en-US" sz="12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200" dirty="0">
                          <a:solidFill>
                            <a:srgbClr val="2E3B47"/>
                          </a:solidFill>
                          <a:latin typeface="Calibri" pitchFamily="34" charset="0"/>
                          <a:ea typeface="Calibri" pitchFamily="34" charset="-122"/>
                          <a:cs typeface="Calibri" pitchFamily="34" charset="-120"/>
                        </a:rPr>
                        <a:t>Tabla</a:t>
                      </a:r>
                      <a:endParaRPr lang="en-US" sz="12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200" dirty="0">
                          <a:solidFill>
                            <a:srgbClr val="2E3B47"/>
                          </a:solidFill>
                          <a:latin typeface="Calibri" pitchFamily="34" charset="0"/>
                          <a:ea typeface="Calibri" pitchFamily="34" charset="-122"/>
                          <a:cs typeface="Calibri" pitchFamily="34" charset="-120"/>
                        </a:rPr>
                        <a:t>Colección de datos del mismo tipo (ej. Clientes, Pedidos)</a:t>
                      </a:r>
                      <a:endParaRPr lang="en-US" sz="12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r>
              <a:tr h="692331">
                <a:tc>
                  <a:txBody>
                    <a:bodyPr/>
                    <a:lstStyle/>
                    <a:p>
                      <a:pPr indent="0" marL="0">
                        <a:buNone/>
                      </a:pPr>
                      <a:r>
                        <a:rPr lang="en-US" sz="1200" dirty="0">
                          <a:solidFill>
                            <a:srgbClr val="2E3B47"/>
                          </a:solidFill>
                          <a:latin typeface="Calibri" pitchFamily="34" charset="0"/>
                          <a:ea typeface="Calibri" pitchFamily="34" charset="-122"/>
                          <a:cs typeface="Calibri" pitchFamily="34" charset="-120"/>
                        </a:rPr>
                        <a:t>Tarjeta</a:t>
                      </a:r>
                      <a:endParaRPr lang="en-US" sz="12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7F9"/>
                    </a:solidFill>
                  </a:tcPr>
                </a:tc>
                <a:tc>
                  <a:txBody>
                    <a:bodyPr/>
                    <a:lstStyle/>
                    <a:p>
                      <a:pPr indent="0" marL="0">
                        <a:buNone/>
                      </a:pPr>
                      <a:r>
                        <a:rPr lang="en-US" sz="1200" dirty="0">
                          <a:solidFill>
                            <a:srgbClr val="2E3B47"/>
                          </a:solidFill>
                          <a:latin typeface="Calibri" pitchFamily="34" charset="0"/>
                          <a:ea typeface="Calibri" pitchFamily="34" charset="-122"/>
                          <a:cs typeface="Calibri" pitchFamily="34" charset="-120"/>
                        </a:rPr>
                        <a:t>Fila / Registro</a:t>
                      </a:r>
                      <a:endParaRPr lang="en-US" sz="12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7F9"/>
                    </a:solidFill>
                  </a:tcPr>
                </a:tc>
                <a:tc>
                  <a:txBody>
                    <a:bodyPr/>
                    <a:lstStyle/>
                    <a:p>
                      <a:pPr indent="0" marL="0">
                        <a:buNone/>
                      </a:pPr>
                      <a:r>
                        <a:rPr lang="en-US" sz="1200" dirty="0">
                          <a:solidFill>
                            <a:srgbClr val="2E3B47"/>
                          </a:solidFill>
                          <a:latin typeface="Calibri" pitchFamily="34" charset="0"/>
                          <a:ea typeface="Calibri" pitchFamily="34" charset="-122"/>
                          <a:cs typeface="Calibri" pitchFamily="34" charset="-120"/>
                        </a:rPr>
                        <a:t>Un elemento individual dentro de la tabla</a:t>
                      </a:r>
                      <a:endParaRPr lang="en-US" sz="12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7F9"/>
                    </a:solidFill>
                  </a:tcPr>
                </a:tc>
              </a:tr>
              <a:tr h="692331">
                <a:tc>
                  <a:txBody>
                    <a:bodyPr/>
                    <a:lstStyle/>
                    <a:p>
                      <a:pPr indent="0" marL="0">
                        <a:buNone/>
                      </a:pPr>
                      <a:r>
                        <a:rPr lang="en-US" sz="1200" dirty="0">
                          <a:solidFill>
                            <a:srgbClr val="2E3B47"/>
                          </a:solidFill>
                          <a:latin typeface="Calibri" pitchFamily="34" charset="0"/>
                          <a:ea typeface="Calibri" pitchFamily="34" charset="-122"/>
                          <a:cs typeface="Calibri" pitchFamily="34" charset="-120"/>
                        </a:rPr>
                        <a:t>Etiqueta de la tarjeta</a:t>
                      </a:r>
                      <a:endParaRPr lang="en-US" sz="12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200" dirty="0">
                          <a:solidFill>
                            <a:srgbClr val="2E3B47"/>
                          </a:solidFill>
                          <a:latin typeface="Calibri" pitchFamily="34" charset="0"/>
                          <a:ea typeface="Calibri" pitchFamily="34" charset="-122"/>
                          <a:cs typeface="Calibri" pitchFamily="34" charset="-120"/>
                        </a:rPr>
                        <a:t>Columna / Atributo</a:t>
                      </a:r>
                      <a:endParaRPr lang="en-US" sz="12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200" dirty="0">
                          <a:solidFill>
                            <a:srgbClr val="2E3B47"/>
                          </a:solidFill>
                          <a:latin typeface="Calibri" pitchFamily="34" charset="0"/>
                          <a:ea typeface="Calibri" pitchFamily="34" charset="-122"/>
                          <a:cs typeface="Calibri" pitchFamily="34" charset="-120"/>
                        </a:rPr>
                        <a:t>Una característica del registro (nombre, edad, precio)</a:t>
                      </a:r>
                      <a:endParaRPr lang="en-US" sz="12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r>
              <a:tr h="692331">
                <a:tc>
                  <a:txBody>
                    <a:bodyPr/>
                    <a:lstStyle/>
                    <a:p>
                      <a:pPr indent="0" marL="0">
                        <a:buNone/>
                      </a:pPr>
                      <a:r>
                        <a:rPr lang="en-US" sz="1200" dirty="0">
                          <a:solidFill>
                            <a:srgbClr val="2E3B47"/>
                          </a:solidFill>
                          <a:latin typeface="Calibri" pitchFamily="34" charset="0"/>
                          <a:ea typeface="Calibri" pitchFamily="34" charset="-122"/>
                          <a:cs typeface="Calibri" pitchFamily="34" charset="-120"/>
                        </a:rPr>
                        <a:t>Número único de cada tarjeta</a:t>
                      </a:r>
                      <a:endParaRPr lang="en-US" sz="12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7F9"/>
                    </a:solidFill>
                  </a:tcPr>
                </a:tc>
                <a:tc>
                  <a:txBody>
                    <a:bodyPr/>
                    <a:lstStyle/>
                    <a:p>
                      <a:pPr indent="0" marL="0">
                        <a:buNone/>
                      </a:pPr>
                      <a:r>
                        <a:rPr lang="en-US" sz="1200" dirty="0">
                          <a:solidFill>
                            <a:srgbClr val="2E3B47"/>
                          </a:solidFill>
                          <a:latin typeface="Calibri" pitchFamily="34" charset="0"/>
                          <a:ea typeface="Calibri" pitchFamily="34" charset="-122"/>
                          <a:cs typeface="Calibri" pitchFamily="34" charset="-120"/>
                        </a:rPr>
                        <a:t>Clave Primaria (Primary Key)</a:t>
                      </a:r>
                      <a:endParaRPr lang="en-US" sz="12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7F9"/>
                    </a:solidFill>
                  </a:tcPr>
                </a:tc>
                <a:tc>
                  <a:txBody>
                    <a:bodyPr/>
                    <a:lstStyle/>
                    <a:p>
                      <a:pPr indent="0" marL="0">
                        <a:buNone/>
                      </a:pPr>
                      <a:r>
                        <a:rPr lang="en-US" sz="1200" dirty="0">
                          <a:solidFill>
                            <a:srgbClr val="2E3B47"/>
                          </a:solidFill>
                          <a:latin typeface="Calibri" pitchFamily="34" charset="0"/>
                          <a:ea typeface="Calibri" pitchFamily="34" charset="-122"/>
                          <a:cs typeface="Calibri" pitchFamily="34" charset="-120"/>
                        </a:rPr>
                        <a:t>Identificador único de cada fila en su tabla</a:t>
                      </a:r>
                      <a:endParaRPr lang="en-US" sz="12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7F9"/>
                    </a:solidFill>
                  </a:tcPr>
                </a:tc>
              </a:tr>
              <a:tr h="692331">
                <a:tc>
                  <a:txBody>
                    <a:bodyPr/>
                    <a:lstStyle/>
                    <a:p>
                      <a:pPr indent="0" marL="0">
                        <a:buNone/>
                      </a:pPr>
                      <a:r>
                        <a:rPr lang="en-US" sz="1200" dirty="0">
                          <a:solidFill>
                            <a:srgbClr val="2E3B47"/>
                          </a:solidFill>
                          <a:latin typeface="Calibri" pitchFamily="34" charset="0"/>
                          <a:ea typeface="Calibri" pitchFamily="34" charset="-122"/>
                          <a:cs typeface="Calibri" pitchFamily="34" charset="-120"/>
                        </a:rPr>
                        <a:t>Número que apunta a otro cajón</a:t>
                      </a:r>
                      <a:endParaRPr lang="en-US" sz="12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200" dirty="0">
                          <a:solidFill>
                            <a:srgbClr val="2E3B47"/>
                          </a:solidFill>
                          <a:latin typeface="Calibri" pitchFamily="34" charset="0"/>
                          <a:ea typeface="Calibri" pitchFamily="34" charset="-122"/>
                          <a:cs typeface="Calibri" pitchFamily="34" charset="-120"/>
                        </a:rPr>
                        <a:t>Clave Foránea (Foreign Key)</a:t>
                      </a:r>
                      <a:endParaRPr lang="en-US" sz="12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200" dirty="0">
                          <a:solidFill>
                            <a:srgbClr val="2E3B47"/>
                          </a:solidFill>
                          <a:latin typeface="Calibri" pitchFamily="34" charset="0"/>
                          <a:ea typeface="Calibri" pitchFamily="34" charset="-122"/>
                          <a:cs typeface="Calibri" pitchFamily="34" charset="-120"/>
                        </a:rPr>
                        <a:t>Campo que conecta una fila con una fila de otra tabla</a:t>
                      </a:r>
                      <a:endParaRPr lang="en-US" sz="12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r>
              <a:tr h="692331">
                <a:tc>
                  <a:txBody>
                    <a:bodyPr/>
                    <a:lstStyle/>
                    <a:p>
                      <a:pPr indent="0" marL="0">
                        <a:buNone/>
                      </a:pPr>
                      <a:r>
                        <a:rPr lang="en-US" sz="1200" dirty="0">
                          <a:solidFill>
                            <a:srgbClr val="2E3B47"/>
                          </a:solidFill>
                          <a:latin typeface="Calibri" pitchFamily="34" charset="0"/>
                          <a:ea typeface="Calibri" pitchFamily="34" charset="-122"/>
                          <a:cs typeface="Calibri" pitchFamily="34" charset="-120"/>
                        </a:rPr>
                        <a:t>Que todo cuadre, sin contradicciones</a:t>
                      </a:r>
                      <a:endParaRPr lang="en-US" sz="12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7F9"/>
                    </a:solidFill>
                  </a:tcPr>
                </a:tc>
                <a:tc>
                  <a:txBody>
                    <a:bodyPr/>
                    <a:lstStyle/>
                    <a:p>
                      <a:pPr indent="0" marL="0">
                        <a:buNone/>
                      </a:pPr>
                      <a:r>
                        <a:rPr lang="en-US" sz="1200" dirty="0">
                          <a:solidFill>
                            <a:srgbClr val="2E3B47"/>
                          </a:solidFill>
                          <a:latin typeface="Calibri" pitchFamily="34" charset="0"/>
                          <a:ea typeface="Calibri" pitchFamily="34" charset="-122"/>
                          <a:cs typeface="Calibri" pitchFamily="34" charset="-120"/>
                        </a:rPr>
                        <a:t>Integridad de datos</a:t>
                      </a:r>
                      <a:endParaRPr lang="en-US" sz="12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7F9"/>
                    </a:solidFill>
                  </a:tcPr>
                </a:tc>
                <a:tc>
                  <a:txBody>
                    <a:bodyPr/>
                    <a:lstStyle/>
                    <a:p>
                      <a:pPr indent="0" marL="0">
                        <a:buNone/>
                      </a:pPr>
                      <a:r>
                        <a:rPr lang="en-US" sz="1200" dirty="0">
                          <a:solidFill>
                            <a:srgbClr val="2E3B47"/>
                          </a:solidFill>
                          <a:latin typeface="Calibri" pitchFamily="34" charset="0"/>
                          <a:ea typeface="Calibri" pitchFamily="34" charset="-122"/>
                          <a:cs typeface="Calibri" pitchFamily="34" charset="-120"/>
                        </a:rPr>
                        <a:t>Garantía de que las relaciones entre tablas son coherentes</a:t>
                      </a:r>
                      <a:endParaRPr lang="en-US" sz="12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7F9"/>
                    </a:solidFill>
                  </a:tcPr>
                </a:tc>
              </a:tr>
            </a:tbl>
          </a:graphicData>
        </a:graphic>
      </p:graphicFrame>
      <p:sp>
        <p:nvSpPr>
          <p:cNvPr id="4" name="Text 1"/>
          <p:cNvSpPr/>
          <p:nvPr/>
        </p:nvSpPr>
        <p:spPr>
          <a:xfrm>
            <a:off x="457200" y="6537960"/>
            <a:ext cx="7315200" cy="274320"/>
          </a:xfrm>
          <a:prstGeom prst="rect">
            <a:avLst/>
          </a:prstGeom>
          <a:noFill/>
          <a:ln/>
        </p:spPr>
        <p:txBody>
          <a:bodyPr wrap="square" rtlCol="0" anchor="ctr"/>
          <a:lstStyle/>
          <a:p>
            <a:pPr algn="l" indent="0" marL="0">
              <a:buNone/>
            </a:pPr>
            <a:r>
              <a:rPr lang="en-US" sz="1000" dirty="0">
                <a:solidFill>
                  <a:srgbClr val="5B6B7A"/>
                </a:solidFill>
                <a:latin typeface="Calibri" pitchFamily="34" charset="0"/>
                <a:ea typeface="Calibri" pitchFamily="34" charset="-122"/>
                <a:cs typeface="Calibri" pitchFamily="34" charset="-120"/>
              </a:rPr>
              <a:t>Bases de Datos Relacionales</a:t>
            </a:r>
            <a:endParaRPr lang="en-US" sz="1000" dirty="0"/>
          </a:p>
        </p:txBody>
      </p:sp>
      <p:sp>
        <p:nvSpPr>
          <p:cNvPr id="5" name="Text 2"/>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Conectando dos tablas con una llave</a:t>
            </a:r>
            <a:endParaRPr lang="en-US" sz="2800" dirty="0"/>
          </a:p>
        </p:txBody>
      </p:sp>
      <p:sp>
        <p:nvSpPr>
          <p:cNvPr id="3" name="Text 1"/>
          <p:cNvSpPr/>
          <p:nvPr/>
        </p:nvSpPr>
        <p:spPr>
          <a:xfrm>
            <a:off x="822960" y="1371600"/>
            <a:ext cx="3657600" cy="365760"/>
          </a:xfrm>
          <a:prstGeom prst="rect">
            <a:avLst/>
          </a:prstGeom>
          <a:noFill/>
          <a:ln/>
        </p:spPr>
        <p:txBody>
          <a:bodyPr wrap="square" rtlCol="0" anchor="ctr"/>
          <a:lstStyle/>
          <a:p>
            <a:pPr indent="0" marL="0">
              <a:buNone/>
            </a:pPr>
            <a:r>
              <a:rPr lang="en-US" sz="1600" b="1" dirty="0">
                <a:solidFill>
                  <a:srgbClr val="1C7293"/>
                </a:solidFill>
                <a:latin typeface="Calibri" pitchFamily="34" charset="0"/>
                <a:ea typeface="Calibri" pitchFamily="34" charset="-122"/>
                <a:cs typeface="Calibri" pitchFamily="34" charset="-120"/>
              </a:rPr>
              <a:t>NIÑOS</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2960" y="1783080"/>
          <a:ext cx="3566160" cy="1463040"/>
        </p:xfrm>
        <a:graphic>
          <a:graphicData uri="http://schemas.openxmlformats.org/drawingml/2006/table">
            <a:tbl>
              <a:tblPr/>
              <a:tblGrid>
                <a:gridCol w="1783080"/>
                <a:gridCol w="1783080"/>
              </a:tblGrid>
              <a:tr h="4876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id</a:t>
                      </a:r>
                      <a:endParaRPr lang="en-US" sz="13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065A82"/>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nombre</a:t>
                      </a:r>
                      <a:endParaRPr lang="en-US" sz="13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065A82"/>
                    </a:solidFill>
                  </a:tcPr>
                </a:tc>
              </a:tr>
              <a:tr h="487680">
                <a:tc>
                  <a:txBody>
                    <a:bodyPr/>
                    <a:lstStyle/>
                    <a:p>
                      <a:pPr indent="0" marL="0">
                        <a:buNone/>
                      </a:pPr>
                      <a:r>
                        <a:rPr lang="en-US" sz="1300" dirty="0">
                          <a:solidFill>
                            <a:srgbClr val="2E3B47"/>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300" dirty="0">
                          <a:solidFill>
                            <a:srgbClr val="2E3B47"/>
                          </a:solidFill>
                          <a:latin typeface="Calibri" pitchFamily="34" charset="0"/>
                          <a:ea typeface="Calibri" pitchFamily="34" charset="-122"/>
                          <a:cs typeface="Calibri" pitchFamily="34" charset="-120"/>
                        </a:rPr>
                        <a:t>Juan</a:t>
                      </a:r>
                      <a:endParaRPr lang="en-US" sz="13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r>
              <a:tr h="487680">
                <a:tc>
                  <a:txBody>
                    <a:bodyPr/>
                    <a:lstStyle/>
                    <a:p>
                      <a:pPr indent="0" marL="0">
                        <a:buNone/>
                      </a:pPr>
                      <a:r>
                        <a:rPr lang="en-US" sz="1300" dirty="0">
                          <a:solidFill>
                            <a:srgbClr val="2E3B47"/>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7F9"/>
                    </a:solidFill>
                  </a:tcPr>
                </a:tc>
                <a:tc>
                  <a:txBody>
                    <a:bodyPr/>
                    <a:lstStyle/>
                    <a:p>
                      <a:pPr indent="0" marL="0">
                        <a:buNone/>
                      </a:pPr>
                      <a:r>
                        <a:rPr lang="en-US" sz="1300" dirty="0">
                          <a:solidFill>
                            <a:srgbClr val="2E3B47"/>
                          </a:solidFill>
                          <a:latin typeface="Calibri" pitchFamily="34" charset="0"/>
                          <a:ea typeface="Calibri" pitchFamily="34" charset="-122"/>
                          <a:cs typeface="Calibri" pitchFamily="34" charset="-120"/>
                        </a:rPr>
                        <a:t>Ana</a:t>
                      </a:r>
                      <a:endParaRPr lang="en-US" sz="13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7F9"/>
                    </a:solidFill>
                  </a:tcPr>
                </a:tc>
              </a:tr>
            </a:tbl>
          </a:graphicData>
        </a:graphic>
      </p:graphicFrame>
      <p:sp>
        <p:nvSpPr>
          <p:cNvPr id="5" name="Text 2"/>
          <p:cNvSpPr/>
          <p:nvPr/>
        </p:nvSpPr>
        <p:spPr>
          <a:xfrm>
            <a:off x="6035040" y="1371600"/>
            <a:ext cx="3657600" cy="365760"/>
          </a:xfrm>
          <a:prstGeom prst="rect">
            <a:avLst/>
          </a:prstGeom>
          <a:noFill/>
          <a:ln/>
        </p:spPr>
        <p:txBody>
          <a:bodyPr wrap="square" rtlCol="0" anchor="ctr"/>
          <a:lstStyle/>
          <a:p>
            <a:pPr indent="0" marL="0">
              <a:buNone/>
            </a:pPr>
            <a:r>
              <a:rPr lang="en-US" sz="1600" b="1" dirty="0">
                <a:solidFill>
                  <a:srgbClr val="1C7293"/>
                </a:solidFill>
                <a:latin typeface="Calibri" pitchFamily="34" charset="0"/>
                <a:ea typeface="Calibri" pitchFamily="34" charset="-122"/>
                <a:cs typeface="Calibri" pitchFamily="34" charset="-120"/>
              </a:rPr>
              <a:t>JUGUETES</a:t>
            </a:r>
            <a:endParaRPr lang="en-US" sz="16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035040" y="1783080"/>
          <a:ext cx="5394960" cy="1691640"/>
        </p:xfrm>
        <a:graphic>
          <a:graphicData uri="http://schemas.openxmlformats.org/drawingml/2006/table">
            <a:tbl>
              <a:tblPr/>
              <a:tblGrid>
                <a:gridCol w="1798320"/>
                <a:gridCol w="1798320"/>
                <a:gridCol w="1798320"/>
              </a:tblGrid>
              <a:tr h="42291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id</a:t>
                      </a:r>
                      <a:endParaRPr lang="en-US" sz="13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065A82"/>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nombre</a:t>
                      </a:r>
                      <a:endParaRPr lang="en-US" sz="13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065A82"/>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dueño_id</a:t>
                      </a:r>
                      <a:endParaRPr lang="en-US" sz="13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1C7293"/>
                    </a:solidFill>
                  </a:tcPr>
                </a:tc>
              </a:tr>
              <a:tr h="422910">
                <a:tc>
                  <a:txBody>
                    <a:bodyPr/>
                    <a:lstStyle/>
                    <a:p>
                      <a:pPr indent="0" marL="0">
                        <a:buNone/>
                      </a:pPr>
                      <a:r>
                        <a:rPr lang="en-US" sz="1300" dirty="0">
                          <a:solidFill>
                            <a:srgbClr val="2E3B47"/>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300" dirty="0">
                          <a:solidFill>
                            <a:srgbClr val="2E3B47"/>
                          </a:solidFill>
                          <a:latin typeface="Calibri" pitchFamily="34" charset="0"/>
                          <a:ea typeface="Calibri" pitchFamily="34" charset="-122"/>
                          <a:cs typeface="Calibri" pitchFamily="34" charset="-120"/>
                        </a:rPr>
                        <a:t>Osito peluche</a:t>
                      </a:r>
                      <a:endParaRPr lang="en-US" sz="13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300" dirty="0">
                          <a:solidFill>
                            <a:srgbClr val="2E3B47"/>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DCEFF5"/>
                    </a:solidFill>
                  </a:tcPr>
                </a:tc>
              </a:tr>
              <a:tr h="422910">
                <a:tc>
                  <a:txBody>
                    <a:bodyPr/>
                    <a:lstStyle/>
                    <a:p>
                      <a:pPr indent="0" marL="0">
                        <a:buNone/>
                      </a:pPr>
                      <a:r>
                        <a:rPr lang="en-US" sz="1300" dirty="0">
                          <a:solidFill>
                            <a:srgbClr val="2E3B47"/>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7F9"/>
                    </a:solidFill>
                  </a:tcPr>
                </a:tc>
                <a:tc>
                  <a:txBody>
                    <a:bodyPr/>
                    <a:lstStyle/>
                    <a:p>
                      <a:pPr indent="0" marL="0">
                        <a:buNone/>
                      </a:pPr>
                      <a:r>
                        <a:rPr lang="en-US" sz="1300" dirty="0">
                          <a:solidFill>
                            <a:srgbClr val="2E3B47"/>
                          </a:solidFill>
                          <a:latin typeface="Calibri" pitchFamily="34" charset="0"/>
                          <a:ea typeface="Calibri" pitchFamily="34" charset="-122"/>
                          <a:cs typeface="Calibri" pitchFamily="34" charset="-120"/>
                        </a:rPr>
                        <a:t>Coche rojo</a:t>
                      </a:r>
                      <a:endParaRPr lang="en-US" sz="13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7F9"/>
                    </a:solidFill>
                  </a:tcPr>
                </a:tc>
                <a:tc>
                  <a:txBody>
                    <a:bodyPr/>
                    <a:lstStyle/>
                    <a:p>
                      <a:pPr indent="0" marL="0">
                        <a:buNone/>
                      </a:pPr>
                      <a:r>
                        <a:rPr lang="en-US" sz="1300" dirty="0">
                          <a:solidFill>
                            <a:srgbClr val="2E3B47"/>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DCEFF5"/>
                    </a:solidFill>
                  </a:tcPr>
                </a:tc>
              </a:tr>
              <a:tr h="422910">
                <a:tc>
                  <a:txBody>
                    <a:bodyPr/>
                    <a:lstStyle/>
                    <a:p>
                      <a:pPr indent="0" marL="0">
                        <a:buNone/>
                      </a:pPr>
                      <a:r>
                        <a:rPr lang="en-US" sz="1300" dirty="0">
                          <a:solidFill>
                            <a:srgbClr val="2E3B47"/>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300" dirty="0">
                          <a:solidFill>
                            <a:srgbClr val="2E3B47"/>
                          </a:solidFill>
                          <a:latin typeface="Calibri" pitchFamily="34" charset="0"/>
                          <a:ea typeface="Calibri" pitchFamily="34" charset="-122"/>
                          <a:cs typeface="Calibri" pitchFamily="34" charset="-120"/>
                        </a:rPr>
                        <a:t>Balón</a:t>
                      </a:r>
                      <a:endParaRPr lang="en-US" sz="13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300" dirty="0">
                          <a:solidFill>
                            <a:srgbClr val="2E3B47"/>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DCEFF5"/>
                    </a:solidFill>
                  </a:tcPr>
                </a:tc>
              </a:tr>
            </a:tbl>
          </a:graphicData>
        </a:graphic>
      </p:graphicFrame>
      <p:sp>
        <p:nvSpPr>
          <p:cNvPr id="7" name="Shape 3"/>
          <p:cNvSpPr/>
          <p:nvPr/>
        </p:nvSpPr>
        <p:spPr>
          <a:xfrm>
            <a:off x="4389120" y="2331720"/>
            <a:ext cx="1645920" cy="320040"/>
          </a:xfrm>
          <a:prstGeom prst="bentConnector3">
            <a:avLst/>
          </a:prstGeom>
          <a:noFill/>
          <a:ln w="25400">
            <a:solidFill>
              <a:srgbClr val="1C7293"/>
            </a:solidFill>
            <a:prstDash val="solid"/>
            <a:tailEnd type="triangle"/>
          </a:ln>
        </p:spPr>
      </p:sp>
      <p:sp>
        <p:nvSpPr>
          <p:cNvPr id="8" name="Shape 4"/>
          <p:cNvSpPr/>
          <p:nvPr/>
        </p:nvSpPr>
        <p:spPr>
          <a:xfrm flipV="1">
            <a:off x="4389120" y="2651760"/>
            <a:ext cx="1645920" cy="640080"/>
          </a:xfrm>
          <a:prstGeom prst="bentConnector3">
            <a:avLst/>
          </a:prstGeom>
          <a:noFill/>
          <a:ln w="25400">
            <a:solidFill>
              <a:srgbClr val="1C7293"/>
            </a:solidFill>
            <a:prstDash val="solid"/>
            <a:tailEnd type="triangle"/>
          </a:ln>
        </p:spPr>
      </p:sp>
      <p:sp>
        <p:nvSpPr>
          <p:cNvPr id="9" name="Shape 5"/>
          <p:cNvSpPr/>
          <p:nvPr/>
        </p:nvSpPr>
        <p:spPr>
          <a:xfrm>
            <a:off x="822960" y="3749040"/>
            <a:ext cx="10607040" cy="2286000"/>
          </a:xfrm>
          <a:prstGeom prst="roundRect">
            <a:avLst>
              <a:gd name="adj" fmla="val 4000"/>
            </a:avLst>
          </a:prstGeom>
          <a:solidFill>
            <a:srgbClr val="F4F7F9"/>
          </a:solidFill>
          <a:ln/>
        </p:spPr>
      </p:sp>
      <p:sp>
        <p:nvSpPr>
          <p:cNvPr id="10" name="Shape 6"/>
          <p:cNvSpPr/>
          <p:nvPr/>
        </p:nvSpPr>
        <p:spPr>
          <a:xfrm>
            <a:off x="1051560" y="3977640"/>
            <a:ext cx="640080" cy="640080"/>
          </a:xfrm>
          <a:prstGeom prst="ellipse">
            <a:avLst/>
          </a:prstGeom>
          <a:solidFill>
            <a:srgbClr val="065A82"/>
          </a:solidFill>
          <a:ln/>
        </p:spPr>
      </p:sp>
      <p:pic>
        <p:nvPicPr>
          <p:cNvPr id="11" name="Image 0" descr="/home/claude/work/pptx_build/icons/link.png">    </p:cNvPr>
          <p:cNvPicPr>
            <a:picLocks noChangeAspect="1"/>
          </p:cNvPicPr>
          <p:nvPr/>
        </p:nvPicPr>
        <p:blipFill>
          <a:blip r:embed="rId1"/>
          <a:stretch>
            <a:fillRect/>
          </a:stretch>
        </p:blipFill>
        <p:spPr>
          <a:xfrm>
            <a:off x="1141171" y="4067251"/>
            <a:ext cx="460858" cy="460858"/>
          </a:xfrm>
          <a:prstGeom prst="rect">
            <a:avLst/>
          </a:prstGeom>
        </p:spPr>
      </p:pic>
      <p:sp>
        <p:nvSpPr>
          <p:cNvPr id="12" name="Text 7"/>
          <p:cNvSpPr/>
          <p:nvPr/>
        </p:nvSpPr>
        <p:spPr>
          <a:xfrm>
            <a:off x="1920240" y="3931920"/>
            <a:ext cx="9235440" cy="1920240"/>
          </a:xfrm>
          <a:prstGeom prst="rect">
            <a:avLst/>
          </a:prstGeom>
          <a:noFill/>
          <a:ln/>
        </p:spPr>
        <p:txBody>
          <a:bodyPr wrap="square" rtlCol="0" anchor="ctr"/>
          <a:lstStyle/>
          <a:p>
            <a:pPr indent="0" marL="0">
              <a:lnSpc>
                <a:spcPct val="120000"/>
              </a:lnSpc>
              <a:buNone/>
            </a:pPr>
            <a:r>
              <a:rPr lang="en-US" sz="1500" dirty="0">
                <a:solidFill>
                  <a:srgbClr val="2E3B47"/>
                </a:solidFill>
                <a:latin typeface="Calibri" pitchFamily="34" charset="0"/>
                <a:ea typeface="Calibri" pitchFamily="34" charset="-122"/>
                <a:cs typeface="Calibri" pitchFamily="34" charset="-120"/>
              </a:rPr>
              <a:t>"dueño_id" en JUGUETES es la clave foránea que apunta al "id" (clave primaria) de NIÑOS.</a:t>
            </a:r>
            <a:endParaRPr lang="en-US" sz="1500" dirty="0"/>
          </a:p>
          <a:p>
            <a:pPr indent="0" marL="0">
              <a:lnSpc>
                <a:spcPct val="120000"/>
              </a:lnSpc>
              <a:buNone/>
            </a:pPr>
            <a:endParaRPr lang="en-US" sz="1500" dirty="0"/>
          </a:p>
          <a:p>
            <a:pPr indent="0" marL="0">
              <a:lnSpc>
                <a:spcPct val="120000"/>
              </a:lnSpc>
              <a:buNone/>
            </a:pPr>
            <a:r>
              <a:rPr lang="en-US" sz="1500" dirty="0">
                <a:solidFill>
                  <a:srgbClr val="2E3B47"/>
                </a:solidFill>
                <a:latin typeface="Calibri" pitchFamily="34" charset="0"/>
                <a:ea typeface="Calibri" pitchFamily="34" charset="-122"/>
                <a:cs typeface="Calibri" pitchFamily="34" charset="-120"/>
              </a:rPr>
              <a:t>Así el ordenador sabe que el osito y el balón son de Juan (id = 1), y el coche rojo es de Ana (id = 2).</a:t>
            </a:r>
            <a:endParaRPr lang="en-US" sz="1500" dirty="0"/>
          </a:p>
        </p:txBody>
      </p:sp>
      <p:sp>
        <p:nvSpPr>
          <p:cNvPr id="13" name="Text 8"/>
          <p:cNvSpPr/>
          <p:nvPr/>
        </p:nvSpPr>
        <p:spPr>
          <a:xfrm>
            <a:off x="457200" y="6537960"/>
            <a:ext cx="7315200" cy="274320"/>
          </a:xfrm>
          <a:prstGeom prst="rect">
            <a:avLst/>
          </a:prstGeom>
          <a:noFill/>
          <a:ln/>
        </p:spPr>
        <p:txBody>
          <a:bodyPr wrap="square" rtlCol="0" anchor="ctr"/>
          <a:lstStyle/>
          <a:p>
            <a:pPr algn="l" indent="0" marL="0">
              <a:buNone/>
            </a:pPr>
            <a:r>
              <a:rPr lang="en-US" sz="1000" dirty="0">
                <a:solidFill>
                  <a:srgbClr val="5B6B7A"/>
                </a:solidFill>
                <a:latin typeface="Calibri" pitchFamily="34" charset="0"/>
                <a:ea typeface="Calibri" pitchFamily="34" charset="-122"/>
                <a:cs typeface="Calibri" pitchFamily="34" charset="-120"/>
              </a:rPr>
              <a:t>Bases de Datos Relacionales</a:t>
            </a:r>
            <a:endParaRPr lang="en-US" sz="1000" dirty="0"/>
          </a:p>
        </p:txBody>
      </p:sp>
      <p:sp>
        <p:nvSpPr>
          <p:cNvPr id="14" name="Text 9"/>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548640" y="457200"/>
            <a:ext cx="2194560" cy="365760"/>
          </a:xfrm>
          <a:prstGeom prst="roundRect">
            <a:avLst>
              <a:gd name="adj" fmla="val 50000"/>
            </a:avLst>
          </a:prstGeom>
          <a:solidFill>
            <a:srgbClr val="1C7293"/>
          </a:solidFill>
          <a:ln/>
        </p:spPr>
      </p:sp>
      <p:sp>
        <p:nvSpPr>
          <p:cNvPr id="3" name="Text 1"/>
          <p:cNvSpPr/>
          <p:nvPr/>
        </p:nvSpPr>
        <p:spPr>
          <a:xfrm>
            <a:off x="548640" y="457200"/>
            <a:ext cx="21945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 ENGLISH</a:t>
            </a:r>
            <a:endParaRPr lang="en-US" sz="1200" dirty="0"/>
          </a:p>
        </p:txBody>
      </p:sp>
      <p:sp>
        <p:nvSpPr>
          <p:cNvPr id="4" name="Text 2"/>
          <p:cNvSpPr/>
          <p:nvPr/>
        </p:nvSpPr>
        <p:spPr>
          <a:xfrm>
            <a:off x="548640" y="960120"/>
            <a:ext cx="109728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real-world vocabulary</a:t>
            </a:r>
            <a:endParaRPr lang="en-US" sz="3000" dirty="0"/>
          </a:p>
        </p:txBody>
      </p:sp>
      <p:sp>
        <p:nvSpPr>
          <p:cNvPr id="5" name="Text 3"/>
          <p:cNvSpPr/>
          <p:nvPr/>
        </p:nvSpPr>
        <p:spPr>
          <a:xfrm>
            <a:off x="548640" y="1783080"/>
            <a:ext cx="10972800" cy="914400"/>
          </a:xfrm>
          <a:prstGeom prst="rect">
            <a:avLst/>
          </a:prstGeom>
          <a:noFill/>
          <a:ln/>
        </p:spPr>
        <p:txBody>
          <a:bodyPr wrap="square" rtlCol="0" anchor="ctr"/>
          <a:lstStyle/>
          <a:p>
            <a:pPr indent="0" marL="0">
              <a:buNone/>
            </a:pPr>
            <a:r>
              <a:rPr lang="en-US" sz="1600" i="1" dirty="0">
                <a:solidFill>
                  <a:srgbClr val="C9D6E3"/>
                </a:solidFill>
                <a:latin typeface="Calibri" pitchFamily="34" charset="0"/>
                <a:ea typeface="Calibri" pitchFamily="34" charset="-122"/>
                <a:cs typeface="Calibri" pitchFamily="34" charset="-120"/>
              </a:rPr>
              <a:t>In the real world, you’ll hear these terms in English — table, row, column, primary key, foreign key. Even if you work in Spanish, the code and the documentation will almost always use these English words, so it’s worth getting comfortable with them early.</a:t>
            </a:r>
            <a:endParaRPr lang="en-US" sz="1600" dirty="0"/>
          </a:p>
        </p:txBody>
      </p:sp>
      <p:sp>
        <p:nvSpPr>
          <p:cNvPr id="6" name="Shape 4"/>
          <p:cNvSpPr/>
          <p:nvPr/>
        </p:nvSpPr>
        <p:spPr>
          <a:xfrm>
            <a:off x="548640" y="3017520"/>
            <a:ext cx="2103120" cy="1188720"/>
          </a:xfrm>
          <a:prstGeom prst="roundRect">
            <a:avLst>
              <a:gd name="adj" fmla="val 7692"/>
            </a:avLst>
          </a:prstGeom>
          <a:solidFill>
            <a:srgbClr val="065A82"/>
          </a:solidFill>
          <a:ln/>
        </p:spPr>
      </p:sp>
      <p:sp>
        <p:nvSpPr>
          <p:cNvPr id="7" name="Text 5"/>
          <p:cNvSpPr/>
          <p:nvPr/>
        </p:nvSpPr>
        <p:spPr>
          <a:xfrm>
            <a:off x="548640" y="3017520"/>
            <a:ext cx="2103120" cy="11887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table</a:t>
            </a:r>
            <a:endParaRPr lang="en-US" sz="1500" dirty="0"/>
          </a:p>
        </p:txBody>
      </p:sp>
      <p:sp>
        <p:nvSpPr>
          <p:cNvPr id="8" name="Shape 6"/>
          <p:cNvSpPr/>
          <p:nvPr/>
        </p:nvSpPr>
        <p:spPr>
          <a:xfrm>
            <a:off x="2834640" y="3017520"/>
            <a:ext cx="2103120" cy="1188720"/>
          </a:xfrm>
          <a:prstGeom prst="roundRect">
            <a:avLst>
              <a:gd name="adj" fmla="val 7692"/>
            </a:avLst>
          </a:prstGeom>
          <a:solidFill>
            <a:srgbClr val="065A82"/>
          </a:solidFill>
          <a:ln/>
        </p:spPr>
      </p:sp>
      <p:sp>
        <p:nvSpPr>
          <p:cNvPr id="9" name="Text 7"/>
          <p:cNvSpPr/>
          <p:nvPr/>
        </p:nvSpPr>
        <p:spPr>
          <a:xfrm>
            <a:off x="2834640" y="3017520"/>
            <a:ext cx="2103120" cy="11887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row</a:t>
            </a:r>
            <a:endParaRPr lang="en-US" sz="1500" dirty="0"/>
          </a:p>
        </p:txBody>
      </p:sp>
      <p:sp>
        <p:nvSpPr>
          <p:cNvPr id="10" name="Shape 8"/>
          <p:cNvSpPr/>
          <p:nvPr/>
        </p:nvSpPr>
        <p:spPr>
          <a:xfrm>
            <a:off x="5120640" y="3017520"/>
            <a:ext cx="2103120" cy="1188720"/>
          </a:xfrm>
          <a:prstGeom prst="roundRect">
            <a:avLst>
              <a:gd name="adj" fmla="val 7692"/>
            </a:avLst>
          </a:prstGeom>
          <a:solidFill>
            <a:srgbClr val="065A82"/>
          </a:solidFill>
          <a:ln/>
        </p:spPr>
      </p:sp>
      <p:sp>
        <p:nvSpPr>
          <p:cNvPr id="11" name="Text 9"/>
          <p:cNvSpPr/>
          <p:nvPr/>
        </p:nvSpPr>
        <p:spPr>
          <a:xfrm>
            <a:off x="5120640" y="3017520"/>
            <a:ext cx="2103120" cy="11887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column</a:t>
            </a:r>
            <a:endParaRPr lang="en-US" sz="1500" dirty="0"/>
          </a:p>
        </p:txBody>
      </p:sp>
      <p:sp>
        <p:nvSpPr>
          <p:cNvPr id="12" name="Shape 10"/>
          <p:cNvSpPr/>
          <p:nvPr/>
        </p:nvSpPr>
        <p:spPr>
          <a:xfrm>
            <a:off x="7406640" y="3017520"/>
            <a:ext cx="2103120" cy="1188720"/>
          </a:xfrm>
          <a:prstGeom prst="roundRect">
            <a:avLst>
              <a:gd name="adj" fmla="val 7692"/>
            </a:avLst>
          </a:prstGeom>
          <a:solidFill>
            <a:srgbClr val="065A82"/>
          </a:solidFill>
          <a:ln/>
        </p:spPr>
      </p:sp>
      <p:sp>
        <p:nvSpPr>
          <p:cNvPr id="13" name="Text 11"/>
          <p:cNvSpPr/>
          <p:nvPr/>
        </p:nvSpPr>
        <p:spPr>
          <a:xfrm>
            <a:off x="7406640" y="3017520"/>
            <a:ext cx="2103120" cy="11887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primary key</a:t>
            </a:r>
            <a:endParaRPr lang="en-US" sz="1500" dirty="0"/>
          </a:p>
        </p:txBody>
      </p:sp>
      <p:sp>
        <p:nvSpPr>
          <p:cNvPr id="14" name="Shape 12"/>
          <p:cNvSpPr/>
          <p:nvPr/>
        </p:nvSpPr>
        <p:spPr>
          <a:xfrm>
            <a:off x="9692640" y="3017520"/>
            <a:ext cx="2103120" cy="1188720"/>
          </a:xfrm>
          <a:prstGeom prst="roundRect">
            <a:avLst>
              <a:gd name="adj" fmla="val 7692"/>
            </a:avLst>
          </a:prstGeom>
          <a:solidFill>
            <a:srgbClr val="065A82"/>
          </a:solidFill>
          <a:ln/>
        </p:spPr>
      </p:sp>
      <p:sp>
        <p:nvSpPr>
          <p:cNvPr id="15" name="Text 13"/>
          <p:cNvSpPr/>
          <p:nvPr/>
        </p:nvSpPr>
        <p:spPr>
          <a:xfrm>
            <a:off x="9692640" y="3017520"/>
            <a:ext cx="2103120" cy="11887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foreign key</a:t>
            </a:r>
            <a:endParaRPr lang="en-US" sz="1500" dirty="0"/>
          </a:p>
        </p:txBody>
      </p:sp>
      <p:sp>
        <p:nvSpPr>
          <p:cNvPr id="16" name="Text 14"/>
          <p:cNvSpPr/>
          <p:nvPr/>
        </p:nvSpPr>
        <p:spPr>
          <a:xfrm>
            <a:off x="548640" y="4480560"/>
            <a:ext cx="10972800" cy="457200"/>
          </a:xfrm>
          <a:prstGeom prst="rect">
            <a:avLst/>
          </a:prstGeom>
          <a:noFill/>
          <a:ln/>
        </p:spPr>
        <p:txBody>
          <a:bodyPr wrap="square" rtlCol="0" anchor="ctr"/>
          <a:lstStyle/>
          <a:p>
            <a:pPr algn="ctr" indent="0" marL="0">
              <a:buNone/>
            </a:pPr>
            <a:r>
              <a:rPr lang="en-US" sz="1400" dirty="0">
                <a:solidFill>
                  <a:srgbClr val="9FD8E8"/>
                </a:solidFill>
                <a:latin typeface="Calibri" pitchFamily="34" charset="0"/>
                <a:ea typeface="Calibri" pitchFamily="34" charset="-122"/>
                <a:cs typeface="Calibri" pitchFamily="34" charset="-120"/>
              </a:rPr>
              <a:t>mesa   ·   fila   ·   columna   ·   clave primaria   ·   clave foránea</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822960" y="2103120"/>
            <a:ext cx="2743200" cy="1097280"/>
          </a:xfrm>
          <a:prstGeom prst="rect">
            <a:avLst/>
          </a:prstGeom>
          <a:noFill/>
          <a:ln/>
        </p:spPr>
        <p:txBody>
          <a:bodyPr wrap="square" rtlCol="0" anchor="ctr"/>
          <a:lstStyle/>
          <a:p>
            <a:pPr indent="0" marL="0">
              <a:buNone/>
            </a:pPr>
            <a:r>
              <a:rPr lang="en-US" sz="6000" b="1" dirty="0">
                <a:solidFill>
                  <a:srgbClr val="1C7293"/>
                </a:solidFill>
                <a:latin typeface="Cambria" pitchFamily="34" charset="0"/>
                <a:ea typeface="Cambria" pitchFamily="34" charset="-122"/>
                <a:cs typeface="Cambria" pitchFamily="34" charset="-120"/>
              </a:rPr>
              <a:t>03</a:t>
            </a:r>
            <a:endParaRPr lang="en-US" sz="6000" dirty="0"/>
          </a:p>
        </p:txBody>
      </p:sp>
      <p:sp>
        <p:nvSpPr>
          <p:cNvPr id="3" name="Text 1"/>
          <p:cNvSpPr/>
          <p:nvPr/>
        </p:nvSpPr>
        <p:spPr>
          <a:xfrm>
            <a:off x="822960" y="3108960"/>
            <a:ext cx="10058400" cy="109728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Trabajando con SQL puro</a:t>
            </a:r>
            <a:endParaRPr lang="en-US" sz="3600" dirty="0"/>
          </a:p>
        </p:txBody>
      </p:sp>
      <p:sp>
        <p:nvSpPr>
          <p:cNvPr id="4" name="Text 2"/>
          <p:cNvSpPr/>
          <p:nvPr/>
        </p:nvSpPr>
        <p:spPr>
          <a:xfrm>
            <a:off x="822960" y="3931920"/>
            <a:ext cx="10058400" cy="457200"/>
          </a:xfrm>
          <a:prstGeom prst="rect">
            <a:avLst/>
          </a:prstGeom>
          <a:noFill/>
          <a:ln/>
        </p:spPr>
        <p:txBody>
          <a:bodyPr wrap="square" rtlCol="0" anchor="ctr"/>
          <a:lstStyle/>
          <a:p>
            <a:pPr indent="0" marL="0">
              <a:buNone/>
            </a:pPr>
            <a:r>
              <a:rPr lang="en-US" sz="1600" i="1" dirty="0">
                <a:solidFill>
                  <a:srgbClr val="C9D6E3"/>
                </a:solidFill>
                <a:latin typeface="Calibri" pitchFamily="34" charset="0"/>
                <a:ea typeface="Calibri" pitchFamily="34" charset="-122"/>
                <a:cs typeface="Calibri" pitchFamily="34" charset="-120"/>
              </a:rPr>
              <a:t>Cómo se crea, consulta, modifica y protege la información, sin salir del lenguaje SQL</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73152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CRUD, pero en SQL puro</a:t>
            </a:r>
            <a:endParaRPr lang="en-US" sz="3000" dirty="0"/>
          </a:p>
        </p:txBody>
      </p:sp>
      <p:sp>
        <p:nvSpPr>
          <p:cNvPr id="3" name="Text 1"/>
          <p:cNvSpPr/>
          <p:nvPr/>
        </p:nvSpPr>
        <p:spPr>
          <a:xfrm>
            <a:off x="548640" y="1097280"/>
            <a:ext cx="10972800" cy="457200"/>
          </a:xfrm>
          <a:prstGeom prst="rect">
            <a:avLst/>
          </a:prstGeom>
          <a:noFill/>
          <a:ln/>
        </p:spPr>
        <p:txBody>
          <a:bodyPr wrap="square" rtlCol="0" anchor="ctr"/>
          <a:lstStyle/>
          <a:p>
            <a:pPr indent="0" marL="0">
              <a:buNone/>
            </a:pPr>
            <a:r>
              <a:rPr lang="en-US" sz="1500" i="1" dirty="0">
                <a:solidFill>
                  <a:srgbClr val="5B6B7A"/>
                </a:solidFill>
                <a:latin typeface="Calibri" pitchFamily="34" charset="0"/>
                <a:ea typeface="Calibri" pitchFamily="34" charset="-122"/>
                <a:cs typeface="Calibri" pitchFamily="34" charset="-120"/>
              </a:rPr>
              <a:t>Las mismas cuatro operaciones de siempre, escritas directamente en el lenguaje de la base de datos.</a:t>
            </a:r>
            <a:endParaRPr lang="en-US" sz="1500" dirty="0"/>
          </a:p>
        </p:txBody>
      </p:sp>
      <p:sp>
        <p:nvSpPr>
          <p:cNvPr id="4" name="Shape 2"/>
          <p:cNvSpPr/>
          <p:nvPr/>
        </p:nvSpPr>
        <p:spPr>
          <a:xfrm>
            <a:off x="548640" y="1874520"/>
            <a:ext cx="2606040" cy="3931920"/>
          </a:xfrm>
          <a:prstGeom prst="roundRect">
            <a:avLst>
              <a:gd name="adj" fmla="val 4211"/>
            </a:avLst>
          </a:prstGeom>
          <a:solidFill>
            <a:srgbClr val="F4F7F9"/>
          </a:solidFill>
          <a:ln/>
        </p:spPr>
      </p:sp>
      <p:sp>
        <p:nvSpPr>
          <p:cNvPr id="5" name="Shape 3"/>
          <p:cNvSpPr/>
          <p:nvPr/>
        </p:nvSpPr>
        <p:spPr>
          <a:xfrm>
            <a:off x="1394460" y="2148840"/>
            <a:ext cx="914400" cy="914400"/>
          </a:xfrm>
          <a:prstGeom prst="ellipse">
            <a:avLst/>
          </a:prstGeom>
          <a:solidFill>
            <a:srgbClr val="065A82"/>
          </a:solidFill>
          <a:ln/>
        </p:spPr>
      </p:sp>
      <p:pic>
        <p:nvPicPr>
          <p:cNvPr id="6" name="Image 0" descr="/home/claude/work/pptx_build/icons/plus.png">    </p:cNvPr>
          <p:cNvPicPr>
            <a:picLocks noChangeAspect="1"/>
          </p:cNvPicPr>
          <p:nvPr/>
        </p:nvPicPr>
        <p:blipFill>
          <a:blip r:embed="rId1"/>
          <a:stretch>
            <a:fillRect/>
          </a:stretch>
        </p:blipFill>
        <p:spPr>
          <a:xfrm>
            <a:off x="1522476" y="2276856"/>
            <a:ext cx="658368" cy="658368"/>
          </a:xfrm>
          <a:prstGeom prst="rect">
            <a:avLst/>
          </a:prstGeom>
        </p:spPr>
      </p:pic>
      <p:sp>
        <p:nvSpPr>
          <p:cNvPr id="7" name="Text 4"/>
          <p:cNvSpPr/>
          <p:nvPr/>
        </p:nvSpPr>
        <p:spPr>
          <a:xfrm>
            <a:off x="685800" y="3200400"/>
            <a:ext cx="2331720" cy="365760"/>
          </a:xfrm>
          <a:prstGeom prst="rect">
            <a:avLst/>
          </a:prstGeom>
          <a:noFill/>
          <a:ln/>
        </p:spPr>
        <p:txBody>
          <a:bodyPr wrap="square" rtlCol="0" anchor="ctr"/>
          <a:lstStyle/>
          <a:p>
            <a:pPr algn="ctr" indent="0" marL="0">
              <a:buNone/>
            </a:pPr>
            <a:r>
              <a:rPr lang="en-US" sz="1500" b="1" dirty="0">
                <a:solidFill>
                  <a:srgbClr val="21295C"/>
                </a:solidFill>
                <a:latin typeface="Calibri" pitchFamily="34" charset="0"/>
                <a:ea typeface="Calibri" pitchFamily="34" charset="-122"/>
                <a:cs typeface="Calibri" pitchFamily="34" charset="-120"/>
              </a:rPr>
              <a:t>C — Create</a:t>
            </a:r>
            <a:endParaRPr lang="en-US" sz="1500" dirty="0"/>
          </a:p>
        </p:txBody>
      </p:sp>
      <p:sp>
        <p:nvSpPr>
          <p:cNvPr id="8" name="Shape 5"/>
          <p:cNvSpPr/>
          <p:nvPr/>
        </p:nvSpPr>
        <p:spPr>
          <a:xfrm>
            <a:off x="868680" y="3584448"/>
            <a:ext cx="1965960" cy="457200"/>
          </a:xfrm>
          <a:prstGeom prst="roundRect">
            <a:avLst>
              <a:gd name="adj" fmla="val 16000"/>
            </a:avLst>
          </a:prstGeom>
          <a:solidFill>
            <a:srgbClr val="21295C"/>
          </a:solidFill>
          <a:ln/>
        </p:spPr>
      </p:sp>
      <p:sp>
        <p:nvSpPr>
          <p:cNvPr id="9" name="Text 6"/>
          <p:cNvSpPr/>
          <p:nvPr/>
        </p:nvSpPr>
        <p:spPr>
          <a:xfrm>
            <a:off x="868680" y="3584448"/>
            <a:ext cx="1965960" cy="457200"/>
          </a:xfrm>
          <a:prstGeom prst="rect">
            <a:avLst/>
          </a:prstGeom>
          <a:noFill/>
          <a:ln/>
        </p:spPr>
        <p:txBody>
          <a:bodyPr wrap="square" rtlCol="0" anchor="ctr"/>
          <a:lstStyle/>
          <a:p>
            <a:pPr algn="ctr" indent="0" marL="0">
              <a:buNone/>
            </a:pPr>
            <a:r>
              <a:rPr lang="en-US" sz="1400" b="1" dirty="0">
                <a:solidFill>
                  <a:srgbClr val="9FD8E8"/>
                </a:solidFill>
                <a:latin typeface="Courier New" pitchFamily="34" charset="0"/>
                <a:ea typeface="Courier New" pitchFamily="34" charset="-122"/>
                <a:cs typeface="Courier New" pitchFamily="34" charset="-120"/>
              </a:rPr>
              <a:t>INSERT</a:t>
            </a:r>
            <a:endParaRPr lang="en-US" sz="1400" dirty="0"/>
          </a:p>
        </p:txBody>
      </p:sp>
      <p:sp>
        <p:nvSpPr>
          <p:cNvPr id="10" name="Text 7"/>
          <p:cNvSpPr/>
          <p:nvPr/>
        </p:nvSpPr>
        <p:spPr>
          <a:xfrm>
            <a:off x="731520" y="4206240"/>
            <a:ext cx="2240280" cy="1371600"/>
          </a:xfrm>
          <a:prstGeom prst="rect">
            <a:avLst/>
          </a:prstGeom>
          <a:noFill/>
          <a:ln/>
        </p:spPr>
        <p:txBody>
          <a:bodyPr wrap="square" rtlCol="0" anchor="t"/>
          <a:lstStyle/>
          <a:p>
            <a:pPr algn="ctr" indent="0" marL="0">
              <a:buNone/>
            </a:pPr>
            <a:r>
              <a:rPr lang="en-US" sz="1200" dirty="0">
                <a:solidFill>
                  <a:srgbClr val="5B6B7A"/>
                </a:solidFill>
                <a:latin typeface="Calibri" pitchFamily="34" charset="0"/>
                <a:ea typeface="Calibri" pitchFamily="34" charset="-122"/>
                <a:cs typeface="Calibri" pitchFamily="34" charset="-120"/>
              </a:rPr>
              <a:t>Añade una fila nueva a una tabla.</a:t>
            </a:r>
            <a:endParaRPr lang="en-US" sz="1200" dirty="0"/>
          </a:p>
        </p:txBody>
      </p:sp>
      <p:sp>
        <p:nvSpPr>
          <p:cNvPr id="11" name="Shape 8"/>
          <p:cNvSpPr/>
          <p:nvPr/>
        </p:nvSpPr>
        <p:spPr>
          <a:xfrm>
            <a:off x="3337560" y="1874520"/>
            <a:ext cx="2606040" cy="3931920"/>
          </a:xfrm>
          <a:prstGeom prst="roundRect">
            <a:avLst>
              <a:gd name="adj" fmla="val 4211"/>
            </a:avLst>
          </a:prstGeom>
          <a:solidFill>
            <a:srgbClr val="F4F7F9"/>
          </a:solidFill>
          <a:ln/>
        </p:spPr>
      </p:sp>
      <p:sp>
        <p:nvSpPr>
          <p:cNvPr id="12" name="Shape 9"/>
          <p:cNvSpPr/>
          <p:nvPr/>
        </p:nvSpPr>
        <p:spPr>
          <a:xfrm>
            <a:off x="4183380" y="2148840"/>
            <a:ext cx="914400" cy="914400"/>
          </a:xfrm>
          <a:prstGeom prst="ellipse">
            <a:avLst/>
          </a:prstGeom>
          <a:solidFill>
            <a:srgbClr val="1C7293"/>
          </a:solidFill>
          <a:ln/>
        </p:spPr>
      </p:sp>
      <p:pic>
        <p:nvPicPr>
          <p:cNvPr id="13" name="Image 1" descr="/home/claude/work/pptx_build/icons/eye.png">    </p:cNvPr>
          <p:cNvPicPr>
            <a:picLocks noChangeAspect="1"/>
          </p:cNvPicPr>
          <p:nvPr/>
        </p:nvPicPr>
        <p:blipFill>
          <a:blip r:embed="rId2"/>
          <a:stretch>
            <a:fillRect/>
          </a:stretch>
        </p:blipFill>
        <p:spPr>
          <a:xfrm>
            <a:off x="4311396" y="2276856"/>
            <a:ext cx="658368" cy="658368"/>
          </a:xfrm>
          <a:prstGeom prst="rect">
            <a:avLst/>
          </a:prstGeom>
        </p:spPr>
      </p:pic>
      <p:sp>
        <p:nvSpPr>
          <p:cNvPr id="14" name="Text 10"/>
          <p:cNvSpPr/>
          <p:nvPr/>
        </p:nvSpPr>
        <p:spPr>
          <a:xfrm>
            <a:off x="3474720" y="3200400"/>
            <a:ext cx="2331720" cy="365760"/>
          </a:xfrm>
          <a:prstGeom prst="rect">
            <a:avLst/>
          </a:prstGeom>
          <a:noFill/>
          <a:ln/>
        </p:spPr>
        <p:txBody>
          <a:bodyPr wrap="square" rtlCol="0" anchor="ctr"/>
          <a:lstStyle/>
          <a:p>
            <a:pPr algn="ctr" indent="0" marL="0">
              <a:buNone/>
            </a:pPr>
            <a:r>
              <a:rPr lang="en-US" sz="1500" b="1" dirty="0">
                <a:solidFill>
                  <a:srgbClr val="21295C"/>
                </a:solidFill>
                <a:latin typeface="Calibri" pitchFamily="34" charset="0"/>
                <a:ea typeface="Calibri" pitchFamily="34" charset="-122"/>
                <a:cs typeface="Calibri" pitchFamily="34" charset="-120"/>
              </a:rPr>
              <a:t>R — Read</a:t>
            </a:r>
            <a:endParaRPr lang="en-US" sz="1500" dirty="0"/>
          </a:p>
        </p:txBody>
      </p:sp>
      <p:sp>
        <p:nvSpPr>
          <p:cNvPr id="15" name="Shape 11"/>
          <p:cNvSpPr/>
          <p:nvPr/>
        </p:nvSpPr>
        <p:spPr>
          <a:xfrm>
            <a:off x="3657600" y="3584448"/>
            <a:ext cx="1965960" cy="457200"/>
          </a:xfrm>
          <a:prstGeom prst="roundRect">
            <a:avLst>
              <a:gd name="adj" fmla="val 16000"/>
            </a:avLst>
          </a:prstGeom>
          <a:solidFill>
            <a:srgbClr val="21295C"/>
          </a:solidFill>
          <a:ln/>
        </p:spPr>
      </p:sp>
      <p:sp>
        <p:nvSpPr>
          <p:cNvPr id="16" name="Text 12"/>
          <p:cNvSpPr/>
          <p:nvPr/>
        </p:nvSpPr>
        <p:spPr>
          <a:xfrm>
            <a:off x="3657600" y="3584448"/>
            <a:ext cx="1965960" cy="457200"/>
          </a:xfrm>
          <a:prstGeom prst="rect">
            <a:avLst/>
          </a:prstGeom>
          <a:noFill/>
          <a:ln/>
        </p:spPr>
        <p:txBody>
          <a:bodyPr wrap="square" rtlCol="0" anchor="ctr"/>
          <a:lstStyle/>
          <a:p>
            <a:pPr algn="ctr" indent="0" marL="0">
              <a:buNone/>
            </a:pPr>
            <a:r>
              <a:rPr lang="en-US" sz="1400" b="1" dirty="0">
                <a:solidFill>
                  <a:srgbClr val="9FD8E8"/>
                </a:solidFill>
                <a:latin typeface="Courier New" pitchFamily="34" charset="0"/>
                <a:ea typeface="Courier New" pitchFamily="34" charset="-122"/>
                <a:cs typeface="Courier New" pitchFamily="34" charset="-120"/>
              </a:rPr>
              <a:t>SELECT</a:t>
            </a:r>
            <a:endParaRPr lang="en-US" sz="1400" dirty="0"/>
          </a:p>
        </p:txBody>
      </p:sp>
      <p:sp>
        <p:nvSpPr>
          <p:cNvPr id="17" name="Text 13"/>
          <p:cNvSpPr/>
          <p:nvPr/>
        </p:nvSpPr>
        <p:spPr>
          <a:xfrm>
            <a:off x="3520440" y="4206240"/>
            <a:ext cx="2240280" cy="1371600"/>
          </a:xfrm>
          <a:prstGeom prst="rect">
            <a:avLst/>
          </a:prstGeom>
          <a:noFill/>
          <a:ln/>
        </p:spPr>
        <p:txBody>
          <a:bodyPr wrap="square" rtlCol="0" anchor="t"/>
          <a:lstStyle/>
          <a:p>
            <a:pPr algn="ctr" indent="0" marL="0">
              <a:buNone/>
            </a:pPr>
            <a:r>
              <a:rPr lang="en-US" sz="1200" dirty="0">
                <a:solidFill>
                  <a:srgbClr val="5B6B7A"/>
                </a:solidFill>
                <a:latin typeface="Calibri" pitchFamily="34" charset="0"/>
                <a:ea typeface="Calibri" pitchFamily="34" charset="-122"/>
                <a:cs typeface="Calibri" pitchFamily="34" charset="-120"/>
              </a:rPr>
              <a:t>Consulta una o varias filas.</a:t>
            </a:r>
            <a:endParaRPr lang="en-US" sz="1200" dirty="0"/>
          </a:p>
        </p:txBody>
      </p:sp>
      <p:sp>
        <p:nvSpPr>
          <p:cNvPr id="18" name="Shape 14"/>
          <p:cNvSpPr/>
          <p:nvPr/>
        </p:nvSpPr>
        <p:spPr>
          <a:xfrm>
            <a:off x="6126480" y="1874520"/>
            <a:ext cx="2606040" cy="3931920"/>
          </a:xfrm>
          <a:prstGeom prst="roundRect">
            <a:avLst>
              <a:gd name="adj" fmla="val 4211"/>
            </a:avLst>
          </a:prstGeom>
          <a:solidFill>
            <a:srgbClr val="F4F7F9"/>
          </a:solidFill>
          <a:ln/>
        </p:spPr>
      </p:sp>
      <p:sp>
        <p:nvSpPr>
          <p:cNvPr id="19" name="Shape 15"/>
          <p:cNvSpPr/>
          <p:nvPr/>
        </p:nvSpPr>
        <p:spPr>
          <a:xfrm>
            <a:off x="6972300" y="2148840"/>
            <a:ext cx="914400" cy="914400"/>
          </a:xfrm>
          <a:prstGeom prst="ellipse">
            <a:avLst/>
          </a:prstGeom>
          <a:solidFill>
            <a:srgbClr val="065A82"/>
          </a:solidFill>
          <a:ln/>
        </p:spPr>
      </p:sp>
      <p:pic>
        <p:nvPicPr>
          <p:cNvPr id="20" name="Image 2" descr="/home/claude/work/pptx_build/icons/edit.png">    </p:cNvPr>
          <p:cNvPicPr>
            <a:picLocks noChangeAspect="1"/>
          </p:cNvPicPr>
          <p:nvPr/>
        </p:nvPicPr>
        <p:blipFill>
          <a:blip r:embed="rId3"/>
          <a:stretch>
            <a:fillRect/>
          </a:stretch>
        </p:blipFill>
        <p:spPr>
          <a:xfrm>
            <a:off x="7100316" y="2276856"/>
            <a:ext cx="658368" cy="658368"/>
          </a:xfrm>
          <a:prstGeom prst="rect">
            <a:avLst/>
          </a:prstGeom>
        </p:spPr>
      </p:pic>
      <p:sp>
        <p:nvSpPr>
          <p:cNvPr id="21" name="Text 16"/>
          <p:cNvSpPr/>
          <p:nvPr/>
        </p:nvSpPr>
        <p:spPr>
          <a:xfrm>
            <a:off x="6263640" y="3200400"/>
            <a:ext cx="2331720" cy="365760"/>
          </a:xfrm>
          <a:prstGeom prst="rect">
            <a:avLst/>
          </a:prstGeom>
          <a:noFill/>
          <a:ln/>
        </p:spPr>
        <p:txBody>
          <a:bodyPr wrap="square" rtlCol="0" anchor="ctr"/>
          <a:lstStyle/>
          <a:p>
            <a:pPr algn="ctr" indent="0" marL="0">
              <a:buNone/>
            </a:pPr>
            <a:r>
              <a:rPr lang="en-US" sz="1500" b="1" dirty="0">
                <a:solidFill>
                  <a:srgbClr val="21295C"/>
                </a:solidFill>
                <a:latin typeface="Calibri" pitchFamily="34" charset="0"/>
                <a:ea typeface="Calibri" pitchFamily="34" charset="-122"/>
                <a:cs typeface="Calibri" pitchFamily="34" charset="-120"/>
              </a:rPr>
              <a:t>U — Update</a:t>
            </a:r>
            <a:endParaRPr lang="en-US" sz="1500" dirty="0"/>
          </a:p>
        </p:txBody>
      </p:sp>
      <p:sp>
        <p:nvSpPr>
          <p:cNvPr id="22" name="Shape 17"/>
          <p:cNvSpPr/>
          <p:nvPr/>
        </p:nvSpPr>
        <p:spPr>
          <a:xfrm>
            <a:off x="6446520" y="3584448"/>
            <a:ext cx="1965960" cy="457200"/>
          </a:xfrm>
          <a:prstGeom prst="roundRect">
            <a:avLst>
              <a:gd name="adj" fmla="val 16000"/>
            </a:avLst>
          </a:prstGeom>
          <a:solidFill>
            <a:srgbClr val="21295C"/>
          </a:solidFill>
          <a:ln/>
        </p:spPr>
      </p:sp>
      <p:sp>
        <p:nvSpPr>
          <p:cNvPr id="23" name="Text 18"/>
          <p:cNvSpPr/>
          <p:nvPr/>
        </p:nvSpPr>
        <p:spPr>
          <a:xfrm>
            <a:off x="6446520" y="3584448"/>
            <a:ext cx="1965960" cy="457200"/>
          </a:xfrm>
          <a:prstGeom prst="rect">
            <a:avLst/>
          </a:prstGeom>
          <a:noFill/>
          <a:ln/>
        </p:spPr>
        <p:txBody>
          <a:bodyPr wrap="square" rtlCol="0" anchor="ctr"/>
          <a:lstStyle/>
          <a:p>
            <a:pPr algn="ctr" indent="0" marL="0">
              <a:buNone/>
            </a:pPr>
            <a:r>
              <a:rPr lang="en-US" sz="1400" b="1" dirty="0">
                <a:solidFill>
                  <a:srgbClr val="9FD8E8"/>
                </a:solidFill>
                <a:latin typeface="Courier New" pitchFamily="34" charset="0"/>
                <a:ea typeface="Courier New" pitchFamily="34" charset="-122"/>
                <a:cs typeface="Courier New" pitchFamily="34" charset="-120"/>
              </a:rPr>
              <a:t>UPDATE</a:t>
            </a:r>
            <a:endParaRPr lang="en-US" sz="1400" dirty="0"/>
          </a:p>
        </p:txBody>
      </p:sp>
      <p:sp>
        <p:nvSpPr>
          <p:cNvPr id="24" name="Text 19"/>
          <p:cNvSpPr/>
          <p:nvPr/>
        </p:nvSpPr>
        <p:spPr>
          <a:xfrm>
            <a:off x="6309360" y="4206240"/>
            <a:ext cx="2240280" cy="1371600"/>
          </a:xfrm>
          <a:prstGeom prst="rect">
            <a:avLst/>
          </a:prstGeom>
          <a:noFill/>
          <a:ln/>
        </p:spPr>
        <p:txBody>
          <a:bodyPr wrap="square" rtlCol="0" anchor="t"/>
          <a:lstStyle/>
          <a:p>
            <a:pPr algn="ctr" indent="0" marL="0">
              <a:buNone/>
            </a:pPr>
            <a:r>
              <a:rPr lang="en-US" sz="1200" dirty="0">
                <a:solidFill>
                  <a:srgbClr val="5B6B7A"/>
                </a:solidFill>
                <a:latin typeface="Calibri" pitchFamily="34" charset="0"/>
                <a:ea typeface="Calibri" pitchFamily="34" charset="-122"/>
                <a:cs typeface="Calibri" pitchFamily="34" charset="-120"/>
              </a:rPr>
              <a:t>Modifica los valores de filas existentes.</a:t>
            </a:r>
            <a:endParaRPr lang="en-US" sz="1200" dirty="0"/>
          </a:p>
        </p:txBody>
      </p:sp>
      <p:sp>
        <p:nvSpPr>
          <p:cNvPr id="25" name="Shape 20"/>
          <p:cNvSpPr/>
          <p:nvPr/>
        </p:nvSpPr>
        <p:spPr>
          <a:xfrm>
            <a:off x="8915400" y="1874520"/>
            <a:ext cx="2606040" cy="3931920"/>
          </a:xfrm>
          <a:prstGeom prst="roundRect">
            <a:avLst>
              <a:gd name="adj" fmla="val 4211"/>
            </a:avLst>
          </a:prstGeom>
          <a:solidFill>
            <a:srgbClr val="F4F7F9"/>
          </a:solidFill>
          <a:ln/>
        </p:spPr>
      </p:sp>
      <p:sp>
        <p:nvSpPr>
          <p:cNvPr id="26" name="Shape 21"/>
          <p:cNvSpPr/>
          <p:nvPr/>
        </p:nvSpPr>
        <p:spPr>
          <a:xfrm>
            <a:off x="9761220" y="2148840"/>
            <a:ext cx="914400" cy="914400"/>
          </a:xfrm>
          <a:prstGeom prst="ellipse">
            <a:avLst/>
          </a:prstGeom>
          <a:solidFill>
            <a:srgbClr val="1C7293"/>
          </a:solidFill>
          <a:ln/>
        </p:spPr>
      </p:sp>
      <p:pic>
        <p:nvPicPr>
          <p:cNvPr id="27" name="Image 3" descr="/home/claude/work/pptx_build/icons/trash.png">    </p:cNvPr>
          <p:cNvPicPr>
            <a:picLocks noChangeAspect="1"/>
          </p:cNvPicPr>
          <p:nvPr/>
        </p:nvPicPr>
        <p:blipFill>
          <a:blip r:embed="rId4"/>
          <a:stretch>
            <a:fillRect/>
          </a:stretch>
        </p:blipFill>
        <p:spPr>
          <a:xfrm>
            <a:off x="9889236" y="2276856"/>
            <a:ext cx="658368" cy="658368"/>
          </a:xfrm>
          <a:prstGeom prst="rect">
            <a:avLst/>
          </a:prstGeom>
        </p:spPr>
      </p:pic>
      <p:sp>
        <p:nvSpPr>
          <p:cNvPr id="28" name="Text 22"/>
          <p:cNvSpPr/>
          <p:nvPr/>
        </p:nvSpPr>
        <p:spPr>
          <a:xfrm>
            <a:off x="9052560" y="3200400"/>
            <a:ext cx="2331720" cy="365760"/>
          </a:xfrm>
          <a:prstGeom prst="rect">
            <a:avLst/>
          </a:prstGeom>
          <a:noFill/>
          <a:ln/>
        </p:spPr>
        <p:txBody>
          <a:bodyPr wrap="square" rtlCol="0" anchor="ctr"/>
          <a:lstStyle/>
          <a:p>
            <a:pPr algn="ctr" indent="0" marL="0">
              <a:buNone/>
            </a:pPr>
            <a:r>
              <a:rPr lang="en-US" sz="1500" b="1" dirty="0">
                <a:solidFill>
                  <a:srgbClr val="21295C"/>
                </a:solidFill>
                <a:latin typeface="Calibri" pitchFamily="34" charset="0"/>
                <a:ea typeface="Calibri" pitchFamily="34" charset="-122"/>
                <a:cs typeface="Calibri" pitchFamily="34" charset="-120"/>
              </a:rPr>
              <a:t>D — Delete</a:t>
            </a:r>
            <a:endParaRPr lang="en-US" sz="1500" dirty="0"/>
          </a:p>
        </p:txBody>
      </p:sp>
      <p:sp>
        <p:nvSpPr>
          <p:cNvPr id="29" name="Shape 23"/>
          <p:cNvSpPr/>
          <p:nvPr/>
        </p:nvSpPr>
        <p:spPr>
          <a:xfrm>
            <a:off x="9235440" y="3584448"/>
            <a:ext cx="1965960" cy="457200"/>
          </a:xfrm>
          <a:prstGeom prst="roundRect">
            <a:avLst>
              <a:gd name="adj" fmla="val 16000"/>
            </a:avLst>
          </a:prstGeom>
          <a:solidFill>
            <a:srgbClr val="21295C"/>
          </a:solidFill>
          <a:ln/>
        </p:spPr>
      </p:sp>
      <p:sp>
        <p:nvSpPr>
          <p:cNvPr id="30" name="Text 24"/>
          <p:cNvSpPr/>
          <p:nvPr/>
        </p:nvSpPr>
        <p:spPr>
          <a:xfrm>
            <a:off x="9235440" y="3584448"/>
            <a:ext cx="1965960" cy="457200"/>
          </a:xfrm>
          <a:prstGeom prst="rect">
            <a:avLst/>
          </a:prstGeom>
          <a:noFill/>
          <a:ln/>
        </p:spPr>
        <p:txBody>
          <a:bodyPr wrap="square" rtlCol="0" anchor="ctr"/>
          <a:lstStyle/>
          <a:p>
            <a:pPr algn="ctr" indent="0" marL="0">
              <a:buNone/>
            </a:pPr>
            <a:r>
              <a:rPr lang="en-US" sz="1400" b="1" dirty="0">
                <a:solidFill>
                  <a:srgbClr val="9FD8E8"/>
                </a:solidFill>
                <a:latin typeface="Courier New" pitchFamily="34" charset="0"/>
                <a:ea typeface="Courier New" pitchFamily="34" charset="-122"/>
                <a:cs typeface="Courier New" pitchFamily="34" charset="-120"/>
              </a:rPr>
              <a:t>DELETE</a:t>
            </a:r>
            <a:endParaRPr lang="en-US" sz="1400" dirty="0"/>
          </a:p>
        </p:txBody>
      </p:sp>
      <p:sp>
        <p:nvSpPr>
          <p:cNvPr id="31" name="Text 25"/>
          <p:cNvSpPr/>
          <p:nvPr/>
        </p:nvSpPr>
        <p:spPr>
          <a:xfrm>
            <a:off x="9098280" y="4206240"/>
            <a:ext cx="2240280" cy="1371600"/>
          </a:xfrm>
          <a:prstGeom prst="rect">
            <a:avLst/>
          </a:prstGeom>
          <a:noFill/>
          <a:ln/>
        </p:spPr>
        <p:txBody>
          <a:bodyPr wrap="square" rtlCol="0" anchor="t"/>
          <a:lstStyle/>
          <a:p>
            <a:pPr algn="ctr" indent="0" marL="0">
              <a:buNone/>
            </a:pPr>
            <a:r>
              <a:rPr lang="en-US" sz="1200" dirty="0">
                <a:solidFill>
                  <a:srgbClr val="5B6B7A"/>
                </a:solidFill>
                <a:latin typeface="Calibri" pitchFamily="34" charset="0"/>
                <a:ea typeface="Calibri" pitchFamily="34" charset="-122"/>
                <a:cs typeface="Calibri" pitchFamily="34" charset="-120"/>
              </a:rPr>
              <a:t>Elimina filas de una tabla.</a:t>
            </a:r>
            <a:endParaRPr lang="en-US" sz="1200" dirty="0"/>
          </a:p>
        </p:txBody>
      </p:sp>
      <p:sp>
        <p:nvSpPr>
          <p:cNvPr id="32" name="Text 26"/>
          <p:cNvSpPr/>
          <p:nvPr/>
        </p:nvSpPr>
        <p:spPr>
          <a:xfrm>
            <a:off x="457200" y="6537960"/>
            <a:ext cx="7315200" cy="274320"/>
          </a:xfrm>
          <a:prstGeom prst="rect">
            <a:avLst/>
          </a:prstGeom>
          <a:noFill/>
          <a:ln/>
        </p:spPr>
        <p:txBody>
          <a:bodyPr wrap="square" rtlCol="0" anchor="ctr"/>
          <a:lstStyle/>
          <a:p>
            <a:pPr algn="l" indent="0" marL="0">
              <a:buNone/>
            </a:pPr>
            <a:r>
              <a:rPr lang="en-US" sz="1000" dirty="0">
                <a:solidFill>
                  <a:srgbClr val="5B6B7A"/>
                </a:solidFill>
                <a:latin typeface="Calibri" pitchFamily="34" charset="0"/>
                <a:ea typeface="Calibri" pitchFamily="34" charset="-122"/>
                <a:cs typeface="Calibri" pitchFamily="34" charset="-120"/>
              </a:rPr>
              <a:t>SQL: CRUD, diseño e integridad</a:t>
            </a:r>
            <a:endParaRPr lang="en-US" sz="1000" dirty="0"/>
          </a:p>
        </p:txBody>
      </p:sp>
      <p:sp>
        <p:nvSpPr>
          <p:cNvPr id="33" name="Text 27"/>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Create y Read en SQL</a:t>
            </a:r>
            <a:endParaRPr lang="en-US" sz="2800" dirty="0"/>
          </a:p>
        </p:txBody>
      </p:sp>
      <p:sp>
        <p:nvSpPr>
          <p:cNvPr id="3" name="Shape 1"/>
          <p:cNvSpPr/>
          <p:nvPr/>
        </p:nvSpPr>
        <p:spPr>
          <a:xfrm>
            <a:off x="548640" y="1280160"/>
            <a:ext cx="5394960" cy="502920"/>
          </a:xfrm>
          <a:prstGeom prst="roundRect">
            <a:avLst>
              <a:gd name="adj" fmla="val 14545"/>
            </a:avLst>
          </a:prstGeom>
          <a:solidFill>
            <a:srgbClr val="1C7293"/>
          </a:solidFill>
          <a:ln/>
        </p:spPr>
      </p:sp>
      <p:sp>
        <p:nvSpPr>
          <p:cNvPr id="4" name="Text 2"/>
          <p:cNvSpPr/>
          <p:nvPr/>
        </p:nvSpPr>
        <p:spPr>
          <a:xfrm>
            <a:off x="548640" y="1280160"/>
            <a:ext cx="539496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INSERT — añadir un libro</a:t>
            </a:r>
            <a:endParaRPr lang="en-US" sz="1500" dirty="0"/>
          </a:p>
        </p:txBody>
      </p:sp>
      <p:sp>
        <p:nvSpPr>
          <p:cNvPr id="5" name="Shape 3"/>
          <p:cNvSpPr/>
          <p:nvPr/>
        </p:nvSpPr>
        <p:spPr>
          <a:xfrm>
            <a:off x="548640" y="1874520"/>
            <a:ext cx="5394960" cy="3566160"/>
          </a:xfrm>
          <a:prstGeom prst="roundRect">
            <a:avLst>
              <a:gd name="adj" fmla="val 2051"/>
            </a:avLst>
          </a:prstGeom>
          <a:solidFill>
            <a:srgbClr val="10152E"/>
          </a:solidFill>
          <a:ln w="12700">
            <a:solidFill>
              <a:srgbClr val="324066"/>
            </a:solidFill>
            <a:prstDash val="solid"/>
          </a:ln>
        </p:spPr>
      </p:sp>
      <p:sp>
        <p:nvSpPr>
          <p:cNvPr id="6" name="Text 4"/>
          <p:cNvSpPr/>
          <p:nvPr/>
        </p:nvSpPr>
        <p:spPr>
          <a:xfrm>
            <a:off x="777240" y="2057400"/>
            <a:ext cx="4937760" cy="3200400"/>
          </a:xfrm>
          <a:prstGeom prst="rect">
            <a:avLst/>
          </a:prstGeom>
          <a:noFill/>
          <a:ln/>
        </p:spPr>
        <p:txBody>
          <a:bodyPr wrap="square" rtlCol="0" anchor="t"/>
          <a:lstStyle/>
          <a:p>
            <a:pPr indent="0" marL="0">
              <a:lnSpc>
                <a:spcPct val="120000"/>
              </a:lnSpc>
              <a:buNone/>
            </a:pPr>
            <a:r>
              <a:rPr lang="en-US" sz="1400" dirty="0">
                <a:solidFill>
                  <a:srgbClr val="CFEFE0"/>
                </a:solidFill>
                <a:latin typeface="Courier New" pitchFamily="34" charset="0"/>
                <a:ea typeface="Courier New" pitchFamily="34" charset="-122"/>
                <a:cs typeface="Courier New" pitchFamily="34" charset="-120"/>
              </a:rPr>
              <a:t>INSERT INTO libros</a:t>
            </a:r>
            <a:endParaRPr lang="en-US" sz="1400" dirty="0"/>
          </a:p>
          <a:p>
            <a:pPr indent="0" marL="0">
              <a:lnSpc>
                <a:spcPct val="120000"/>
              </a:lnSpc>
              <a:buNone/>
            </a:pPr>
            <a:r>
              <a:rPr lang="en-US" sz="1400" dirty="0">
                <a:solidFill>
                  <a:srgbClr val="CFEFE0"/>
                </a:solidFill>
                <a:latin typeface="Courier New" pitchFamily="34" charset="0"/>
                <a:ea typeface="Courier New" pitchFamily="34" charset="-122"/>
                <a:cs typeface="Courier New" pitchFamily="34" charset="-120"/>
              </a:rPr>
              <a:t>  (título, autor, año)</a:t>
            </a:r>
            <a:endParaRPr lang="en-US" sz="1400" dirty="0"/>
          </a:p>
          <a:p>
            <a:pPr indent="0" marL="0">
              <a:lnSpc>
                <a:spcPct val="120000"/>
              </a:lnSpc>
              <a:buNone/>
            </a:pPr>
            <a:r>
              <a:rPr lang="en-US" sz="1400" dirty="0">
                <a:solidFill>
                  <a:srgbClr val="CFEFE0"/>
                </a:solidFill>
                <a:latin typeface="Courier New" pitchFamily="34" charset="0"/>
                <a:ea typeface="Courier New" pitchFamily="34" charset="-122"/>
                <a:cs typeface="Courier New" pitchFamily="34" charset="-120"/>
              </a:rPr>
              <a:t>VALUES</a:t>
            </a:r>
            <a:endParaRPr lang="en-US" sz="1400" dirty="0"/>
          </a:p>
          <a:p>
            <a:pPr indent="0" marL="0">
              <a:lnSpc>
                <a:spcPct val="120000"/>
              </a:lnSpc>
              <a:buNone/>
            </a:pPr>
            <a:r>
              <a:rPr lang="en-US" sz="1400" dirty="0">
                <a:solidFill>
                  <a:srgbClr val="CFEFE0"/>
                </a:solidFill>
                <a:latin typeface="Courier New" pitchFamily="34" charset="0"/>
                <a:ea typeface="Courier New" pitchFamily="34" charset="-122"/>
                <a:cs typeface="Courier New" pitchFamily="34" charset="-120"/>
              </a:rPr>
              <a:t>  ('Cien años de soledad',</a:t>
            </a:r>
            <a:endParaRPr lang="en-US" sz="1400" dirty="0"/>
          </a:p>
          <a:p>
            <a:pPr indent="0" marL="0">
              <a:lnSpc>
                <a:spcPct val="120000"/>
              </a:lnSpc>
              <a:buNone/>
            </a:pPr>
            <a:r>
              <a:rPr lang="en-US" sz="1400" dirty="0">
                <a:solidFill>
                  <a:srgbClr val="CFEFE0"/>
                </a:solidFill>
                <a:latin typeface="Courier New" pitchFamily="34" charset="0"/>
                <a:ea typeface="Courier New" pitchFamily="34" charset="-122"/>
                <a:cs typeface="Courier New" pitchFamily="34" charset="-120"/>
              </a:rPr>
              <a:t>   'García Márquez', 1967);</a:t>
            </a:r>
            <a:endParaRPr lang="en-US" sz="1400" dirty="0"/>
          </a:p>
        </p:txBody>
      </p:sp>
      <p:sp>
        <p:nvSpPr>
          <p:cNvPr id="7" name="Shape 5"/>
          <p:cNvSpPr/>
          <p:nvPr/>
        </p:nvSpPr>
        <p:spPr>
          <a:xfrm>
            <a:off x="6400800" y="1280160"/>
            <a:ext cx="5394960" cy="502920"/>
          </a:xfrm>
          <a:prstGeom prst="roundRect">
            <a:avLst>
              <a:gd name="adj" fmla="val 14545"/>
            </a:avLst>
          </a:prstGeom>
          <a:solidFill>
            <a:srgbClr val="1C7293"/>
          </a:solidFill>
          <a:ln/>
        </p:spPr>
      </p:sp>
      <p:sp>
        <p:nvSpPr>
          <p:cNvPr id="8" name="Text 6"/>
          <p:cNvSpPr/>
          <p:nvPr/>
        </p:nvSpPr>
        <p:spPr>
          <a:xfrm>
            <a:off x="6400800" y="1280160"/>
            <a:ext cx="539496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SELECT — consultar libros</a:t>
            </a:r>
            <a:endParaRPr lang="en-US" sz="1500" dirty="0"/>
          </a:p>
        </p:txBody>
      </p:sp>
      <p:sp>
        <p:nvSpPr>
          <p:cNvPr id="9" name="Shape 7"/>
          <p:cNvSpPr/>
          <p:nvPr/>
        </p:nvSpPr>
        <p:spPr>
          <a:xfrm>
            <a:off x="6400800" y="1874520"/>
            <a:ext cx="5394960" cy="3566160"/>
          </a:xfrm>
          <a:prstGeom prst="roundRect">
            <a:avLst>
              <a:gd name="adj" fmla="val 2051"/>
            </a:avLst>
          </a:prstGeom>
          <a:solidFill>
            <a:srgbClr val="10152E"/>
          </a:solidFill>
          <a:ln w="12700">
            <a:solidFill>
              <a:srgbClr val="324066"/>
            </a:solidFill>
            <a:prstDash val="solid"/>
          </a:ln>
        </p:spPr>
      </p:sp>
      <p:sp>
        <p:nvSpPr>
          <p:cNvPr id="10" name="Text 8"/>
          <p:cNvSpPr/>
          <p:nvPr/>
        </p:nvSpPr>
        <p:spPr>
          <a:xfrm>
            <a:off x="6629400" y="2057400"/>
            <a:ext cx="4937760" cy="3200400"/>
          </a:xfrm>
          <a:prstGeom prst="rect">
            <a:avLst/>
          </a:prstGeom>
          <a:noFill/>
          <a:ln/>
        </p:spPr>
        <p:txBody>
          <a:bodyPr wrap="square" rtlCol="0" anchor="t"/>
          <a:lstStyle/>
          <a:p>
            <a:pPr indent="0" marL="0">
              <a:lnSpc>
                <a:spcPct val="120000"/>
              </a:lnSpc>
              <a:buNone/>
            </a:pPr>
            <a:r>
              <a:rPr lang="en-US" sz="1400" dirty="0">
                <a:solidFill>
                  <a:srgbClr val="CFEFE0"/>
                </a:solidFill>
                <a:latin typeface="Courier New" pitchFamily="34" charset="0"/>
                <a:ea typeface="Courier New" pitchFamily="34" charset="-122"/>
                <a:cs typeface="Courier New" pitchFamily="34" charset="-120"/>
              </a:rPr>
              <a:t>SELECT título, autor, año</a:t>
            </a:r>
            <a:endParaRPr lang="en-US" sz="1400" dirty="0"/>
          </a:p>
          <a:p>
            <a:pPr indent="0" marL="0">
              <a:lnSpc>
                <a:spcPct val="120000"/>
              </a:lnSpc>
              <a:buNone/>
            </a:pPr>
            <a:r>
              <a:rPr lang="en-US" sz="1400" dirty="0">
                <a:solidFill>
                  <a:srgbClr val="CFEFE0"/>
                </a:solidFill>
                <a:latin typeface="Courier New" pitchFamily="34" charset="0"/>
                <a:ea typeface="Courier New" pitchFamily="34" charset="-122"/>
                <a:cs typeface="Courier New" pitchFamily="34" charset="-120"/>
              </a:rPr>
              <a:t>FROM libros</a:t>
            </a:r>
            <a:endParaRPr lang="en-US" sz="1400" dirty="0"/>
          </a:p>
          <a:p>
            <a:pPr indent="0" marL="0">
              <a:lnSpc>
                <a:spcPct val="120000"/>
              </a:lnSpc>
              <a:buNone/>
            </a:pPr>
            <a:r>
              <a:rPr lang="en-US" sz="1400" dirty="0">
                <a:solidFill>
                  <a:srgbClr val="CFEFE0"/>
                </a:solidFill>
                <a:latin typeface="Courier New" pitchFamily="34" charset="0"/>
                <a:ea typeface="Courier New" pitchFamily="34" charset="-122"/>
                <a:cs typeface="Courier New" pitchFamily="34" charset="-120"/>
              </a:rPr>
              <a:t>WHERE año &gt; 1960</a:t>
            </a:r>
            <a:endParaRPr lang="en-US" sz="1400" dirty="0"/>
          </a:p>
          <a:p>
            <a:pPr indent="0" marL="0">
              <a:lnSpc>
                <a:spcPct val="120000"/>
              </a:lnSpc>
              <a:buNone/>
            </a:pPr>
            <a:r>
              <a:rPr lang="en-US" sz="1400" dirty="0">
                <a:solidFill>
                  <a:srgbClr val="CFEFE0"/>
                </a:solidFill>
                <a:latin typeface="Courier New" pitchFamily="34" charset="0"/>
                <a:ea typeface="Courier New" pitchFamily="34" charset="-122"/>
                <a:cs typeface="Courier New" pitchFamily="34" charset="-120"/>
              </a:rPr>
              <a:t>ORDER BY año;</a:t>
            </a:r>
            <a:endParaRPr lang="en-US" sz="1400" dirty="0"/>
          </a:p>
        </p:txBody>
      </p:sp>
      <p:sp>
        <p:nvSpPr>
          <p:cNvPr id="11" name="Text 9"/>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C9D6E3"/>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Update y Delete en SQL</a:t>
            </a:r>
            <a:endParaRPr lang="en-US" sz="2800" dirty="0"/>
          </a:p>
        </p:txBody>
      </p:sp>
      <p:sp>
        <p:nvSpPr>
          <p:cNvPr id="3" name="Shape 1"/>
          <p:cNvSpPr/>
          <p:nvPr/>
        </p:nvSpPr>
        <p:spPr>
          <a:xfrm>
            <a:off x="548640" y="1280160"/>
            <a:ext cx="5394960" cy="502920"/>
          </a:xfrm>
          <a:prstGeom prst="roundRect">
            <a:avLst>
              <a:gd name="adj" fmla="val 14545"/>
            </a:avLst>
          </a:prstGeom>
          <a:solidFill>
            <a:srgbClr val="1C7293"/>
          </a:solidFill>
          <a:ln/>
        </p:spPr>
      </p:sp>
      <p:sp>
        <p:nvSpPr>
          <p:cNvPr id="4" name="Text 2"/>
          <p:cNvSpPr/>
          <p:nvPr/>
        </p:nvSpPr>
        <p:spPr>
          <a:xfrm>
            <a:off x="548640" y="1280160"/>
            <a:ext cx="539496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UPDATE — cambiar un dato</a:t>
            </a:r>
            <a:endParaRPr lang="en-US" sz="1500" dirty="0"/>
          </a:p>
        </p:txBody>
      </p:sp>
      <p:sp>
        <p:nvSpPr>
          <p:cNvPr id="5" name="Shape 3"/>
          <p:cNvSpPr/>
          <p:nvPr/>
        </p:nvSpPr>
        <p:spPr>
          <a:xfrm>
            <a:off x="548640" y="1874520"/>
            <a:ext cx="5394960" cy="3566160"/>
          </a:xfrm>
          <a:prstGeom prst="roundRect">
            <a:avLst>
              <a:gd name="adj" fmla="val 2051"/>
            </a:avLst>
          </a:prstGeom>
          <a:solidFill>
            <a:srgbClr val="10152E"/>
          </a:solidFill>
          <a:ln w="12700">
            <a:solidFill>
              <a:srgbClr val="324066"/>
            </a:solidFill>
            <a:prstDash val="solid"/>
          </a:ln>
        </p:spPr>
      </p:sp>
      <p:sp>
        <p:nvSpPr>
          <p:cNvPr id="6" name="Text 4"/>
          <p:cNvSpPr/>
          <p:nvPr/>
        </p:nvSpPr>
        <p:spPr>
          <a:xfrm>
            <a:off x="777240" y="2057400"/>
            <a:ext cx="4937760" cy="3200400"/>
          </a:xfrm>
          <a:prstGeom prst="rect">
            <a:avLst/>
          </a:prstGeom>
          <a:noFill/>
          <a:ln/>
        </p:spPr>
        <p:txBody>
          <a:bodyPr wrap="square" rtlCol="0" anchor="t"/>
          <a:lstStyle/>
          <a:p>
            <a:pPr indent="0" marL="0">
              <a:lnSpc>
                <a:spcPct val="120000"/>
              </a:lnSpc>
              <a:buNone/>
            </a:pPr>
            <a:r>
              <a:rPr lang="en-US" sz="1400" dirty="0">
                <a:solidFill>
                  <a:srgbClr val="CFEFE0"/>
                </a:solidFill>
                <a:latin typeface="Courier New" pitchFamily="34" charset="0"/>
                <a:ea typeface="Courier New" pitchFamily="34" charset="-122"/>
                <a:cs typeface="Courier New" pitchFamily="34" charset="-120"/>
              </a:rPr>
              <a:t>UPDATE libros</a:t>
            </a:r>
            <a:endParaRPr lang="en-US" sz="1400" dirty="0"/>
          </a:p>
          <a:p>
            <a:pPr indent="0" marL="0">
              <a:lnSpc>
                <a:spcPct val="120000"/>
              </a:lnSpc>
              <a:buNone/>
            </a:pPr>
            <a:r>
              <a:rPr lang="en-US" sz="1400" dirty="0">
                <a:solidFill>
                  <a:srgbClr val="CFEFE0"/>
                </a:solidFill>
                <a:latin typeface="Courier New" pitchFamily="34" charset="0"/>
                <a:ea typeface="Courier New" pitchFamily="34" charset="-122"/>
                <a:cs typeface="Courier New" pitchFamily="34" charset="-120"/>
              </a:rPr>
              <a:t>SET título = 'Cien años de</a:t>
            </a:r>
            <a:endParaRPr lang="en-US" sz="1400" dirty="0"/>
          </a:p>
          <a:p>
            <a:pPr indent="0" marL="0">
              <a:lnSpc>
                <a:spcPct val="120000"/>
              </a:lnSpc>
              <a:buNone/>
            </a:pPr>
            <a:r>
              <a:rPr lang="en-US" sz="1400" dirty="0">
                <a:solidFill>
                  <a:srgbClr val="CFEFE0"/>
                </a:solidFill>
                <a:latin typeface="Courier New" pitchFamily="34" charset="0"/>
                <a:ea typeface="Courier New" pitchFamily="34" charset="-122"/>
                <a:cs typeface="Courier New" pitchFamily="34" charset="-120"/>
              </a:rPr>
              <a:t>  soledad (Ed. revisada)'</a:t>
            </a:r>
            <a:endParaRPr lang="en-US" sz="1400" dirty="0"/>
          </a:p>
          <a:p>
            <a:pPr indent="0" marL="0">
              <a:lnSpc>
                <a:spcPct val="120000"/>
              </a:lnSpc>
              <a:buNone/>
            </a:pPr>
            <a:r>
              <a:rPr lang="en-US" sz="1400" dirty="0">
                <a:solidFill>
                  <a:srgbClr val="CFEFE0"/>
                </a:solidFill>
                <a:latin typeface="Courier New" pitchFamily="34" charset="0"/>
                <a:ea typeface="Courier New" pitchFamily="34" charset="-122"/>
                <a:cs typeface="Courier New" pitchFamily="34" charset="-120"/>
              </a:rPr>
              <a:t>WHERE id = 1;</a:t>
            </a:r>
            <a:endParaRPr lang="en-US" sz="1400" dirty="0"/>
          </a:p>
        </p:txBody>
      </p:sp>
      <p:sp>
        <p:nvSpPr>
          <p:cNvPr id="7" name="Shape 5"/>
          <p:cNvSpPr/>
          <p:nvPr/>
        </p:nvSpPr>
        <p:spPr>
          <a:xfrm>
            <a:off x="6400800" y="1280160"/>
            <a:ext cx="5394960" cy="502920"/>
          </a:xfrm>
          <a:prstGeom prst="roundRect">
            <a:avLst>
              <a:gd name="adj" fmla="val 14545"/>
            </a:avLst>
          </a:prstGeom>
          <a:solidFill>
            <a:srgbClr val="1C7293"/>
          </a:solidFill>
          <a:ln/>
        </p:spPr>
      </p:sp>
      <p:sp>
        <p:nvSpPr>
          <p:cNvPr id="8" name="Text 6"/>
          <p:cNvSpPr/>
          <p:nvPr/>
        </p:nvSpPr>
        <p:spPr>
          <a:xfrm>
            <a:off x="6400800" y="1280160"/>
            <a:ext cx="539496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DELETE — borrar una fila</a:t>
            </a:r>
            <a:endParaRPr lang="en-US" sz="1500" dirty="0"/>
          </a:p>
        </p:txBody>
      </p:sp>
      <p:sp>
        <p:nvSpPr>
          <p:cNvPr id="9" name="Shape 7"/>
          <p:cNvSpPr/>
          <p:nvPr/>
        </p:nvSpPr>
        <p:spPr>
          <a:xfrm>
            <a:off x="6400800" y="1874520"/>
            <a:ext cx="5394960" cy="3566160"/>
          </a:xfrm>
          <a:prstGeom prst="roundRect">
            <a:avLst>
              <a:gd name="adj" fmla="val 2051"/>
            </a:avLst>
          </a:prstGeom>
          <a:solidFill>
            <a:srgbClr val="10152E"/>
          </a:solidFill>
          <a:ln w="12700">
            <a:solidFill>
              <a:srgbClr val="324066"/>
            </a:solidFill>
            <a:prstDash val="solid"/>
          </a:ln>
        </p:spPr>
      </p:sp>
      <p:sp>
        <p:nvSpPr>
          <p:cNvPr id="10" name="Text 8"/>
          <p:cNvSpPr/>
          <p:nvPr/>
        </p:nvSpPr>
        <p:spPr>
          <a:xfrm>
            <a:off x="6629400" y="2057400"/>
            <a:ext cx="4937760" cy="3200400"/>
          </a:xfrm>
          <a:prstGeom prst="rect">
            <a:avLst/>
          </a:prstGeom>
          <a:noFill/>
          <a:ln/>
        </p:spPr>
        <p:txBody>
          <a:bodyPr wrap="square" rtlCol="0" anchor="t"/>
          <a:lstStyle/>
          <a:p>
            <a:pPr indent="0" marL="0">
              <a:lnSpc>
                <a:spcPct val="120000"/>
              </a:lnSpc>
              <a:buNone/>
            </a:pPr>
            <a:r>
              <a:rPr lang="en-US" sz="1400" dirty="0">
                <a:solidFill>
                  <a:srgbClr val="CFEFE0"/>
                </a:solidFill>
                <a:latin typeface="Courier New" pitchFamily="34" charset="0"/>
                <a:ea typeface="Courier New" pitchFamily="34" charset="-122"/>
                <a:cs typeface="Courier New" pitchFamily="34" charset="-120"/>
              </a:rPr>
              <a:t>DELETE FROM libros</a:t>
            </a:r>
            <a:endParaRPr lang="en-US" sz="1400" dirty="0"/>
          </a:p>
          <a:p>
            <a:pPr indent="0" marL="0">
              <a:lnSpc>
                <a:spcPct val="120000"/>
              </a:lnSpc>
              <a:buNone/>
            </a:pPr>
            <a:r>
              <a:rPr lang="en-US" sz="1400" dirty="0">
                <a:solidFill>
                  <a:srgbClr val="CFEFE0"/>
                </a:solidFill>
                <a:latin typeface="Courier New" pitchFamily="34" charset="0"/>
                <a:ea typeface="Courier New" pitchFamily="34" charset="-122"/>
                <a:cs typeface="Courier New" pitchFamily="34" charset="-120"/>
              </a:rPr>
              <a:t>WHERE id = 1;</a:t>
            </a:r>
            <a:endParaRPr lang="en-US" sz="1400" dirty="0"/>
          </a:p>
        </p:txBody>
      </p:sp>
      <p:sp>
        <p:nvSpPr>
          <p:cNvPr id="11" name="Shape 9"/>
          <p:cNvSpPr/>
          <p:nvPr/>
        </p:nvSpPr>
        <p:spPr>
          <a:xfrm>
            <a:off x="548640" y="5623560"/>
            <a:ext cx="11064240" cy="685800"/>
          </a:xfrm>
          <a:prstGeom prst="roundRect">
            <a:avLst>
              <a:gd name="adj" fmla="val 10667"/>
            </a:avLst>
          </a:prstGeom>
          <a:solidFill>
            <a:srgbClr val="3A2230"/>
          </a:solidFill>
          <a:ln/>
        </p:spPr>
      </p:sp>
      <p:sp>
        <p:nvSpPr>
          <p:cNvPr id="12" name="Text 10"/>
          <p:cNvSpPr/>
          <p:nvPr/>
        </p:nvSpPr>
        <p:spPr>
          <a:xfrm>
            <a:off x="777240" y="5623560"/>
            <a:ext cx="10607040" cy="685800"/>
          </a:xfrm>
          <a:prstGeom prst="rect">
            <a:avLst/>
          </a:prstGeom>
          <a:noFill/>
          <a:ln/>
        </p:spPr>
        <p:txBody>
          <a:bodyPr wrap="square" rtlCol="0" anchor="ctr"/>
          <a:lstStyle/>
          <a:p>
            <a:pPr indent="0" marL="0">
              <a:buNone/>
            </a:pPr>
            <a:r>
              <a:rPr lang="en-US" sz="1300" i="1" dirty="0">
                <a:solidFill>
                  <a:srgbClr val="F2C9C9"/>
                </a:solidFill>
                <a:latin typeface="Calibri" pitchFamily="34" charset="0"/>
                <a:ea typeface="Calibri" pitchFamily="34" charset="-122"/>
                <a:cs typeface="Calibri" pitchFamily="34" charset="-120"/>
              </a:rPr>
              <a:t>⚠ UPDATE y DELETE sin WHERE afectan a toda la tabla. Siempre se prueba antes el WHERE con un SELECT.</a:t>
            </a:r>
            <a:endParaRPr lang="en-US" sz="1300" dirty="0"/>
          </a:p>
        </p:txBody>
      </p:sp>
      <p:sp>
        <p:nvSpPr>
          <p:cNvPr id="13" name="Text 11"/>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C9D6E3"/>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731520"/>
          </a:xfrm>
          <a:prstGeom prst="rect">
            <a:avLst/>
          </a:prstGeom>
          <a:noFill/>
          <a:ln/>
        </p:spPr>
        <p:txBody>
          <a:bodyPr wrap="square"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Modelado de datos: la normalización</a:t>
            </a:r>
            <a:endParaRPr lang="en-US" sz="2800" dirty="0"/>
          </a:p>
        </p:txBody>
      </p:sp>
      <p:sp>
        <p:nvSpPr>
          <p:cNvPr id="3" name="Text 1"/>
          <p:cNvSpPr/>
          <p:nvPr/>
        </p:nvSpPr>
        <p:spPr>
          <a:xfrm>
            <a:off x="548640" y="1097280"/>
            <a:ext cx="10972800" cy="457200"/>
          </a:xfrm>
          <a:prstGeom prst="rect">
            <a:avLst/>
          </a:prstGeom>
          <a:noFill/>
          <a:ln/>
        </p:spPr>
        <p:txBody>
          <a:bodyPr wrap="square" rtlCol="0" anchor="ctr"/>
          <a:lstStyle/>
          <a:p>
            <a:pPr indent="0" marL="0">
              <a:buNone/>
            </a:pPr>
            <a:r>
              <a:rPr lang="en-US" sz="1500" i="1" dirty="0">
                <a:solidFill>
                  <a:srgbClr val="5B6B7A"/>
                </a:solidFill>
                <a:latin typeface="Calibri" pitchFamily="34" charset="0"/>
                <a:ea typeface="Calibri" pitchFamily="34" charset="-122"/>
                <a:cs typeface="Calibri" pitchFamily="34" charset="-120"/>
              </a:rPr>
              <a:t>Diseñar bien una tabla es decidir qué información va en cada cajón, para no repetir datos ni perder coherencia.</a:t>
            </a:r>
            <a:endParaRPr lang="en-US" sz="1500" dirty="0"/>
          </a:p>
        </p:txBody>
      </p:sp>
      <p:sp>
        <p:nvSpPr>
          <p:cNvPr id="4" name="Shape 2"/>
          <p:cNvSpPr/>
          <p:nvPr/>
        </p:nvSpPr>
        <p:spPr>
          <a:xfrm>
            <a:off x="640080" y="1828800"/>
            <a:ext cx="1463040" cy="1005840"/>
          </a:xfrm>
          <a:prstGeom prst="roundRect">
            <a:avLst>
              <a:gd name="adj" fmla="val 9091"/>
            </a:avLst>
          </a:prstGeom>
          <a:solidFill>
            <a:srgbClr val="065A82"/>
          </a:solidFill>
          <a:ln/>
        </p:spPr>
      </p:sp>
      <p:sp>
        <p:nvSpPr>
          <p:cNvPr id="5" name="Text 3"/>
          <p:cNvSpPr/>
          <p:nvPr/>
        </p:nvSpPr>
        <p:spPr>
          <a:xfrm>
            <a:off x="640080" y="1828800"/>
            <a:ext cx="1463040" cy="10058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1FN</a:t>
            </a:r>
            <a:endParaRPr lang="en-US" sz="2000" dirty="0"/>
          </a:p>
        </p:txBody>
      </p:sp>
      <p:sp>
        <p:nvSpPr>
          <p:cNvPr id="6" name="Text 4"/>
          <p:cNvSpPr/>
          <p:nvPr/>
        </p:nvSpPr>
        <p:spPr>
          <a:xfrm>
            <a:off x="2286000" y="1828800"/>
            <a:ext cx="9235440" cy="1005840"/>
          </a:xfrm>
          <a:prstGeom prst="rect">
            <a:avLst/>
          </a:prstGeom>
          <a:noFill/>
          <a:ln/>
        </p:spPr>
        <p:txBody>
          <a:bodyPr wrap="square" rtlCol="0" anchor="ctr"/>
          <a:lstStyle/>
          <a:p>
            <a:pPr indent="0" marL="0">
              <a:buNone/>
            </a:pPr>
            <a:r>
              <a:rPr lang="en-US" sz="1500" dirty="0">
                <a:solidFill>
                  <a:srgbClr val="2E3B47"/>
                </a:solidFill>
                <a:latin typeface="Calibri" pitchFamily="34" charset="0"/>
                <a:ea typeface="Calibri" pitchFamily="34" charset="-122"/>
                <a:cs typeface="Calibri" pitchFamily="34" charset="-120"/>
              </a:rPr>
              <a:t>Cada celda guarda un solo valor (nada de "Juan, Ana" en una misma casilla).</a:t>
            </a:r>
            <a:endParaRPr lang="en-US" sz="1500" dirty="0"/>
          </a:p>
        </p:txBody>
      </p:sp>
      <p:sp>
        <p:nvSpPr>
          <p:cNvPr id="7" name="Shape 5"/>
          <p:cNvSpPr/>
          <p:nvPr/>
        </p:nvSpPr>
        <p:spPr>
          <a:xfrm>
            <a:off x="640080" y="3063240"/>
            <a:ext cx="1463040" cy="1005840"/>
          </a:xfrm>
          <a:prstGeom prst="roundRect">
            <a:avLst>
              <a:gd name="adj" fmla="val 9091"/>
            </a:avLst>
          </a:prstGeom>
          <a:solidFill>
            <a:srgbClr val="065A82"/>
          </a:solidFill>
          <a:ln/>
        </p:spPr>
      </p:sp>
      <p:sp>
        <p:nvSpPr>
          <p:cNvPr id="8" name="Text 6"/>
          <p:cNvSpPr/>
          <p:nvPr/>
        </p:nvSpPr>
        <p:spPr>
          <a:xfrm>
            <a:off x="640080" y="3063240"/>
            <a:ext cx="1463040" cy="10058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2FN</a:t>
            </a:r>
            <a:endParaRPr lang="en-US" sz="2000" dirty="0"/>
          </a:p>
        </p:txBody>
      </p:sp>
      <p:sp>
        <p:nvSpPr>
          <p:cNvPr id="9" name="Text 7"/>
          <p:cNvSpPr/>
          <p:nvPr/>
        </p:nvSpPr>
        <p:spPr>
          <a:xfrm>
            <a:off x="2286000" y="3063240"/>
            <a:ext cx="9235440" cy="1005840"/>
          </a:xfrm>
          <a:prstGeom prst="rect">
            <a:avLst/>
          </a:prstGeom>
          <a:noFill/>
          <a:ln/>
        </p:spPr>
        <p:txBody>
          <a:bodyPr wrap="square" rtlCol="0" anchor="ctr"/>
          <a:lstStyle/>
          <a:p>
            <a:pPr indent="0" marL="0">
              <a:buNone/>
            </a:pPr>
            <a:r>
              <a:rPr lang="en-US" sz="1500" dirty="0">
                <a:solidFill>
                  <a:srgbClr val="2E3B47"/>
                </a:solidFill>
                <a:latin typeface="Calibri" pitchFamily="34" charset="0"/>
                <a:ea typeface="Calibri" pitchFamily="34" charset="-122"/>
                <a:cs typeface="Calibri" pitchFamily="34" charset="-120"/>
              </a:rPr>
              <a:t>Cada columna depende de toda la clave primaria, no solo de una parte.</a:t>
            </a:r>
            <a:endParaRPr lang="en-US" sz="1500" dirty="0"/>
          </a:p>
        </p:txBody>
      </p:sp>
      <p:sp>
        <p:nvSpPr>
          <p:cNvPr id="10" name="Shape 8"/>
          <p:cNvSpPr/>
          <p:nvPr/>
        </p:nvSpPr>
        <p:spPr>
          <a:xfrm>
            <a:off x="640080" y="4297680"/>
            <a:ext cx="1463040" cy="1005840"/>
          </a:xfrm>
          <a:prstGeom prst="roundRect">
            <a:avLst>
              <a:gd name="adj" fmla="val 9091"/>
            </a:avLst>
          </a:prstGeom>
          <a:solidFill>
            <a:srgbClr val="065A82"/>
          </a:solidFill>
          <a:ln/>
        </p:spPr>
      </p:sp>
      <p:sp>
        <p:nvSpPr>
          <p:cNvPr id="11" name="Text 9"/>
          <p:cNvSpPr/>
          <p:nvPr/>
        </p:nvSpPr>
        <p:spPr>
          <a:xfrm>
            <a:off x="640080" y="4297680"/>
            <a:ext cx="1463040" cy="10058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3FN</a:t>
            </a:r>
            <a:endParaRPr lang="en-US" sz="2000" dirty="0"/>
          </a:p>
        </p:txBody>
      </p:sp>
      <p:sp>
        <p:nvSpPr>
          <p:cNvPr id="12" name="Text 10"/>
          <p:cNvSpPr/>
          <p:nvPr/>
        </p:nvSpPr>
        <p:spPr>
          <a:xfrm>
            <a:off x="2286000" y="4297680"/>
            <a:ext cx="9235440" cy="1005840"/>
          </a:xfrm>
          <a:prstGeom prst="rect">
            <a:avLst/>
          </a:prstGeom>
          <a:noFill/>
          <a:ln/>
        </p:spPr>
        <p:txBody>
          <a:bodyPr wrap="square" rtlCol="0" anchor="ctr"/>
          <a:lstStyle/>
          <a:p>
            <a:pPr indent="0" marL="0">
              <a:buNone/>
            </a:pPr>
            <a:r>
              <a:rPr lang="en-US" sz="1500" dirty="0">
                <a:solidFill>
                  <a:srgbClr val="2E3B47"/>
                </a:solidFill>
                <a:latin typeface="Calibri" pitchFamily="34" charset="0"/>
                <a:ea typeface="Calibri" pitchFamily="34" charset="-122"/>
                <a:cs typeface="Calibri" pitchFamily="34" charset="-120"/>
              </a:rPr>
              <a:t>Ninguna columna depende de otra columna que no sea la clave (sin dependencias transitivas).</a:t>
            </a:r>
            <a:endParaRPr lang="en-US" sz="1500" dirty="0"/>
          </a:p>
        </p:txBody>
      </p:sp>
      <p:sp>
        <p:nvSpPr>
          <p:cNvPr id="13" name="Text 11"/>
          <p:cNvSpPr/>
          <p:nvPr/>
        </p:nvSpPr>
        <p:spPr>
          <a:xfrm>
            <a:off x="640080" y="5623560"/>
            <a:ext cx="10881360" cy="548640"/>
          </a:xfrm>
          <a:prstGeom prst="rect">
            <a:avLst/>
          </a:prstGeom>
          <a:noFill/>
          <a:ln/>
        </p:spPr>
        <p:txBody>
          <a:bodyPr wrap="square" rtlCol="0" anchor="ctr"/>
          <a:lstStyle/>
          <a:p>
            <a:pPr indent="0" marL="0">
              <a:buNone/>
            </a:pPr>
            <a:r>
              <a:rPr lang="en-US" sz="1300" i="1" dirty="0">
                <a:solidFill>
                  <a:srgbClr val="1C7293"/>
                </a:solidFill>
                <a:latin typeface="Calibri" pitchFamily="34" charset="0"/>
                <a:ea typeface="Calibri" pitchFamily="34" charset="-122"/>
                <a:cs typeface="Calibri" pitchFamily="34" charset="-120"/>
              </a:rPr>
              <a:t>¿Por qué molestarse? Evita que, al actualizar un dato, tengas que cambiarlo en diez sitios distintos y te olvides de alguno.</a:t>
            </a:r>
            <a:endParaRPr lang="en-US" sz="1300" dirty="0"/>
          </a:p>
        </p:txBody>
      </p:sp>
      <p:sp>
        <p:nvSpPr>
          <p:cNvPr id="14" name="Text 12"/>
          <p:cNvSpPr/>
          <p:nvPr/>
        </p:nvSpPr>
        <p:spPr>
          <a:xfrm>
            <a:off x="457200" y="6537960"/>
            <a:ext cx="7315200" cy="274320"/>
          </a:xfrm>
          <a:prstGeom prst="rect">
            <a:avLst/>
          </a:prstGeom>
          <a:noFill/>
          <a:ln/>
        </p:spPr>
        <p:txBody>
          <a:bodyPr wrap="square" rtlCol="0" anchor="ctr"/>
          <a:lstStyle/>
          <a:p>
            <a:pPr algn="l" indent="0" marL="0">
              <a:buNone/>
            </a:pPr>
            <a:r>
              <a:rPr lang="en-US" sz="1000" dirty="0">
                <a:solidFill>
                  <a:srgbClr val="5B6B7A"/>
                </a:solidFill>
                <a:latin typeface="Calibri" pitchFamily="34" charset="0"/>
                <a:ea typeface="Calibri" pitchFamily="34" charset="-122"/>
                <a:cs typeface="Calibri" pitchFamily="34" charset="-120"/>
              </a:rPr>
              <a:t>SQL: CRUD, diseño e integridad</a:t>
            </a:r>
            <a:endParaRPr lang="en-US" sz="1000" dirty="0"/>
          </a:p>
        </p:txBody>
      </p:sp>
      <p:sp>
        <p:nvSpPr>
          <p:cNvPr id="15" name="Text 13"/>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2FN en un ejemplo: pedidos y productos</a:t>
            </a:r>
            <a:endParaRPr lang="en-US" sz="2600" dirty="0"/>
          </a:p>
        </p:txBody>
      </p:sp>
      <p:sp>
        <p:nvSpPr>
          <p:cNvPr id="3" name="Text 1"/>
          <p:cNvSpPr/>
          <p:nvPr/>
        </p:nvSpPr>
        <p:spPr>
          <a:xfrm>
            <a:off x="548640" y="1005840"/>
            <a:ext cx="10972800" cy="548640"/>
          </a:xfrm>
          <a:prstGeom prst="rect">
            <a:avLst/>
          </a:prstGeom>
          <a:noFill/>
          <a:ln/>
        </p:spPr>
        <p:txBody>
          <a:bodyPr wrap="square" rtlCol="0" anchor="ctr"/>
          <a:lstStyle/>
          <a:p>
            <a:pPr indent="0" marL="0">
              <a:buNone/>
            </a:pPr>
            <a:r>
              <a:rPr lang="en-US" sz="1350" i="1" dirty="0">
                <a:solidFill>
                  <a:srgbClr val="5B6B7A"/>
                </a:solidFill>
                <a:latin typeface="Calibri" pitchFamily="34" charset="0"/>
                <a:ea typeface="Calibri" pitchFamily="34" charset="-122"/>
                <a:cs typeface="Calibri" pitchFamily="34" charset="-120"/>
              </a:rPr>
              <a:t>Un pedido puede tener varios productos, y un producto puede estar en varios pedidos: por eso hace falta una tabla "puente" con clave compuesta (pedido_id + producto_id).</a:t>
            </a:r>
            <a:endParaRPr lang="en-US" sz="1350" dirty="0"/>
          </a:p>
        </p:txBody>
      </p:sp>
      <p:sp>
        <p:nvSpPr>
          <p:cNvPr id="4" name="Text 2"/>
          <p:cNvSpPr/>
          <p:nvPr/>
        </p:nvSpPr>
        <p:spPr>
          <a:xfrm>
            <a:off x="548640" y="1691640"/>
            <a:ext cx="5486400" cy="365760"/>
          </a:xfrm>
          <a:prstGeom prst="rect">
            <a:avLst/>
          </a:prstGeom>
          <a:noFill/>
          <a:ln/>
        </p:spPr>
        <p:txBody>
          <a:bodyPr wrap="square" rtlCol="0" anchor="ctr"/>
          <a:lstStyle/>
          <a:p>
            <a:pPr indent="0" marL="0">
              <a:buNone/>
            </a:pPr>
            <a:r>
              <a:rPr lang="en-US" sz="1400" b="1" dirty="0">
                <a:solidFill>
                  <a:srgbClr val="8C3A3A"/>
                </a:solidFill>
                <a:latin typeface="Calibri" pitchFamily="34" charset="0"/>
                <a:ea typeface="Calibri" pitchFamily="34" charset="-122"/>
                <a:cs typeface="Calibri" pitchFamily="34" charset="-120"/>
              </a:rPr>
              <a:t>✗  Antes — rompe 2FN</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1463040"/>
        </p:xfrm>
        <a:graphic>
          <a:graphicData uri="http://schemas.openxmlformats.org/drawingml/2006/table">
            <a:tbl>
              <a:tblPr/>
              <a:tblGrid>
                <a:gridCol w="2766060"/>
                <a:gridCol w="2766060"/>
                <a:gridCol w="2766060"/>
                <a:gridCol w="276606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pedido_id</a:t>
                      </a:r>
                      <a:endParaRPr lang="en-US" sz="11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producto_id</a:t>
                      </a:r>
                      <a:endParaRPr lang="en-US" sz="11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nombre_producto</a:t>
                      </a:r>
                      <a:endParaRPr lang="en-US" sz="11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8C3A3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cantidad</a:t>
                      </a:r>
                      <a:endParaRPr lang="en-US" sz="11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065A82"/>
                    </a:solidFill>
                  </a:tcPr>
                </a:tc>
              </a:tr>
              <a:tr h="365760">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101</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Cuaderno A5</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E3E3"/>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101</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7F9"/>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7F9"/>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Bolígrafo azul</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E3E3"/>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7F9"/>
                    </a:solidFill>
                  </a:tcPr>
                </a:tc>
              </a:tr>
              <a:tr h="365760">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102</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Cuaderno A5</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E3E3"/>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3657600"/>
            <a:ext cx="11064240" cy="502920"/>
          </a:xfrm>
          <a:prstGeom prst="rect">
            <a:avLst/>
          </a:prstGeom>
          <a:noFill/>
          <a:ln/>
        </p:spPr>
        <p:txBody>
          <a:bodyPr wrap="square" rtlCol="0" anchor="ctr"/>
          <a:lstStyle/>
          <a:p>
            <a:pPr indent="0" marL="0">
              <a:buNone/>
            </a:pPr>
            <a:r>
              <a:rPr lang="en-US" sz="1250" i="1" dirty="0">
                <a:solidFill>
                  <a:srgbClr val="8C3A3A"/>
                </a:solidFill>
                <a:latin typeface="Calibri" pitchFamily="34" charset="0"/>
                <a:ea typeface="Calibri" pitchFamily="34" charset="-122"/>
                <a:cs typeface="Calibri" pitchFamily="34" charset="-120"/>
              </a:rPr>
              <a:t>"nombre_producto" solo depende de producto_id, no de la clave completa (pedido_id + producto_id) → se repite y si cambia el nombre, hay que actualizarlo en varias filas.</a:t>
            </a:r>
            <a:endParaRPr lang="en-US" sz="1250" dirty="0"/>
          </a:p>
        </p:txBody>
      </p:sp>
      <p:sp>
        <p:nvSpPr>
          <p:cNvPr id="7" name="Text 4"/>
          <p:cNvSpPr/>
          <p:nvPr/>
        </p:nvSpPr>
        <p:spPr>
          <a:xfrm>
            <a:off x="548640" y="4251960"/>
            <a:ext cx="5486400" cy="365760"/>
          </a:xfrm>
          <a:prstGeom prst="rect">
            <a:avLst/>
          </a:prstGeom>
          <a:noFill/>
          <a:ln/>
        </p:spPr>
        <p:txBody>
          <a:bodyPr wrap="square"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  Después — cumple 2FN</a:t>
            </a:r>
            <a:endParaRPr lang="en-US" sz="1400" dirty="0"/>
          </a:p>
        </p:txBody>
      </p:sp>
      <p:sp>
        <p:nvSpPr>
          <p:cNvPr id="8" name="Text 5"/>
          <p:cNvSpPr/>
          <p:nvPr/>
        </p:nvSpPr>
        <p:spPr>
          <a:xfrm>
            <a:off x="548640" y="4617720"/>
            <a:ext cx="4572000" cy="274320"/>
          </a:xfrm>
          <a:prstGeom prst="rect">
            <a:avLst/>
          </a:prstGeom>
          <a:noFill/>
          <a:ln/>
        </p:spPr>
        <p:txBody>
          <a:bodyPr wrap="square"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pedidos_productos</a:t>
            </a:r>
            <a:endParaRPr lang="en-US" sz="120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548640" y="4892040"/>
          <a:ext cx="5486400" cy="1188720"/>
        </p:xfrm>
        <a:graphic>
          <a:graphicData uri="http://schemas.openxmlformats.org/drawingml/2006/table">
            <a:tbl>
              <a:tblPr/>
              <a:tblGrid>
                <a:gridCol w="1828800"/>
                <a:gridCol w="1828800"/>
                <a:gridCol w="1828800"/>
              </a:tblGrid>
              <a:tr h="29718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pedido_id</a:t>
                      </a:r>
                      <a:endParaRPr lang="en-US" sz="11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producto_id</a:t>
                      </a:r>
                      <a:endParaRPr lang="en-US" sz="11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cantidad</a:t>
                      </a:r>
                      <a:endParaRPr lang="en-US" sz="11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065A82"/>
                    </a:solidFill>
                  </a:tcPr>
                </a:tc>
              </a:tr>
              <a:tr h="297180">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101</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r>
              <a:tr h="297180">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101</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7F9"/>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7F9"/>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7F9"/>
                    </a:solidFill>
                  </a:tcPr>
                </a:tc>
              </a:tr>
              <a:tr h="297180">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102</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r>
            </a:tbl>
          </a:graphicData>
        </a:graphic>
      </p:graphicFrame>
      <p:sp>
        <p:nvSpPr>
          <p:cNvPr id="10" name="Text 6"/>
          <p:cNvSpPr/>
          <p:nvPr/>
        </p:nvSpPr>
        <p:spPr>
          <a:xfrm>
            <a:off x="6309360" y="4617720"/>
            <a:ext cx="4572000" cy="274320"/>
          </a:xfrm>
          <a:prstGeom prst="rect">
            <a:avLst/>
          </a:prstGeom>
          <a:noFill/>
          <a:ln/>
        </p:spPr>
        <p:txBody>
          <a:bodyPr wrap="square"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productos</a:t>
            </a:r>
            <a:endParaRPr lang="en-US" sz="1200" dirty="0"/>
          </a:p>
        </p:txBody>
      </p:sp>
      <p:graphicFrame>
        <p:nvGraphicFramePr>
          <p:cNvPr id="46" name="Table 2"/>
          <p:cNvGraphicFramePr>
            <a:graphicFrameLocks noGrp="1"/>
          </p:cNvGraphicFramePr>
          <p:nvPr>
            <p:extLst>
              <p:ext uri="{D42A27DB-BD31-4B8C-83A1-F6EECF244321}">
                <p14:modId xmlns:p14="http://schemas.microsoft.com/office/powerpoint/2010/main" val="1579011935"/>
              </p:ext>
            </p:extLst>
          </p:nvPr>
        </p:nvGraphicFramePr>
        <p:xfrm>
          <a:off x="6309360" y="4892040"/>
          <a:ext cx="5303520" cy="868680"/>
        </p:xfrm>
        <a:graphic>
          <a:graphicData uri="http://schemas.openxmlformats.org/drawingml/2006/table">
            <a:tbl>
              <a:tblPr/>
              <a:tblGrid>
                <a:gridCol w="2651760"/>
                <a:gridCol w="2651760"/>
              </a:tblGrid>
              <a:tr h="2895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id</a:t>
                      </a:r>
                      <a:endParaRPr lang="en-US" sz="11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nombre_producto</a:t>
                      </a:r>
                      <a:endParaRPr lang="en-US" sz="11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065A82"/>
                    </a:solidFill>
                  </a:tcPr>
                </a:tc>
              </a:tr>
              <a:tr h="289560">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Cuaderno A5</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r>
              <a:tr h="289560">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7F9"/>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Bolígrafo azul</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7F9"/>
                    </a:solidFill>
                  </a:tcPr>
                </a:tc>
              </a:tr>
            </a:tbl>
          </a:graphicData>
        </a:graphic>
      </p:graphicFrame>
      <p:sp>
        <p:nvSpPr>
          <p:cNvPr id="12" name="Text 7"/>
          <p:cNvSpPr/>
          <p:nvPr/>
        </p:nvSpPr>
        <p:spPr>
          <a:xfrm>
            <a:off x="457200" y="6537960"/>
            <a:ext cx="7315200" cy="274320"/>
          </a:xfrm>
          <a:prstGeom prst="rect">
            <a:avLst/>
          </a:prstGeom>
          <a:noFill/>
          <a:ln/>
        </p:spPr>
        <p:txBody>
          <a:bodyPr wrap="square" rtlCol="0" anchor="ctr"/>
          <a:lstStyle/>
          <a:p>
            <a:pPr algn="l" indent="0" marL="0">
              <a:buNone/>
            </a:pPr>
            <a:r>
              <a:rPr lang="en-US" sz="1000" dirty="0">
                <a:solidFill>
                  <a:srgbClr val="5B6B7A"/>
                </a:solidFill>
                <a:latin typeface="Calibri" pitchFamily="34" charset="0"/>
                <a:ea typeface="Calibri" pitchFamily="34" charset="-122"/>
                <a:cs typeface="Calibri" pitchFamily="34" charset="-120"/>
              </a:rPr>
              <a:t>SQL: CRUD, diseño e integridad</a:t>
            </a:r>
            <a:endParaRPr lang="en-US" sz="1000" dirty="0"/>
          </a:p>
        </p:txBody>
      </p:sp>
      <p:sp>
        <p:nvSpPr>
          <p:cNvPr id="13" name="Text 8"/>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3FN en un ejemplo: empleados y departamentos</a:t>
            </a:r>
            <a:endParaRPr lang="en-US" sz="2600" dirty="0"/>
          </a:p>
        </p:txBody>
      </p:sp>
      <p:sp>
        <p:nvSpPr>
          <p:cNvPr id="3" name="Text 1"/>
          <p:cNvSpPr/>
          <p:nvPr/>
        </p:nvSpPr>
        <p:spPr>
          <a:xfrm>
            <a:off x="548640" y="1005840"/>
            <a:ext cx="10972800" cy="548640"/>
          </a:xfrm>
          <a:prstGeom prst="rect">
            <a:avLst/>
          </a:prstGeom>
          <a:noFill/>
          <a:ln/>
        </p:spPr>
        <p:txBody>
          <a:bodyPr wrap="square" rtlCol="0" anchor="ctr"/>
          <a:lstStyle/>
          <a:p>
            <a:pPr indent="0" marL="0">
              <a:buNone/>
            </a:pPr>
            <a:r>
              <a:rPr lang="en-US" sz="1350" i="1" dirty="0">
                <a:solidFill>
                  <a:srgbClr val="5B6B7A"/>
                </a:solidFill>
                <a:latin typeface="Calibri" pitchFamily="34" charset="0"/>
                <a:ea typeface="Calibri" pitchFamily="34" charset="-122"/>
                <a:cs typeface="Calibri" pitchFamily="34" charset="-120"/>
              </a:rPr>
              <a:t>Aquí la clave primaria es solo "id" (no hay clave compuesta). El problema es otra columna que depende de "departamento_id" en vez de depender del empleado.</a:t>
            </a:r>
            <a:endParaRPr lang="en-US" sz="1350" dirty="0"/>
          </a:p>
        </p:txBody>
      </p:sp>
      <p:sp>
        <p:nvSpPr>
          <p:cNvPr id="4" name="Text 2"/>
          <p:cNvSpPr/>
          <p:nvPr/>
        </p:nvSpPr>
        <p:spPr>
          <a:xfrm>
            <a:off x="548640" y="1691640"/>
            <a:ext cx="5486400" cy="365760"/>
          </a:xfrm>
          <a:prstGeom prst="rect">
            <a:avLst/>
          </a:prstGeom>
          <a:noFill/>
          <a:ln/>
        </p:spPr>
        <p:txBody>
          <a:bodyPr wrap="square" rtlCol="0" anchor="ctr"/>
          <a:lstStyle/>
          <a:p>
            <a:pPr indent="0" marL="0">
              <a:buNone/>
            </a:pPr>
            <a:r>
              <a:rPr lang="en-US" sz="1400" b="1" dirty="0">
                <a:solidFill>
                  <a:srgbClr val="8C3A3A"/>
                </a:solidFill>
                <a:latin typeface="Calibri" pitchFamily="34" charset="0"/>
                <a:ea typeface="Calibri" pitchFamily="34" charset="-122"/>
                <a:cs typeface="Calibri" pitchFamily="34" charset="-120"/>
              </a:rPr>
              <a:t>✗  Antes — rompe 3FN</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1463040"/>
        </p:xfrm>
        <a:graphic>
          <a:graphicData uri="http://schemas.openxmlformats.org/drawingml/2006/table">
            <a:tbl>
              <a:tblPr/>
              <a:tblGrid>
                <a:gridCol w="2766060"/>
                <a:gridCol w="2766060"/>
                <a:gridCol w="2766060"/>
                <a:gridCol w="276606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id</a:t>
                      </a:r>
                      <a:endParaRPr lang="en-US" sz="11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nombre</a:t>
                      </a:r>
                      <a:endParaRPr lang="en-US" sz="11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departamento_id</a:t>
                      </a:r>
                      <a:endParaRPr lang="en-US" sz="11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nombre_departamento</a:t>
                      </a:r>
                      <a:endParaRPr lang="en-US" sz="11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8C3A3A"/>
                    </a:solidFill>
                  </a:tcPr>
                </a:tc>
              </a:tr>
              <a:tr h="365760">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Juan</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Ventas</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E3E3"/>
                    </a:solidFill>
                  </a:tcPr>
                </a:tc>
              </a:tr>
              <a:tr h="365760">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7F9"/>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Ana</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7F9"/>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7F9"/>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Ventas</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E3E3"/>
                    </a:solidFill>
                  </a:tcPr>
                </a:tc>
              </a:tr>
              <a:tr h="365760">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Marta</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Soporte</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E3E3"/>
                    </a:solidFill>
                  </a:tcPr>
                </a:tc>
              </a:tr>
            </a:tbl>
          </a:graphicData>
        </a:graphic>
      </p:graphicFrame>
      <p:sp>
        <p:nvSpPr>
          <p:cNvPr id="6" name="Text 3"/>
          <p:cNvSpPr/>
          <p:nvPr/>
        </p:nvSpPr>
        <p:spPr>
          <a:xfrm>
            <a:off x="548640" y="3657600"/>
            <a:ext cx="11064240" cy="502920"/>
          </a:xfrm>
          <a:prstGeom prst="rect">
            <a:avLst/>
          </a:prstGeom>
          <a:noFill/>
          <a:ln/>
        </p:spPr>
        <p:txBody>
          <a:bodyPr wrap="square" rtlCol="0" anchor="ctr"/>
          <a:lstStyle/>
          <a:p>
            <a:pPr indent="0" marL="0">
              <a:buNone/>
            </a:pPr>
            <a:r>
              <a:rPr lang="en-US" sz="1250" i="1" dirty="0">
                <a:solidFill>
                  <a:srgbClr val="8C3A3A"/>
                </a:solidFill>
                <a:latin typeface="Calibri" pitchFamily="34" charset="0"/>
                <a:ea typeface="Calibri" pitchFamily="34" charset="-122"/>
                <a:cs typeface="Calibri" pitchFamily="34" charset="-120"/>
              </a:rPr>
              <a:t>"nombre_departamento" no depende del empleado (la clave, "id"), depende de "departamento_id" → dependencia transitiva. Si "Ventas" cambia de nombre, hay que tocar varias filas.</a:t>
            </a:r>
            <a:endParaRPr lang="en-US" sz="1250" dirty="0"/>
          </a:p>
        </p:txBody>
      </p:sp>
      <p:sp>
        <p:nvSpPr>
          <p:cNvPr id="7" name="Text 4"/>
          <p:cNvSpPr/>
          <p:nvPr/>
        </p:nvSpPr>
        <p:spPr>
          <a:xfrm>
            <a:off x="548640" y="4251960"/>
            <a:ext cx="5486400" cy="365760"/>
          </a:xfrm>
          <a:prstGeom prst="rect">
            <a:avLst/>
          </a:prstGeom>
          <a:noFill/>
          <a:ln/>
        </p:spPr>
        <p:txBody>
          <a:bodyPr wrap="square"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  Después — cumple 3FN</a:t>
            </a:r>
            <a:endParaRPr lang="en-US" sz="1400" dirty="0"/>
          </a:p>
        </p:txBody>
      </p:sp>
      <p:sp>
        <p:nvSpPr>
          <p:cNvPr id="8" name="Text 5"/>
          <p:cNvSpPr/>
          <p:nvPr/>
        </p:nvSpPr>
        <p:spPr>
          <a:xfrm>
            <a:off x="548640" y="4617720"/>
            <a:ext cx="4572000" cy="274320"/>
          </a:xfrm>
          <a:prstGeom prst="rect">
            <a:avLst/>
          </a:prstGeom>
          <a:noFill/>
          <a:ln/>
        </p:spPr>
        <p:txBody>
          <a:bodyPr wrap="square"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empleados</a:t>
            </a:r>
            <a:endParaRPr lang="en-US" sz="1200" dirty="0"/>
          </a:p>
        </p:txBody>
      </p:sp>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548640" y="4892040"/>
          <a:ext cx="5486400" cy="1188720"/>
        </p:xfrm>
        <a:graphic>
          <a:graphicData uri="http://schemas.openxmlformats.org/drawingml/2006/table">
            <a:tbl>
              <a:tblPr/>
              <a:tblGrid>
                <a:gridCol w="1828800"/>
                <a:gridCol w="1828800"/>
                <a:gridCol w="1828800"/>
              </a:tblGrid>
              <a:tr h="29718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id</a:t>
                      </a:r>
                      <a:endParaRPr lang="en-US" sz="11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nombre</a:t>
                      </a:r>
                      <a:endParaRPr lang="en-US" sz="11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departamento_id</a:t>
                      </a:r>
                      <a:endParaRPr lang="en-US" sz="11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065A82"/>
                    </a:solidFill>
                  </a:tcPr>
                </a:tc>
              </a:tr>
              <a:tr h="297180">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Juan</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r>
              <a:tr h="297180">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7F9"/>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Ana</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7F9"/>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7F9"/>
                    </a:solidFill>
                  </a:tcPr>
                </a:tc>
              </a:tr>
              <a:tr h="297180">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Marta</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r>
            </a:tbl>
          </a:graphicData>
        </a:graphic>
      </p:graphicFrame>
      <p:sp>
        <p:nvSpPr>
          <p:cNvPr id="10" name="Text 6"/>
          <p:cNvSpPr/>
          <p:nvPr/>
        </p:nvSpPr>
        <p:spPr>
          <a:xfrm>
            <a:off x="6309360" y="4617720"/>
            <a:ext cx="4572000" cy="274320"/>
          </a:xfrm>
          <a:prstGeom prst="rect">
            <a:avLst/>
          </a:prstGeom>
          <a:noFill/>
          <a:ln/>
        </p:spPr>
        <p:txBody>
          <a:bodyPr wrap="square"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departamentos</a:t>
            </a:r>
            <a:endParaRPr lang="en-US" sz="1200" dirty="0"/>
          </a:p>
        </p:txBody>
      </p:sp>
      <p:graphicFrame>
        <p:nvGraphicFramePr>
          <p:cNvPr id="49" name="Table 2"/>
          <p:cNvGraphicFramePr>
            <a:graphicFrameLocks noGrp="1"/>
          </p:cNvGraphicFramePr>
          <p:nvPr>
            <p:extLst>
              <p:ext uri="{D42A27DB-BD31-4B8C-83A1-F6EECF244321}">
                <p14:modId xmlns:p14="http://schemas.microsoft.com/office/powerpoint/2010/main" val="1579011935"/>
              </p:ext>
            </p:extLst>
          </p:nvPr>
        </p:nvGraphicFramePr>
        <p:xfrm>
          <a:off x="6309360" y="4892040"/>
          <a:ext cx="5303520" cy="868680"/>
        </p:xfrm>
        <a:graphic>
          <a:graphicData uri="http://schemas.openxmlformats.org/drawingml/2006/table">
            <a:tbl>
              <a:tblPr/>
              <a:tblGrid>
                <a:gridCol w="2651760"/>
                <a:gridCol w="2651760"/>
              </a:tblGrid>
              <a:tr h="2895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id</a:t>
                      </a:r>
                      <a:endParaRPr lang="en-US" sz="11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nombre_departamento</a:t>
                      </a:r>
                      <a:endParaRPr lang="en-US" sz="11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065A82"/>
                    </a:solidFill>
                  </a:tcPr>
                </a:tc>
              </a:tr>
              <a:tr h="289560">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Ventas</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r>
              <a:tr h="289560">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7F9"/>
                    </a:solidFill>
                  </a:tcPr>
                </a:tc>
                <a:tc>
                  <a:txBody>
                    <a:bodyPr/>
                    <a:lstStyle/>
                    <a:p>
                      <a:pPr indent="0" marL="0">
                        <a:buNone/>
                      </a:pPr>
                      <a:r>
                        <a:rPr lang="en-US" sz="1150" dirty="0">
                          <a:solidFill>
                            <a:srgbClr val="2E3B47"/>
                          </a:solidFill>
                          <a:latin typeface="Calibri" pitchFamily="34" charset="0"/>
                          <a:ea typeface="Calibri" pitchFamily="34" charset="-122"/>
                          <a:cs typeface="Calibri" pitchFamily="34" charset="-120"/>
                        </a:rPr>
                        <a:t>Soporte</a:t>
                      </a:r>
                      <a:endParaRPr lang="en-US" sz="115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7F9"/>
                    </a:solidFill>
                  </a:tcPr>
                </a:tc>
              </a:tr>
            </a:tbl>
          </a:graphicData>
        </a:graphic>
      </p:graphicFrame>
      <p:sp>
        <p:nvSpPr>
          <p:cNvPr id="12" name="Text 7"/>
          <p:cNvSpPr/>
          <p:nvPr/>
        </p:nvSpPr>
        <p:spPr>
          <a:xfrm>
            <a:off x="457200" y="6537960"/>
            <a:ext cx="7315200" cy="274320"/>
          </a:xfrm>
          <a:prstGeom prst="rect">
            <a:avLst/>
          </a:prstGeom>
          <a:noFill/>
          <a:ln/>
        </p:spPr>
        <p:txBody>
          <a:bodyPr wrap="square" rtlCol="0" anchor="ctr"/>
          <a:lstStyle/>
          <a:p>
            <a:pPr algn="l" indent="0" marL="0">
              <a:buNone/>
            </a:pPr>
            <a:r>
              <a:rPr lang="en-US" sz="1000" dirty="0">
                <a:solidFill>
                  <a:srgbClr val="5B6B7A"/>
                </a:solidFill>
                <a:latin typeface="Calibri" pitchFamily="34" charset="0"/>
                <a:ea typeface="Calibri" pitchFamily="34" charset="-122"/>
                <a:cs typeface="Calibri" pitchFamily="34" charset="-120"/>
              </a:rPr>
              <a:t>SQL: CRUD, diseño e integridad</a:t>
            </a:r>
            <a:endParaRPr lang="en-US" sz="1000" dirty="0"/>
          </a:p>
        </p:txBody>
      </p:sp>
      <p:sp>
        <p:nvSpPr>
          <p:cNvPr id="13" name="Text 8"/>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94360"/>
          </a:xfrm>
          <a:prstGeom prst="rect">
            <a:avLst/>
          </a:prstGeom>
          <a:noFill/>
          <a:ln/>
        </p:spPr>
        <p:txBody>
          <a:bodyPr wrap="square"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Integridad referencial: las reglas que no se rompen</a:t>
            </a:r>
            <a:endParaRPr lang="en-US" sz="2400" dirty="0"/>
          </a:p>
        </p:txBody>
      </p:sp>
      <p:sp>
        <p:nvSpPr>
          <p:cNvPr id="3" name="Text 1"/>
          <p:cNvSpPr/>
          <p:nvPr/>
        </p:nvSpPr>
        <p:spPr>
          <a:xfrm>
            <a:off x="548640" y="960120"/>
            <a:ext cx="10972800" cy="594360"/>
          </a:xfrm>
          <a:prstGeom prst="rect">
            <a:avLst/>
          </a:prstGeom>
          <a:noFill/>
          <a:ln/>
        </p:spPr>
        <p:txBody>
          <a:bodyPr wrap="square" rtlCol="0" anchor="ctr"/>
          <a:lstStyle/>
          <a:p>
            <a:pPr indent="0" marL="0">
              <a:lnSpc>
                <a:spcPct val="110000"/>
              </a:lnSpc>
              <a:buNone/>
            </a:pPr>
            <a:r>
              <a:rPr lang="en-US" sz="1300" i="1" dirty="0">
                <a:solidFill>
                  <a:srgbClr val="5B6B7A"/>
                </a:solidFill>
                <a:latin typeface="Calibri" pitchFamily="34" charset="0"/>
                <a:ea typeface="Calibri" pitchFamily="34" charset="-122"/>
                <a:cs typeface="Calibri" pitchFamily="34" charset="-120"/>
              </a:rPr>
              <a:t>La normalización evita que un dato se repita. Pero aunque las tablas estén bien separadas, nada impide todavía meter un valor imposible o una referencia inventada. Para eso existen las restricciones de integridad: reglas que la base de datos aplica siempre, sin excepción.</a:t>
            </a:r>
            <a:endParaRPr lang="en-US" sz="1300" dirty="0"/>
          </a:p>
        </p:txBody>
      </p:sp>
      <p:sp>
        <p:nvSpPr>
          <p:cNvPr id="4" name="Shape 2"/>
          <p:cNvSpPr/>
          <p:nvPr/>
        </p:nvSpPr>
        <p:spPr>
          <a:xfrm>
            <a:off x="548640" y="1783080"/>
            <a:ext cx="5349240" cy="1920240"/>
          </a:xfrm>
          <a:prstGeom prst="roundRect">
            <a:avLst>
              <a:gd name="adj" fmla="val 4762"/>
            </a:avLst>
          </a:prstGeom>
          <a:solidFill>
            <a:srgbClr val="F4F7F9"/>
          </a:solidFill>
          <a:ln/>
        </p:spPr>
      </p:sp>
      <p:sp>
        <p:nvSpPr>
          <p:cNvPr id="5" name="Shape 3"/>
          <p:cNvSpPr/>
          <p:nvPr/>
        </p:nvSpPr>
        <p:spPr>
          <a:xfrm>
            <a:off x="777240" y="2011680"/>
            <a:ext cx="640080" cy="640080"/>
          </a:xfrm>
          <a:prstGeom prst="ellipse">
            <a:avLst/>
          </a:prstGeom>
          <a:solidFill>
            <a:srgbClr val="065A82"/>
          </a:solidFill>
          <a:ln/>
        </p:spPr>
      </p:sp>
      <p:pic>
        <p:nvPicPr>
          <p:cNvPr id="6" name="Image 0" descr="/home/claude/work/pptx_build/icons/shield.png">    </p:cNvPr>
          <p:cNvPicPr>
            <a:picLocks noChangeAspect="1"/>
          </p:cNvPicPr>
          <p:nvPr/>
        </p:nvPicPr>
        <p:blipFill>
          <a:blip r:embed="rId1"/>
          <a:stretch>
            <a:fillRect/>
          </a:stretch>
        </p:blipFill>
        <p:spPr>
          <a:xfrm>
            <a:off x="866851" y="2101291"/>
            <a:ext cx="460858" cy="460858"/>
          </a:xfrm>
          <a:prstGeom prst="rect">
            <a:avLst/>
          </a:prstGeom>
        </p:spPr>
      </p:pic>
      <p:sp>
        <p:nvSpPr>
          <p:cNvPr id="7" name="Text 4"/>
          <p:cNvSpPr/>
          <p:nvPr/>
        </p:nvSpPr>
        <p:spPr>
          <a:xfrm>
            <a:off x="1600200" y="2011680"/>
            <a:ext cx="4023360" cy="457200"/>
          </a:xfrm>
          <a:prstGeom prst="rect">
            <a:avLst/>
          </a:prstGeom>
          <a:noFill/>
          <a:ln/>
        </p:spPr>
        <p:txBody>
          <a:bodyPr wrap="square"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NOT NULL</a:t>
            </a:r>
            <a:endParaRPr lang="en-US" sz="1600" dirty="0"/>
          </a:p>
        </p:txBody>
      </p:sp>
      <p:sp>
        <p:nvSpPr>
          <p:cNvPr id="8" name="Text 5"/>
          <p:cNvSpPr/>
          <p:nvPr/>
        </p:nvSpPr>
        <p:spPr>
          <a:xfrm>
            <a:off x="777240" y="2651760"/>
            <a:ext cx="4937760" cy="914400"/>
          </a:xfrm>
          <a:prstGeom prst="rect">
            <a:avLst/>
          </a:prstGeom>
          <a:noFill/>
          <a:ln/>
        </p:spPr>
        <p:txBody>
          <a:bodyPr wrap="square" rtlCol="0" anchor="t"/>
          <a:lstStyle/>
          <a:p>
            <a:pPr indent="0" marL="0">
              <a:buNone/>
            </a:pPr>
            <a:r>
              <a:rPr lang="en-US" sz="1250" dirty="0">
                <a:solidFill>
                  <a:srgbClr val="5B6B7A"/>
                </a:solidFill>
                <a:latin typeface="Calibri" pitchFamily="34" charset="0"/>
                <a:ea typeface="Calibri" pitchFamily="34" charset="-122"/>
                <a:cs typeface="Calibri" pitchFamily="34" charset="-120"/>
              </a:rPr>
              <a:t>Un campo obligatorio nunca puede quedar vacío (ej. todo cliente necesita un nombre).</a:t>
            </a:r>
            <a:endParaRPr lang="en-US" sz="1250" dirty="0"/>
          </a:p>
        </p:txBody>
      </p:sp>
      <p:sp>
        <p:nvSpPr>
          <p:cNvPr id="9" name="Shape 6"/>
          <p:cNvSpPr/>
          <p:nvPr/>
        </p:nvSpPr>
        <p:spPr>
          <a:xfrm>
            <a:off x="6172200" y="1783080"/>
            <a:ext cx="5349240" cy="1920240"/>
          </a:xfrm>
          <a:prstGeom prst="roundRect">
            <a:avLst>
              <a:gd name="adj" fmla="val 4762"/>
            </a:avLst>
          </a:prstGeom>
          <a:solidFill>
            <a:srgbClr val="F4F7F9"/>
          </a:solidFill>
          <a:ln/>
        </p:spPr>
      </p:sp>
      <p:sp>
        <p:nvSpPr>
          <p:cNvPr id="10" name="Shape 7"/>
          <p:cNvSpPr/>
          <p:nvPr/>
        </p:nvSpPr>
        <p:spPr>
          <a:xfrm>
            <a:off x="6400800" y="2011680"/>
            <a:ext cx="640080" cy="640080"/>
          </a:xfrm>
          <a:prstGeom prst="ellipse">
            <a:avLst/>
          </a:prstGeom>
          <a:solidFill>
            <a:srgbClr val="065A82"/>
          </a:solidFill>
          <a:ln/>
        </p:spPr>
      </p:sp>
      <p:pic>
        <p:nvPicPr>
          <p:cNvPr id="11" name="Image 1" descr="/home/claude/work/pptx_build/icons/key.png">    </p:cNvPr>
          <p:cNvPicPr>
            <a:picLocks noChangeAspect="1"/>
          </p:cNvPicPr>
          <p:nvPr/>
        </p:nvPicPr>
        <p:blipFill>
          <a:blip r:embed="rId2"/>
          <a:stretch>
            <a:fillRect/>
          </a:stretch>
        </p:blipFill>
        <p:spPr>
          <a:xfrm>
            <a:off x="6490411" y="2101291"/>
            <a:ext cx="460858" cy="460858"/>
          </a:xfrm>
          <a:prstGeom prst="rect">
            <a:avLst/>
          </a:prstGeom>
        </p:spPr>
      </p:pic>
      <p:sp>
        <p:nvSpPr>
          <p:cNvPr id="12" name="Text 8"/>
          <p:cNvSpPr/>
          <p:nvPr/>
        </p:nvSpPr>
        <p:spPr>
          <a:xfrm>
            <a:off x="7223760" y="2011680"/>
            <a:ext cx="4023360" cy="457200"/>
          </a:xfrm>
          <a:prstGeom prst="rect">
            <a:avLst/>
          </a:prstGeom>
          <a:noFill/>
          <a:ln/>
        </p:spPr>
        <p:txBody>
          <a:bodyPr wrap="square"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UNIQUE</a:t>
            </a:r>
            <a:endParaRPr lang="en-US" sz="1600" dirty="0"/>
          </a:p>
        </p:txBody>
      </p:sp>
      <p:sp>
        <p:nvSpPr>
          <p:cNvPr id="13" name="Text 9"/>
          <p:cNvSpPr/>
          <p:nvPr/>
        </p:nvSpPr>
        <p:spPr>
          <a:xfrm>
            <a:off x="6400800" y="2651760"/>
            <a:ext cx="4937760" cy="914400"/>
          </a:xfrm>
          <a:prstGeom prst="rect">
            <a:avLst/>
          </a:prstGeom>
          <a:noFill/>
          <a:ln/>
        </p:spPr>
        <p:txBody>
          <a:bodyPr wrap="square" rtlCol="0" anchor="t"/>
          <a:lstStyle/>
          <a:p>
            <a:pPr indent="0" marL="0">
              <a:buNone/>
            </a:pPr>
            <a:r>
              <a:rPr lang="en-US" sz="1250" dirty="0">
                <a:solidFill>
                  <a:srgbClr val="5B6B7A"/>
                </a:solidFill>
                <a:latin typeface="Calibri" pitchFamily="34" charset="0"/>
                <a:ea typeface="Calibri" pitchFamily="34" charset="-122"/>
                <a:cs typeface="Calibri" pitchFamily="34" charset="-120"/>
              </a:rPr>
              <a:t>Un valor no se puede repetir en esa columna (ej. dos usuarios no pueden tener el mismo email).</a:t>
            </a:r>
            <a:endParaRPr lang="en-US" sz="1250" dirty="0"/>
          </a:p>
        </p:txBody>
      </p:sp>
      <p:sp>
        <p:nvSpPr>
          <p:cNvPr id="14" name="Shape 10"/>
          <p:cNvSpPr/>
          <p:nvPr/>
        </p:nvSpPr>
        <p:spPr>
          <a:xfrm>
            <a:off x="548640" y="3794760"/>
            <a:ext cx="5349240" cy="1920240"/>
          </a:xfrm>
          <a:prstGeom prst="roundRect">
            <a:avLst>
              <a:gd name="adj" fmla="val 4762"/>
            </a:avLst>
          </a:prstGeom>
          <a:solidFill>
            <a:srgbClr val="F4F7F9"/>
          </a:solidFill>
          <a:ln/>
        </p:spPr>
      </p:sp>
      <p:sp>
        <p:nvSpPr>
          <p:cNvPr id="15" name="Shape 11"/>
          <p:cNvSpPr/>
          <p:nvPr/>
        </p:nvSpPr>
        <p:spPr>
          <a:xfrm>
            <a:off x="777240" y="4023360"/>
            <a:ext cx="640080" cy="640080"/>
          </a:xfrm>
          <a:prstGeom prst="ellipse">
            <a:avLst/>
          </a:prstGeom>
          <a:solidFill>
            <a:srgbClr val="065A82"/>
          </a:solidFill>
          <a:ln/>
        </p:spPr>
      </p:sp>
      <p:pic>
        <p:nvPicPr>
          <p:cNvPr id="16" name="Image 2" descr="/home/claude/work/pptx_build/icons/link.png">    </p:cNvPr>
          <p:cNvPicPr>
            <a:picLocks noChangeAspect="1"/>
          </p:cNvPicPr>
          <p:nvPr/>
        </p:nvPicPr>
        <p:blipFill>
          <a:blip r:embed="rId3"/>
          <a:stretch>
            <a:fillRect/>
          </a:stretch>
        </p:blipFill>
        <p:spPr>
          <a:xfrm>
            <a:off x="866851" y="4112971"/>
            <a:ext cx="460858" cy="460858"/>
          </a:xfrm>
          <a:prstGeom prst="rect">
            <a:avLst/>
          </a:prstGeom>
        </p:spPr>
      </p:pic>
      <p:sp>
        <p:nvSpPr>
          <p:cNvPr id="17" name="Text 12"/>
          <p:cNvSpPr/>
          <p:nvPr/>
        </p:nvSpPr>
        <p:spPr>
          <a:xfrm>
            <a:off x="1600200" y="4023360"/>
            <a:ext cx="4023360" cy="457200"/>
          </a:xfrm>
          <a:prstGeom prst="rect">
            <a:avLst/>
          </a:prstGeom>
          <a:noFill/>
          <a:ln/>
        </p:spPr>
        <p:txBody>
          <a:bodyPr wrap="square"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FOREIGN KEY</a:t>
            </a:r>
            <a:endParaRPr lang="en-US" sz="1600" dirty="0"/>
          </a:p>
        </p:txBody>
      </p:sp>
      <p:sp>
        <p:nvSpPr>
          <p:cNvPr id="18" name="Text 13"/>
          <p:cNvSpPr/>
          <p:nvPr/>
        </p:nvSpPr>
        <p:spPr>
          <a:xfrm>
            <a:off x="777240" y="4663440"/>
            <a:ext cx="4937760" cy="914400"/>
          </a:xfrm>
          <a:prstGeom prst="rect">
            <a:avLst/>
          </a:prstGeom>
          <a:noFill/>
          <a:ln/>
        </p:spPr>
        <p:txBody>
          <a:bodyPr wrap="square" rtlCol="0" anchor="t"/>
          <a:lstStyle/>
          <a:p>
            <a:pPr indent="0" marL="0">
              <a:buNone/>
            </a:pPr>
            <a:r>
              <a:rPr lang="en-US" sz="1250" dirty="0">
                <a:solidFill>
                  <a:srgbClr val="5B6B7A"/>
                </a:solidFill>
                <a:latin typeface="Calibri" pitchFamily="34" charset="0"/>
                <a:ea typeface="Calibri" pitchFamily="34" charset="-122"/>
                <a:cs typeface="Calibri" pitchFamily="34" charset="-120"/>
              </a:rPr>
              <a:t>Una fila no puede apuntar a algo que no existe (ej. un pedido no puede tener un cliente_id inventado).</a:t>
            </a:r>
            <a:endParaRPr lang="en-US" sz="1250" dirty="0"/>
          </a:p>
        </p:txBody>
      </p:sp>
      <p:sp>
        <p:nvSpPr>
          <p:cNvPr id="19" name="Shape 14"/>
          <p:cNvSpPr/>
          <p:nvPr/>
        </p:nvSpPr>
        <p:spPr>
          <a:xfrm>
            <a:off x="6172200" y="3794760"/>
            <a:ext cx="5349240" cy="1920240"/>
          </a:xfrm>
          <a:prstGeom prst="roundRect">
            <a:avLst>
              <a:gd name="adj" fmla="val 4762"/>
            </a:avLst>
          </a:prstGeom>
          <a:solidFill>
            <a:srgbClr val="F4F7F9"/>
          </a:solidFill>
          <a:ln/>
        </p:spPr>
      </p:sp>
      <p:sp>
        <p:nvSpPr>
          <p:cNvPr id="20" name="Shape 15"/>
          <p:cNvSpPr/>
          <p:nvPr/>
        </p:nvSpPr>
        <p:spPr>
          <a:xfrm>
            <a:off x="6400800" y="4023360"/>
            <a:ext cx="640080" cy="640080"/>
          </a:xfrm>
          <a:prstGeom prst="ellipse">
            <a:avLst/>
          </a:prstGeom>
          <a:solidFill>
            <a:srgbClr val="065A82"/>
          </a:solidFill>
          <a:ln/>
        </p:spPr>
      </p:sp>
      <p:pic>
        <p:nvPicPr>
          <p:cNvPr id="21" name="Image 3" descr="/home/claude/work/pptx_build/icons/check.png">    </p:cNvPr>
          <p:cNvPicPr>
            <a:picLocks noChangeAspect="1"/>
          </p:cNvPicPr>
          <p:nvPr/>
        </p:nvPicPr>
        <p:blipFill>
          <a:blip r:embed="rId4"/>
          <a:stretch>
            <a:fillRect/>
          </a:stretch>
        </p:blipFill>
        <p:spPr>
          <a:xfrm>
            <a:off x="6490411" y="4112971"/>
            <a:ext cx="460858" cy="460858"/>
          </a:xfrm>
          <a:prstGeom prst="rect">
            <a:avLst/>
          </a:prstGeom>
        </p:spPr>
      </p:pic>
      <p:sp>
        <p:nvSpPr>
          <p:cNvPr id="22" name="Text 16"/>
          <p:cNvSpPr/>
          <p:nvPr/>
        </p:nvSpPr>
        <p:spPr>
          <a:xfrm>
            <a:off x="7223760" y="4023360"/>
            <a:ext cx="4023360" cy="457200"/>
          </a:xfrm>
          <a:prstGeom prst="rect">
            <a:avLst/>
          </a:prstGeom>
          <a:noFill/>
          <a:ln/>
        </p:spPr>
        <p:txBody>
          <a:bodyPr wrap="square"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CHECK</a:t>
            </a:r>
            <a:endParaRPr lang="en-US" sz="1600" dirty="0"/>
          </a:p>
        </p:txBody>
      </p:sp>
      <p:sp>
        <p:nvSpPr>
          <p:cNvPr id="23" name="Text 17"/>
          <p:cNvSpPr/>
          <p:nvPr/>
        </p:nvSpPr>
        <p:spPr>
          <a:xfrm>
            <a:off x="6400800" y="4663440"/>
            <a:ext cx="4937760" cy="914400"/>
          </a:xfrm>
          <a:prstGeom prst="rect">
            <a:avLst/>
          </a:prstGeom>
          <a:noFill/>
          <a:ln/>
        </p:spPr>
        <p:txBody>
          <a:bodyPr wrap="square" rtlCol="0" anchor="t"/>
          <a:lstStyle/>
          <a:p>
            <a:pPr indent="0" marL="0">
              <a:buNone/>
            </a:pPr>
            <a:r>
              <a:rPr lang="en-US" sz="1250" dirty="0">
                <a:solidFill>
                  <a:srgbClr val="5B6B7A"/>
                </a:solidFill>
                <a:latin typeface="Calibri" pitchFamily="34" charset="0"/>
                <a:ea typeface="Calibri" pitchFamily="34" charset="-122"/>
                <a:cs typeface="Calibri" pitchFamily="34" charset="-120"/>
              </a:rPr>
              <a:t>El valor debe cumplir una condición (ej. el precio nunca puede ser negativo).</a:t>
            </a:r>
            <a:endParaRPr lang="en-US" sz="1250" dirty="0"/>
          </a:p>
        </p:txBody>
      </p:sp>
      <p:sp>
        <p:nvSpPr>
          <p:cNvPr id="24" name="Text 18"/>
          <p:cNvSpPr/>
          <p:nvPr/>
        </p:nvSpPr>
        <p:spPr>
          <a:xfrm>
            <a:off x="457200" y="6537960"/>
            <a:ext cx="7315200" cy="274320"/>
          </a:xfrm>
          <a:prstGeom prst="rect">
            <a:avLst/>
          </a:prstGeom>
          <a:noFill/>
          <a:ln/>
        </p:spPr>
        <p:txBody>
          <a:bodyPr wrap="square" rtlCol="0" anchor="ctr"/>
          <a:lstStyle/>
          <a:p>
            <a:pPr algn="l" indent="0" marL="0">
              <a:buNone/>
            </a:pPr>
            <a:r>
              <a:rPr lang="en-US" sz="1000" dirty="0">
                <a:solidFill>
                  <a:srgbClr val="5B6B7A"/>
                </a:solidFill>
                <a:latin typeface="Calibri" pitchFamily="34" charset="0"/>
                <a:ea typeface="Calibri" pitchFamily="34" charset="-122"/>
                <a:cs typeface="Calibri" pitchFamily="34" charset="-120"/>
              </a:rPr>
              <a:t>SQL: CRUD, diseño e integridad</a:t>
            </a:r>
            <a:endParaRPr lang="en-US" sz="1000" dirty="0"/>
          </a:p>
        </p:txBody>
      </p:sp>
      <p:sp>
        <p:nvSpPr>
          <p:cNvPr id="25" name="Text 19"/>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94360"/>
          </a:xfrm>
          <a:prstGeom prst="rect">
            <a:avLst/>
          </a:prstGeom>
          <a:noFill/>
          <a:ln/>
        </p:spPr>
        <p:txBody>
          <a:bodyPr wrap="square"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Transacciones ACID</a:t>
            </a:r>
            <a:endParaRPr lang="en-US" sz="2800" dirty="0"/>
          </a:p>
        </p:txBody>
      </p:sp>
      <p:sp>
        <p:nvSpPr>
          <p:cNvPr id="3" name="Text 1"/>
          <p:cNvSpPr/>
          <p:nvPr/>
        </p:nvSpPr>
        <p:spPr>
          <a:xfrm>
            <a:off x="548640" y="960120"/>
            <a:ext cx="10972800" cy="685800"/>
          </a:xfrm>
          <a:prstGeom prst="rect">
            <a:avLst/>
          </a:prstGeom>
          <a:noFill/>
          <a:ln/>
        </p:spPr>
        <p:txBody>
          <a:bodyPr wrap="square" rtlCol="0" anchor="ctr"/>
          <a:lstStyle/>
          <a:p>
            <a:pPr indent="0" marL="0">
              <a:lnSpc>
                <a:spcPct val="110000"/>
              </a:lnSpc>
              <a:buNone/>
            </a:pPr>
            <a:r>
              <a:rPr lang="en-US" sz="1300" i="1" dirty="0">
                <a:solidFill>
                  <a:srgbClr val="5B6B7A"/>
                </a:solidFill>
                <a:latin typeface="Calibri" pitchFamily="34" charset="0"/>
                <a:ea typeface="Calibri" pitchFamily="34" charset="-122"/>
                <a:cs typeface="Calibri" pitchFamily="34" charset="-120"/>
              </a:rPr>
              <a:t>La normalización y la integridad garantizan que el diseño sea correcto, pero no evitan que algo falle a mitad de una operación (se cae el sistema, hay un error). Para eso existen las transacciones: agrupan varios pasos SQL en uno solo, con cuatro garantías.</a:t>
            </a:r>
            <a:endParaRPr lang="en-US" sz="1300" dirty="0"/>
          </a:p>
        </p:txBody>
      </p:sp>
      <p:sp>
        <p:nvSpPr>
          <p:cNvPr id="4" name="Text 2"/>
          <p:cNvSpPr/>
          <p:nvPr/>
        </p:nvSpPr>
        <p:spPr>
          <a:xfrm>
            <a:off x="548640" y="1645920"/>
            <a:ext cx="10972800" cy="365760"/>
          </a:xfrm>
          <a:prstGeom prst="rect">
            <a:avLst/>
          </a:prstGeom>
          <a:noFill/>
          <a:ln/>
        </p:spPr>
        <p:txBody>
          <a:bodyPr wrap="square" rtlCol="0" anchor="ctr"/>
          <a:lstStyle/>
          <a:p>
            <a:pPr indent="0" marL="0">
              <a:buNone/>
            </a:pPr>
            <a:r>
              <a:rPr lang="en-US" sz="1300" i="1" dirty="0">
                <a:solidFill>
                  <a:srgbClr val="1C7293"/>
                </a:solidFill>
                <a:latin typeface="Calibri" pitchFamily="34" charset="0"/>
                <a:ea typeface="Calibri" pitchFamily="34" charset="-122"/>
                <a:cs typeface="Calibri" pitchFamily="34" charset="-120"/>
              </a:rPr>
              <a:t>Ejemplo: transferir 100 € de la cuenta A a la cuenta B son dos UPDATE seguidos, que deben ocurrir juntos o ninguno.</a:t>
            </a:r>
            <a:endParaRPr lang="en-US" sz="1300" dirty="0"/>
          </a:p>
        </p:txBody>
      </p:sp>
      <p:sp>
        <p:nvSpPr>
          <p:cNvPr id="5" name="Shape 3"/>
          <p:cNvSpPr/>
          <p:nvPr/>
        </p:nvSpPr>
        <p:spPr>
          <a:xfrm>
            <a:off x="548640" y="2194560"/>
            <a:ext cx="2606040" cy="3657600"/>
          </a:xfrm>
          <a:prstGeom prst="roundRect">
            <a:avLst>
              <a:gd name="adj" fmla="val 4211"/>
            </a:avLst>
          </a:prstGeom>
          <a:solidFill>
            <a:srgbClr val="F4F7F9"/>
          </a:solidFill>
          <a:ln/>
        </p:spPr>
      </p:sp>
      <p:sp>
        <p:nvSpPr>
          <p:cNvPr id="6" name="Shape 4"/>
          <p:cNvSpPr/>
          <p:nvPr/>
        </p:nvSpPr>
        <p:spPr>
          <a:xfrm>
            <a:off x="1394460" y="2423160"/>
            <a:ext cx="914400" cy="914400"/>
          </a:xfrm>
          <a:prstGeom prst="ellipse">
            <a:avLst/>
          </a:prstGeom>
          <a:solidFill>
            <a:srgbClr val="065A82"/>
          </a:solidFill>
          <a:ln/>
        </p:spPr>
      </p:sp>
      <p:pic>
        <p:nvPicPr>
          <p:cNvPr id="7" name="Image 0" descr="/home/claude/work/pptx_build/icons/bolt.png">    </p:cNvPr>
          <p:cNvPicPr>
            <a:picLocks noChangeAspect="1"/>
          </p:cNvPicPr>
          <p:nvPr/>
        </p:nvPicPr>
        <p:blipFill>
          <a:blip r:embed="rId1"/>
          <a:stretch>
            <a:fillRect/>
          </a:stretch>
        </p:blipFill>
        <p:spPr>
          <a:xfrm>
            <a:off x="1522476" y="2551176"/>
            <a:ext cx="658368" cy="658368"/>
          </a:xfrm>
          <a:prstGeom prst="rect">
            <a:avLst/>
          </a:prstGeom>
        </p:spPr>
      </p:pic>
      <p:sp>
        <p:nvSpPr>
          <p:cNvPr id="8" name="Text 5"/>
          <p:cNvSpPr/>
          <p:nvPr/>
        </p:nvSpPr>
        <p:spPr>
          <a:xfrm>
            <a:off x="685800" y="3429000"/>
            <a:ext cx="2331720" cy="502920"/>
          </a:xfrm>
          <a:prstGeom prst="rect">
            <a:avLst/>
          </a:prstGeom>
          <a:noFill/>
          <a:ln/>
        </p:spPr>
        <p:txBody>
          <a:bodyPr wrap="square" rtlCol="0" anchor="ctr"/>
          <a:lstStyle/>
          <a:p>
            <a:pPr algn="ctr" indent="0" marL="0">
              <a:buNone/>
            </a:pPr>
            <a:r>
              <a:rPr lang="en-US" sz="1400" b="1" dirty="0">
                <a:solidFill>
                  <a:srgbClr val="21295C"/>
                </a:solidFill>
                <a:latin typeface="Calibri" pitchFamily="34" charset="0"/>
                <a:ea typeface="Calibri" pitchFamily="34" charset="-122"/>
                <a:cs typeface="Calibri" pitchFamily="34" charset="-120"/>
              </a:rPr>
              <a:t>A — Atomicidad</a:t>
            </a:r>
            <a:endParaRPr lang="en-US" sz="1400" dirty="0"/>
          </a:p>
        </p:txBody>
      </p:sp>
      <p:sp>
        <p:nvSpPr>
          <p:cNvPr id="9" name="Text 6"/>
          <p:cNvSpPr/>
          <p:nvPr/>
        </p:nvSpPr>
        <p:spPr>
          <a:xfrm>
            <a:off x="731520" y="4023360"/>
            <a:ext cx="2240280" cy="1737360"/>
          </a:xfrm>
          <a:prstGeom prst="rect">
            <a:avLst/>
          </a:prstGeom>
          <a:noFill/>
          <a:ln/>
        </p:spPr>
        <p:txBody>
          <a:bodyPr wrap="square" rtlCol="0" anchor="t"/>
          <a:lstStyle/>
          <a:p>
            <a:pPr algn="ctr" indent="0" marL="0">
              <a:buNone/>
            </a:pPr>
            <a:r>
              <a:rPr lang="en-US" sz="1150" dirty="0">
                <a:solidFill>
                  <a:srgbClr val="5B6B7A"/>
                </a:solidFill>
                <a:latin typeface="Calibri" pitchFamily="34" charset="0"/>
                <a:ea typeface="Calibri" pitchFamily="34" charset="-122"/>
                <a:cs typeface="Calibri" pitchFamily="34" charset="-120"/>
              </a:rPr>
              <a:t>Todo o nada. Si falla el paso 2, el paso 1 se deshace: nadie pierde dinero por el camino.</a:t>
            </a:r>
            <a:endParaRPr lang="en-US" sz="1150" dirty="0"/>
          </a:p>
        </p:txBody>
      </p:sp>
      <p:sp>
        <p:nvSpPr>
          <p:cNvPr id="10" name="Shape 7"/>
          <p:cNvSpPr/>
          <p:nvPr/>
        </p:nvSpPr>
        <p:spPr>
          <a:xfrm>
            <a:off x="3337560" y="2194560"/>
            <a:ext cx="2606040" cy="3657600"/>
          </a:xfrm>
          <a:prstGeom prst="roundRect">
            <a:avLst>
              <a:gd name="adj" fmla="val 4211"/>
            </a:avLst>
          </a:prstGeom>
          <a:solidFill>
            <a:srgbClr val="F4F7F9"/>
          </a:solidFill>
          <a:ln/>
        </p:spPr>
      </p:sp>
      <p:sp>
        <p:nvSpPr>
          <p:cNvPr id="11" name="Shape 8"/>
          <p:cNvSpPr/>
          <p:nvPr/>
        </p:nvSpPr>
        <p:spPr>
          <a:xfrm>
            <a:off x="4183380" y="2423160"/>
            <a:ext cx="914400" cy="914400"/>
          </a:xfrm>
          <a:prstGeom prst="ellipse">
            <a:avLst/>
          </a:prstGeom>
          <a:solidFill>
            <a:srgbClr val="1C7293"/>
          </a:solidFill>
          <a:ln/>
        </p:spPr>
      </p:sp>
      <p:pic>
        <p:nvPicPr>
          <p:cNvPr id="12" name="Image 1" descr="/home/claude/work/pptx_build/icons/balance.png">    </p:cNvPr>
          <p:cNvPicPr>
            <a:picLocks noChangeAspect="1"/>
          </p:cNvPicPr>
          <p:nvPr/>
        </p:nvPicPr>
        <p:blipFill>
          <a:blip r:embed="rId2"/>
          <a:stretch>
            <a:fillRect/>
          </a:stretch>
        </p:blipFill>
        <p:spPr>
          <a:xfrm>
            <a:off x="4311396" y="2551176"/>
            <a:ext cx="658368" cy="658368"/>
          </a:xfrm>
          <a:prstGeom prst="rect">
            <a:avLst/>
          </a:prstGeom>
        </p:spPr>
      </p:pic>
      <p:sp>
        <p:nvSpPr>
          <p:cNvPr id="13" name="Text 9"/>
          <p:cNvSpPr/>
          <p:nvPr/>
        </p:nvSpPr>
        <p:spPr>
          <a:xfrm>
            <a:off x="3474720" y="3429000"/>
            <a:ext cx="2331720" cy="502920"/>
          </a:xfrm>
          <a:prstGeom prst="rect">
            <a:avLst/>
          </a:prstGeom>
          <a:noFill/>
          <a:ln/>
        </p:spPr>
        <p:txBody>
          <a:bodyPr wrap="square" rtlCol="0" anchor="ctr"/>
          <a:lstStyle/>
          <a:p>
            <a:pPr algn="ctr" indent="0" marL="0">
              <a:buNone/>
            </a:pPr>
            <a:r>
              <a:rPr lang="en-US" sz="1400" b="1" dirty="0">
                <a:solidFill>
                  <a:srgbClr val="21295C"/>
                </a:solidFill>
                <a:latin typeface="Calibri" pitchFamily="34" charset="0"/>
                <a:ea typeface="Calibri" pitchFamily="34" charset="-122"/>
                <a:cs typeface="Calibri" pitchFamily="34" charset="-120"/>
              </a:rPr>
              <a:t>C — Consistencia</a:t>
            </a:r>
            <a:endParaRPr lang="en-US" sz="1400" dirty="0"/>
          </a:p>
        </p:txBody>
      </p:sp>
      <p:sp>
        <p:nvSpPr>
          <p:cNvPr id="14" name="Text 10"/>
          <p:cNvSpPr/>
          <p:nvPr/>
        </p:nvSpPr>
        <p:spPr>
          <a:xfrm>
            <a:off x="3520440" y="4023360"/>
            <a:ext cx="2240280" cy="1737360"/>
          </a:xfrm>
          <a:prstGeom prst="rect">
            <a:avLst/>
          </a:prstGeom>
          <a:noFill/>
          <a:ln/>
        </p:spPr>
        <p:txBody>
          <a:bodyPr wrap="square" rtlCol="0" anchor="t"/>
          <a:lstStyle/>
          <a:p>
            <a:pPr algn="ctr" indent="0" marL="0">
              <a:buNone/>
            </a:pPr>
            <a:r>
              <a:rPr lang="en-US" sz="1150" dirty="0">
                <a:solidFill>
                  <a:srgbClr val="5B6B7A"/>
                </a:solidFill>
                <a:latin typeface="Calibri" pitchFamily="34" charset="0"/>
                <a:ea typeface="Calibri" pitchFamily="34" charset="-122"/>
                <a:cs typeface="Calibri" pitchFamily="34" charset="-120"/>
              </a:rPr>
              <a:t>La base de datos pasa de un estado válido a otro: el dinero total no cambia, solo se mueve.</a:t>
            </a:r>
            <a:endParaRPr lang="en-US" sz="1150" dirty="0"/>
          </a:p>
        </p:txBody>
      </p:sp>
      <p:sp>
        <p:nvSpPr>
          <p:cNvPr id="15" name="Shape 11"/>
          <p:cNvSpPr/>
          <p:nvPr/>
        </p:nvSpPr>
        <p:spPr>
          <a:xfrm>
            <a:off x="6126480" y="2194560"/>
            <a:ext cx="2606040" cy="3657600"/>
          </a:xfrm>
          <a:prstGeom prst="roundRect">
            <a:avLst>
              <a:gd name="adj" fmla="val 4211"/>
            </a:avLst>
          </a:prstGeom>
          <a:solidFill>
            <a:srgbClr val="F4F7F9"/>
          </a:solidFill>
          <a:ln/>
        </p:spPr>
      </p:sp>
      <p:sp>
        <p:nvSpPr>
          <p:cNvPr id="16" name="Shape 12"/>
          <p:cNvSpPr/>
          <p:nvPr/>
        </p:nvSpPr>
        <p:spPr>
          <a:xfrm>
            <a:off x="6972300" y="2423160"/>
            <a:ext cx="914400" cy="914400"/>
          </a:xfrm>
          <a:prstGeom prst="ellipse">
            <a:avLst/>
          </a:prstGeom>
          <a:solidFill>
            <a:srgbClr val="065A82"/>
          </a:solidFill>
          <a:ln/>
        </p:spPr>
      </p:sp>
      <p:pic>
        <p:nvPicPr>
          <p:cNvPr id="17" name="Image 2" descr="/home/claude/work/pptx_build/icons/shield.png">    </p:cNvPr>
          <p:cNvPicPr>
            <a:picLocks noChangeAspect="1"/>
          </p:cNvPicPr>
          <p:nvPr/>
        </p:nvPicPr>
        <p:blipFill>
          <a:blip r:embed="rId3"/>
          <a:stretch>
            <a:fillRect/>
          </a:stretch>
        </p:blipFill>
        <p:spPr>
          <a:xfrm>
            <a:off x="7100316" y="2551176"/>
            <a:ext cx="658368" cy="658368"/>
          </a:xfrm>
          <a:prstGeom prst="rect">
            <a:avLst/>
          </a:prstGeom>
        </p:spPr>
      </p:pic>
      <p:sp>
        <p:nvSpPr>
          <p:cNvPr id="18" name="Text 13"/>
          <p:cNvSpPr/>
          <p:nvPr/>
        </p:nvSpPr>
        <p:spPr>
          <a:xfrm>
            <a:off x="6263640" y="3429000"/>
            <a:ext cx="2331720" cy="502920"/>
          </a:xfrm>
          <a:prstGeom prst="rect">
            <a:avLst/>
          </a:prstGeom>
          <a:noFill/>
          <a:ln/>
        </p:spPr>
        <p:txBody>
          <a:bodyPr wrap="square" rtlCol="0" anchor="ctr"/>
          <a:lstStyle/>
          <a:p>
            <a:pPr algn="ctr" indent="0" marL="0">
              <a:buNone/>
            </a:pPr>
            <a:r>
              <a:rPr lang="en-US" sz="1400" b="1" dirty="0">
                <a:solidFill>
                  <a:srgbClr val="21295C"/>
                </a:solidFill>
                <a:latin typeface="Calibri" pitchFamily="34" charset="0"/>
                <a:ea typeface="Calibri" pitchFamily="34" charset="-122"/>
                <a:cs typeface="Calibri" pitchFamily="34" charset="-120"/>
              </a:rPr>
              <a:t>I — Aislamiento</a:t>
            </a:r>
            <a:endParaRPr lang="en-US" sz="1400" dirty="0"/>
          </a:p>
        </p:txBody>
      </p:sp>
      <p:sp>
        <p:nvSpPr>
          <p:cNvPr id="19" name="Text 14"/>
          <p:cNvSpPr/>
          <p:nvPr/>
        </p:nvSpPr>
        <p:spPr>
          <a:xfrm>
            <a:off x="6309360" y="4023360"/>
            <a:ext cx="2240280" cy="1737360"/>
          </a:xfrm>
          <a:prstGeom prst="rect">
            <a:avLst/>
          </a:prstGeom>
          <a:noFill/>
          <a:ln/>
        </p:spPr>
        <p:txBody>
          <a:bodyPr wrap="square" rtlCol="0" anchor="t"/>
          <a:lstStyle/>
          <a:p>
            <a:pPr algn="ctr" indent="0" marL="0">
              <a:buNone/>
            </a:pPr>
            <a:r>
              <a:rPr lang="en-US" sz="1150" dirty="0">
                <a:solidFill>
                  <a:srgbClr val="5B6B7A"/>
                </a:solidFill>
                <a:latin typeface="Calibri" pitchFamily="34" charset="0"/>
                <a:ea typeface="Calibri" pitchFamily="34" charset="-122"/>
                <a:cs typeface="Calibri" pitchFamily="34" charset="-120"/>
              </a:rPr>
              <a:t>Dos transacciones a la vez no se pisan: es como si cada una ocurriera sola.</a:t>
            </a:r>
            <a:endParaRPr lang="en-US" sz="1150" dirty="0"/>
          </a:p>
        </p:txBody>
      </p:sp>
      <p:sp>
        <p:nvSpPr>
          <p:cNvPr id="20" name="Shape 15"/>
          <p:cNvSpPr/>
          <p:nvPr/>
        </p:nvSpPr>
        <p:spPr>
          <a:xfrm>
            <a:off x="8915400" y="2194560"/>
            <a:ext cx="2606040" cy="3657600"/>
          </a:xfrm>
          <a:prstGeom prst="roundRect">
            <a:avLst>
              <a:gd name="adj" fmla="val 4211"/>
            </a:avLst>
          </a:prstGeom>
          <a:solidFill>
            <a:srgbClr val="F4F7F9"/>
          </a:solidFill>
          <a:ln/>
        </p:spPr>
      </p:sp>
      <p:sp>
        <p:nvSpPr>
          <p:cNvPr id="21" name="Shape 16"/>
          <p:cNvSpPr/>
          <p:nvPr/>
        </p:nvSpPr>
        <p:spPr>
          <a:xfrm>
            <a:off x="9761220" y="2423160"/>
            <a:ext cx="914400" cy="914400"/>
          </a:xfrm>
          <a:prstGeom prst="ellipse">
            <a:avLst/>
          </a:prstGeom>
          <a:solidFill>
            <a:srgbClr val="1C7293"/>
          </a:solidFill>
          <a:ln/>
        </p:spPr>
      </p:sp>
      <p:pic>
        <p:nvPicPr>
          <p:cNvPr id="22" name="Image 3" descr="/home/claude/work/pptx_build/icons/lock.png">    </p:cNvPr>
          <p:cNvPicPr>
            <a:picLocks noChangeAspect="1"/>
          </p:cNvPicPr>
          <p:nvPr/>
        </p:nvPicPr>
        <p:blipFill>
          <a:blip r:embed="rId4"/>
          <a:stretch>
            <a:fillRect/>
          </a:stretch>
        </p:blipFill>
        <p:spPr>
          <a:xfrm>
            <a:off x="9889236" y="2551176"/>
            <a:ext cx="658368" cy="658368"/>
          </a:xfrm>
          <a:prstGeom prst="rect">
            <a:avLst/>
          </a:prstGeom>
        </p:spPr>
      </p:pic>
      <p:sp>
        <p:nvSpPr>
          <p:cNvPr id="23" name="Text 17"/>
          <p:cNvSpPr/>
          <p:nvPr/>
        </p:nvSpPr>
        <p:spPr>
          <a:xfrm>
            <a:off x="9052560" y="3429000"/>
            <a:ext cx="2331720" cy="502920"/>
          </a:xfrm>
          <a:prstGeom prst="rect">
            <a:avLst/>
          </a:prstGeom>
          <a:noFill/>
          <a:ln/>
        </p:spPr>
        <p:txBody>
          <a:bodyPr wrap="square" rtlCol="0" anchor="ctr"/>
          <a:lstStyle/>
          <a:p>
            <a:pPr algn="ctr" indent="0" marL="0">
              <a:buNone/>
            </a:pPr>
            <a:r>
              <a:rPr lang="en-US" sz="1400" b="1" dirty="0">
                <a:solidFill>
                  <a:srgbClr val="21295C"/>
                </a:solidFill>
                <a:latin typeface="Calibri" pitchFamily="34" charset="0"/>
                <a:ea typeface="Calibri" pitchFamily="34" charset="-122"/>
                <a:cs typeface="Calibri" pitchFamily="34" charset="-120"/>
              </a:rPr>
              <a:t>D — Durabilidad</a:t>
            </a:r>
            <a:endParaRPr lang="en-US" sz="1400" dirty="0"/>
          </a:p>
        </p:txBody>
      </p:sp>
      <p:sp>
        <p:nvSpPr>
          <p:cNvPr id="24" name="Text 18"/>
          <p:cNvSpPr/>
          <p:nvPr/>
        </p:nvSpPr>
        <p:spPr>
          <a:xfrm>
            <a:off x="9098280" y="4023360"/>
            <a:ext cx="2240280" cy="1737360"/>
          </a:xfrm>
          <a:prstGeom prst="rect">
            <a:avLst/>
          </a:prstGeom>
          <a:noFill/>
          <a:ln/>
        </p:spPr>
        <p:txBody>
          <a:bodyPr wrap="square" rtlCol="0" anchor="t"/>
          <a:lstStyle/>
          <a:p>
            <a:pPr algn="ctr" indent="0" marL="0">
              <a:buNone/>
            </a:pPr>
            <a:r>
              <a:rPr lang="en-US" sz="1150" dirty="0">
                <a:solidFill>
                  <a:srgbClr val="5B6B7A"/>
                </a:solidFill>
                <a:latin typeface="Calibri" pitchFamily="34" charset="0"/>
                <a:ea typeface="Calibri" pitchFamily="34" charset="-122"/>
                <a:cs typeface="Calibri" pitchFamily="34" charset="-120"/>
              </a:rPr>
              <a:t>Una vez confirmada, la transacción sobrevive aunque el sistema se caiga justo después.</a:t>
            </a:r>
            <a:endParaRPr lang="en-US" sz="1150" dirty="0"/>
          </a:p>
        </p:txBody>
      </p:sp>
      <p:sp>
        <p:nvSpPr>
          <p:cNvPr id="25" name="Text 19"/>
          <p:cNvSpPr/>
          <p:nvPr/>
        </p:nvSpPr>
        <p:spPr>
          <a:xfrm>
            <a:off x="457200" y="6537960"/>
            <a:ext cx="7315200" cy="274320"/>
          </a:xfrm>
          <a:prstGeom prst="rect">
            <a:avLst/>
          </a:prstGeom>
          <a:noFill/>
          <a:ln/>
        </p:spPr>
        <p:txBody>
          <a:bodyPr wrap="square" rtlCol="0" anchor="ctr"/>
          <a:lstStyle/>
          <a:p>
            <a:pPr algn="l" indent="0" marL="0">
              <a:buNone/>
            </a:pPr>
            <a:r>
              <a:rPr lang="en-US" sz="1000" dirty="0">
                <a:solidFill>
                  <a:srgbClr val="5B6B7A"/>
                </a:solidFill>
                <a:latin typeface="Calibri" pitchFamily="34" charset="0"/>
                <a:ea typeface="Calibri" pitchFamily="34" charset="-122"/>
                <a:cs typeface="Calibri" pitchFamily="34" charset="-120"/>
              </a:rPr>
              <a:t>SQL: CRUD, diseño e integridad</a:t>
            </a:r>
            <a:endParaRPr lang="en-US" sz="1000" dirty="0"/>
          </a:p>
        </p:txBody>
      </p:sp>
      <p:sp>
        <p:nvSpPr>
          <p:cNvPr id="26" name="Text 20"/>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548640" y="457200"/>
            <a:ext cx="2194560" cy="365760"/>
          </a:xfrm>
          <a:prstGeom prst="roundRect">
            <a:avLst>
              <a:gd name="adj" fmla="val 50000"/>
            </a:avLst>
          </a:prstGeom>
          <a:solidFill>
            <a:srgbClr val="1C7293"/>
          </a:solidFill>
          <a:ln/>
        </p:spPr>
      </p:sp>
      <p:sp>
        <p:nvSpPr>
          <p:cNvPr id="3" name="Text 1"/>
          <p:cNvSpPr/>
          <p:nvPr/>
        </p:nvSpPr>
        <p:spPr>
          <a:xfrm>
            <a:off x="548640" y="457200"/>
            <a:ext cx="21945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 ENGLISH</a:t>
            </a:r>
            <a:endParaRPr lang="en-US" sz="1200" dirty="0"/>
          </a:p>
        </p:txBody>
      </p:sp>
      <p:sp>
        <p:nvSpPr>
          <p:cNvPr id="4" name="Text 2"/>
          <p:cNvSpPr/>
          <p:nvPr/>
        </p:nvSpPr>
        <p:spPr>
          <a:xfrm>
            <a:off x="548640" y="960120"/>
            <a:ext cx="109728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ACID: the words behind the guarantee</a:t>
            </a:r>
            <a:endParaRPr lang="en-US" sz="2800" dirty="0"/>
          </a:p>
        </p:txBody>
      </p:sp>
      <p:sp>
        <p:nvSpPr>
          <p:cNvPr id="5" name="Text 3"/>
          <p:cNvSpPr/>
          <p:nvPr/>
        </p:nvSpPr>
        <p:spPr>
          <a:xfrm>
            <a:off x="548640" y="1783080"/>
            <a:ext cx="10972800" cy="822960"/>
          </a:xfrm>
          <a:prstGeom prst="rect">
            <a:avLst/>
          </a:prstGeom>
          <a:noFill/>
          <a:ln/>
        </p:spPr>
        <p:txBody>
          <a:bodyPr wrap="square" rtlCol="0" anchor="ctr"/>
          <a:lstStyle/>
          <a:p>
            <a:pPr indent="0" marL="0">
              <a:buNone/>
            </a:pPr>
            <a:r>
              <a:rPr lang="en-US" sz="1600" i="1" dirty="0">
                <a:solidFill>
                  <a:srgbClr val="C9D6E3"/>
                </a:solidFill>
                <a:latin typeface="Calibri" pitchFamily="34" charset="0"/>
                <a:ea typeface="Calibri" pitchFamily="34" charset="-122"/>
                <a:cs typeface="Calibri" pitchFamily="34" charset="-120"/>
              </a:rPr>
              <a:t>This acronym is always used in English, even in Spanish-speaking teams: Atomicity, Consistency, Isolation, Durability. You’ll see it in almost every database course and every technical interview.</a:t>
            </a:r>
            <a:endParaRPr lang="en-US" sz="1600" dirty="0"/>
          </a:p>
        </p:txBody>
      </p:sp>
      <p:sp>
        <p:nvSpPr>
          <p:cNvPr id="6" name="Shape 4"/>
          <p:cNvSpPr/>
          <p:nvPr/>
        </p:nvSpPr>
        <p:spPr>
          <a:xfrm>
            <a:off x="548640" y="2651760"/>
            <a:ext cx="2606040" cy="2011680"/>
          </a:xfrm>
          <a:prstGeom prst="roundRect">
            <a:avLst>
              <a:gd name="adj" fmla="val 5455"/>
            </a:avLst>
          </a:prstGeom>
          <a:solidFill>
            <a:srgbClr val="065A82"/>
          </a:solidFill>
          <a:ln/>
        </p:spPr>
      </p:sp>
      <p:sp>
        <p:nvSpPr>
          <p:cNvPr id="7" name="Text 5"/>
          <p:cNvSpPr/>
          <p:nvPr/>
        </p:nvSpPr>
        <p:spPr>
          <a:xfrm>
            <a:off x="548640" y="2880360"/>
            <a:ext cx="26060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Atomicity</a:t>
            </a:r>
            <a:endParaRPr lang="en-US" sz="1600" dirty="0"/>
          </a:p>
        </p:txBody>
      </p:sp>
      <p:sp>
        <p:nvSpPr>
          <p:cNvPr id="8" name="Shape 6"/>
          <p:cNvSpPr/>
          <p:nvPr/>
        </p:nvSpPr>
        <p:spPr>
          <a:xfrm>
            <a:off x="1097280" y="3520440"/>
            <a:ext cx="1508760" cy="0"/>
          </a:xfrm>
          <a:prstGeom prst="line">
            <a:avLst/>
          </a:prstGeom>
          <a:noFill/>
          <a:ln w="12700">
            <a:solidFill>
              <a:srgbClr val="9FD8E8"/>
            </a:solidFill>
            <a:prstDash val="solid"/>
          </a:ln>
        </p:spPr>
      </p:sp>
      <p:sp>
        <p:nvSpPr>
          <p:cNvPr id="9" name="Text 7"/>
          <p:cNvSpPr/>
          <p:nvPr/>
        </p:nvSpPr>
        <p:spPr>
          <a:xfrm>
            <a:off x="548640" y="3657600"/>
            <a:ext cx="2606040" cy="822960"/>
          </a:xfrm>
          <a:prstGeom prst="rect">
            <a:avLst/>
          </a:prstGeom>
          <a:noFill/>
          <a:ln/>
        </p:spPr>
        <p:txBody>
          <a:bodyPr wrap="square" rtlCol="0" anchor="ctr"/>
          <a:lstStyle/>
          <a:p>
            <a:pPr algn="ctr" indent="0" marL="0">
              <a:buNone/>
            </a:pPr>
            <a:r>
              <a:rPr lang="en-US" sz="1500" i="1" dirty="0">
                <a:solidFill>
                  <a:srgbClr val="9FD8E8"/>
                </a:solidFill>
                <a:latin typeface="Calibri" pitchFamily="34" charset="0"/>
                <a:ea typeface="Calibri" pitchFamily="34" charset="-122"/>
                <a:cs typeface="Calibri" pitchFamily="34" charset="-120"/>
              </a:rPr>
              <a:t>Atomicidad</a:t>
            </a:r>
            <a:endParaRPr lang="en-US" sz="1500" dirty="0"/>
          </a:p>
        </p:txBody>
      </p:sp>
      <p:sp>
        <p:nvSpPr>
          <p:cNvPr id="10" name="Shape 8"/>
          <p:cNvSpPr/>
          <p:nvPr/>
        </p:nvSpPr>
        <p:spPr>
          <a:xfrm>
            <a:off x="3337560" y="2651760"/>
            <a:ext cx="2606040" cy="2011680"/>
          </a:xfrm>
          <a:prstGeom prst="roundRect">
            <a:avLst>
              <a:gd name="adj" fmla="val 5455"/>
            </a:avLst>
          </a:prstGeom>
          <a:solidFill>
            <a:srgbClr val="065A82"/>
          </a:solidFill>
          <a:ln/>
        </p:spPr>
      </p:sp>
      <p:sp>
        <p:nvSpPr>
          <p:cNvPr id="11" name="Text 9"/>
          <p:cNvSpPr/>
          <p:nvPr/>
        </p:nvSpPr>
        <p:spPr>
          <a:xfrm>
            <a:off x="3337560" y="2880360"/>
            <a:ext cx="26060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Consistency</a:t>
            </a:r>
            <a:endParaRPr lang="en-US" sz="1600" dirty="0"/>
          </a:p>
        </p:txBody>
      </p:sp>
      <p:sp>
        <p:nvSpPr>
          <p:cNvPr id="12" name="Shape 10"/>
          <p:cNvSpPr/>
          <p:nvPr/>
        </p:nvSpPr>
        <p:spPr>
          <a:xfrm>
            <a:off x="3886200" y="3520440"/>
            <a:ext cx="1508760" cy="0"/>
          </a:xfrm>
          <a:prstGeom prst="line">
            <a:avLst/>
          </a:prstGeom>
          <a:noFill/>
          <a:ln w="12700">
            <a:solidFill>
              <a:srgbClr val="9FD8E8"/>
            </a:solidFill>
            <a:prstDash val="solid"/>
          </a:ln>
        </p:spPr>
      </p:sp>
      <p:sp>
        <p:nvSpPr>
          <p:cNvPr id="13" name="Text 11"/>
          <p:cNvSpPr/>
          <p:nvPr/>
        </p:nvSpPr>
        <p:spPr>
          <a:xfrm>
            <a:off x="3337560" y="3657600"/>
            <a:ext cx="2606040" cy="822960"/>
          </a:xfrm>
          <a:prstGeom prst="rect">
            <a:avLst/>
          </a:prstGeom>
          <a:noFill/>
          <a:ln/>
        </p:spPr>
        <p:txBody>
          <a:bodyPr wrap="square" rtlCol="0" anchor="ctr"/>
          <a:lstStyle/>
          <a:p>
            <a:pPr algn="ctr" indent="0" marL="0">
              <a:buNone/>
            </a:pPr>
            <a:r>
              <a:rPr lang="en-US" sz="1500" i="1" dirty="0">
                <a:solidFill>
                  <a:srgbClr val="9FD8E8"/>
                </a:solidFill>
                <a:latin typeface="Calibri" pitchFamily="34" charset="0"/>
                <a:ea typeface="Calibri" pitchFamily="34" charset="-122"/>
                <a:cs typeface="Calibri" pitchFamily="34" charset="-120"/>
              </a:rPr>
              <a:t>Consistencia</a:t>
            </a:r>
            <a:endParaRPr lang="en-US" sz="1500" dirty="0"/>
          </a:p>
        </p:txBody>
      </p:sp>
      <p:sp>
        <p:nvSpPr>
          <p:cNvPr id="14" name="Shape 12"/>
          <p:cNvSpPr/>
          <p:nvPr/>
        </p:nvSpPr>
        <p:spPr>
          <a:xfrm>
            <a:off x="6126480" y="2651760"/>
            <a:ext cx="2606040" cy="2011680"/>
          </a:xfrm>
          <a:prstGeom prst="roundRect">
            <a:avLst>
              <a:gd name="adj" fmla="val 5455"/>
            </a:avLst>
          </a:prstGeom>
          <a:solidFill>
            <a:srgbClr val="065A82"/>
          </a:solidFill>
          <a:ln/>
        </p:spPr>
      </p:sp>
      <p:sp>
        <p:nvSpPr>
          <p:cNvPr id="15" name="Text 13"/>
          <p:cNvSpPr/>
          <p:nvPr/>
        </p:nvSpPr>
        <p:spPr>
          <a:xfrm>
            <a:off x="6126480" y="2880360"/>
            <a:ext cx="26060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Isolation</a:t>
            </a:r>
            <a:endParaRPr lang="en-US" sz="1600" dirty="0"/>
          </a:p>
        </p:txBody>
      </p:sp>
      <p:sp>
        <p:nvSpPr>
          <p:cNvPr id="16" name="Shape 14"/>
          <p:cNvSpPr/>
          <p:nvPr/>
        </p:nvSpPr>
        <p:spPr>
          <a:xfrm>
            <a:off x="6675120" y="3520440"/>
            <a:ext cx="1508760" cy="0"/>
          </a:xfrm>
          <a:prstGeom prst="line">
            <a:avLst/>
          </a:prstGeom>
          <a:noFill/>
          <a:ln w="12700">
            <a:solidFill>
              <a:srgbClr val="9FD8E8"/>
            </a:solidFill>
            <a:prstDash val="solid"/>
          </a:ln>
        </p:spPr>
      </p:sp>
      <p:sp>
        <p:nvSpPr>
          <p:cNvPr id="17" name="Text 15"/>
          <p:cNvSpPr/>
          <p:nvPr/>
        </p:nvSpPr>
        <p:spPr>
          <a:xfrm>
            <a:off x="6126480" y="3657600"/>
            <a:ext cx="2606040" cy="822960"/>
          </a:xfrm>
          <a:prstGeom prst="rect">
            <a:avLst/>
          </a:prstGeom>
          <a:noFill/>
          <a:ln/>
        </p:spPr>
        <p:txBody>
          <a:bodyPr wrap="square" rtlCol="0" anchor="ctr"/>
          <a:lstStyle/>
          <a:p>
            <a:pPr algn="ctr" indent="0" marL="0">
              <a:buNone/>
            </a:pPr>
            <a:r>
              <a:rPr lang="en-US" sz="1500" i="1" dirty="0">
                <a:solidFill>
                  <a:srgbClr val="9FD8E8"/>
                </a:solidFill>
                <a:latin typeface="Calibri" pitchFamily="34" charset="0"/>
                <a:ea typeface="Calibri" pitchFamily="34" charset="-122"/>
                <a:cs typeface="Calibri" pitchFamily="34" charset="-120"/>
              </a:rPr>
              <a:t>Aislamiento</a:t>
            </a:r>
            <a:endParaRPr lang="en-US" sz="1500" dirty="0"/>
          </a:p>
        </p:txBody>
      </p:sp>
      <p:sp>
        <p:nvSpPr>
          <p:cNvPr id="18" name="Shape 16"/>
          <p:cNvSpPr/>
          <p:nvPr/>
        </p:nvSpPr>
        <p:spPr>
          <a:xfrm>
            <a:off x="8915400" y="2651760"/>
            <a:ext cx="2606040" cy="2011680"/>
          </a:xfrm>
          <a:prstGeom prst="roundRect">
            <a:avLst>
              <a:gd name="adj" fmla="val 5455"/>
            </a:avLst>
          </a:prstGeom>
          <a:solidFill>
            <a:srgbClr val="065A82"/>
          </a:solidFill>
          <a:ln/>
        </p:spPr>
      </p:sp>
      <p:sp>
        <p:nvSpPr>
          <p:cNvPr id="19" name="Text 17"/>
          <p:cNvSpPr/>
          <p:nvPr/>
        </p:nvSpPr>
        <p:spPr>
          <a:xfrm>
            <a:off x="8915400" y="2880360"/>
            <a:ext cx="26060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Durability</a:t>
            </a:r>
            <a:endParaRPr lang="en-US" sz="1600" dirty="0"/>
          </a:p>
        </p:txBody>
      </p:sp>
      <p:sp>
        <p:nvSpPr>
          <p:cNvPr id="20" name="Shape 18"/>
          <p:cNvSpPr/>
          <p:nvPr/>
        </p:nvSpPr>
        <p:spPr>
          <a:xfrm>
            <a:off x="9464040" y="3520440"/>
            <a:ext cx="1508760" cy="0"/>
          </a:xfrm>
          <a:prstGeom prst="line">
            <a:avLst/>
          </a:prstGeom>
          <a:noFill/>
          <a:ln w="12700">
            <a:solidFill>
              <a:srgbClr val="9FD8E8"/>
            </a:solidFill>
            <a:prstDash val="solid"/>
          </a:ln>
        </p:spPr>
      </p:sp>
      <p:sp>
        <p:nvSpPr>
          <p:cNvPr id="21" name="Text 19"/>
          <p:cNvSpPr/>
          <p:nvPr/>
        </p:nvSpPr>
        <p:spPr>
          <a:xfrm>
            <a:off x="8915400" y="3657600"/>
            <a:ext cx="2606040" cy="822960"/>
          </a:xfrm>
          <a:prstGeom prst="rect">
            <a:avLst/>
          </a:prstGeom>
          <a:noFill/>
          <a:ln/>
        </p:spPr>
        <p:txBody>
          <a:bodyPr wrap="square" rtlCol="0" anchor="ctr"/>
          <a:lstStyle/>
          <a:p>
            <a:pPr algn="ctr" indent="0" marL="0">
              <a:buNone/>
            </a:pPr>
            <a:r>
              <a:rPr lang="en-US" sz="1500" i="1" dirty="0">
                <a:solidFill>
                  <a:srgbClr val="9FD8E8"/>
                </a:solidFill>
                <a:latin typeface="Calibri" pitchFamily="34" charset="0"/>
                <a:ea typeface="Calibri" pitchFamily="34" charset="-122"/>
                <a:cs typeface="Calibri" pitchFamily="34" charset="-120"/>
              </a:rPr>
              <a:t>Durabilidad</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Consultas SQL: uniendo tablas de verdad</a:t>
            </a:r>
            <a:endParaRPr lang="en-US" sz="2600" dirty="0"/>
          </a:p>
        </p:txBody>
      </p:sp>
      <p:sp>
        <p:nvSpPr>
          <p:cNvPr id="3" name="Text 1"/>
          <p:cNvSpPr/>
          <p:nvPr/>
        </p:nvSpPr>
        <p:spPr>
          <a:xfrm>
            <a:off x="548640" y="960120"/>
            <a:ext cx="10972800" cy="685800"/>
          </a:xfrm>
          <a:prstGeom prst="rect">
            <a:avLst/>
          </a:prstGeom>
          <a:noFill/>
          <a:ln/>
        </p:spPr>
        <p:txBody>
          <a:bodyPr wrap="square" rtlCol="0" anchor="ctr"/>
          <a:lstStyle/>
          <a:p>
            <a:pPr indent="0" marL="0">
              <a:lnSpc>
                <a:spcPct val="110000"/>
              </a:lnSpc>
              <a:buNone/>
            </a:pPr>
            <a:r>
              <a:rPr lang="en-US" sz="1300" i="1" dirty="0">
                <a:solidFill>
                  <a:srgbClr val="C9D6E3"/>
                </a:solidFill>
                <a:latin typeface="Calibri" pitchFamily="34" charset="0"/>
                <a:ea typeface="Calibri" pitchFamily="34" charset="-122"/>
                <a:cs typeface="Calibri" pitchFamily="34" charset="-120"/>
              </a:rPr>
              <a:t>Ya sabemos diseñar las tablas (normalización), protegerlas (integridad, ACID) y leerlas una a una (SELECT). Ahora volvemos al CRUD, al "Read", pero para la pregunta que más se repite en el día a día: recuperar información combinando varias tablas a la vez, donde el modelo relacional demuestra su fuerza.</a:t>
            </a:r>
            <a:endParaRPr lang="en-US" sz="1300" dirty="0"/>
          </a:p>
        </p:txBody>
      </p:sp>
      <p:sp>
        <p:nvSpPr>
          <p:cNvPr id="4" name="Shape 2"/>
          <p:cNvSpPr/>
          <p:nvPr/>
        </p:nvSpPr>
        <p:spPr>
          <a:xfrm>
            <a:off x="548640" y="1874520"/>
            <a:ext cx="5394960" cy="502920"/>
          </a:xfrm>
          <a:prstGeom prst="roundRect">
            <a:avLst>
              <a:gd name="adj" fmla="val 14545"/>
            </a:avLst>
          </a:prstGeom>
          <a:solidFill>
            <a:srgbClr val="1C7293"/>
          </a:solidFill>
          <a:ln/>
        </p:spPr>
      </p:sp>
      <p:sp>
        <p:nvSpPr>
          <p:cNvPr id="5" name="Text 3"/>
          <p:cNvSpPr/>
          <p:nvPr/>
        </p:nvSpPr>
        <p:spPr>
          <a:xfrm>
            <a:off x="548640" y="1874520"/>
            <a:ext cx="539496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JOIN — combinar dos tablas</a:t>
            </a:r>
            <a:endParaRPr lang="en-US" sz="1400" dirty="0"/>
          </a:p>
        </p:txBody>
      </p:sp>
      <p:sp>
        <p:nvSpPr>
          <p:cNvPr id="6" name="Shape 4"/>
          <p:cNvSpPr/>
          <p:nvPr/>
        </p:nvSpPr>
        <p:spPr>
          <a:xfrm>
            <a:off x="548640" y="2468880"/>
            <a:ext cx="5394960" cy="3108960"/>
          </a:xfrm>
          <a:prstGeom prst="roundRect">
            <a:avLst>
              <a:gd name="adj" fmla="val 2353"/>
            </a:avLst>
          </a:prstGeom>
          <a:solidFill>
            <a:srgbClr val="10152E"/>
          </a:solidFill>
          <a:ln w="12700">
            <a:solidFill>
              <a:srgbClr val="324066"/>
            </a:solidFill>
            <a:prstDash val="solid"/>
          </a:ln>
        </p:spPr>
      </p:sp>
      <p:sp>
        <p:nvSpPr>
          <p:cNvPr id="7" name="Text 5"/>
          <p:cNvSpPr/>
          <p:nvPr/>
        </p:nvSpPr>
        <p:spPr>
          <a:xfrm>
            <a:off x="777240" y="2651760"/>
            <a:ext cx="4937760" cy="2743200"/>
          </a:xfrm>
          <a:prstGeom prst="rect">
            <a:avLst/>
          </a:prstGeom>
          <a:noFill/>
          <a:ln/>
        </p:spPr>
        <p:txBody>
          <a:bodyPr wrap="square" rtlCol="0" anchor="t"/>
          <a:lstStyle/>
          <a:p>
            <a:pPr indent="0" marL="0">
              <a:lnSpc>
                <a:spcPct val="120000"/>
              </a:lnSpc>
              <a:buNone/>
            </a:pPr>
            <a:r>
              <a:rPr lang="en-US" sz="1300" dirty="0">
                <a:solidFill>
                  <a:srgbClr val="CFEFE0"/>
                </a:solidFill>
                <a:latin typeface="Courier New" pitchFamily="34" charset="0"/>
                <a:ea typeface="Courier New" pitchFamily="34" charset="-122"/>
                <a:cs typeface="Courier New" pitchFamily="34" charset="-120"/>
              </a:rPr>
              <a:t>SELECT niños.nombre, juguetes.nombre</a:t>
            </a:r>
            <a:endParaRPr lang="en-US" sz="1300" dirty="0"/>
          </a:p>
          <a:p>
            <a:pPr indent="0" marL="0">
              <a:lnSpc>
                <a:spcPct val="120000"/>
              </a:lnSpc>
              <a:buNone/>
            </a:pPr>
            <a:r>
              <a:rPr lang="en-US" sz="1300" dirty="0">
                <a:solidFill>
                  <a:srgbClr val="CFEFE0"/>
                </a:solidFill>
                <a:latin typeface="Courier New" pitchFamily="34" charset="0"/>
                <a:ea typeface="Courier New" pitchFamily="34" charset="-122"/>
                <a:cs typeface="Courier New" pitchFamily="34" charset="-120"/>
              </a:rPr>
              <a:t>FROM niños</a:t>
            </a:r>
            <a:endParaRPr lang="en-US" sz="1300" dirty="0"/>
          </a:p>
          <a:p>
            <a:pPr indent="0" marL="0">
              <a:lnSpc>
                <a:spcPct val="120000"/>
              </a:lnSpc>
              <a:buNone/>
            </a:pPr>
            <a:r>
              <a:rPr lang="en-US" sz="1300" dirty="0">
                <a:solidFill>
                  <a:srgbClr val="CFEFE0"/>
                </a:solidFill>
                <a:latin typeface="Courier New" pitchFamily="34" charset="0"/>
                <a:ea typeface="Courier New" pitchFamily="34" charset="-122"/>
                <a:cs typeface="Courier New" pitchFamily="34" charset="-120"/>
              </a:rPr>
              <a:t>JOIN juguetes</a:t>
            </a:r>
            <a:endParaRPr lang="en-US" sz="1300" dirty="0"/>
          </a:p>
          <a:p>
            <a:pPr indent="0" marL="0">
              <a:lnSpc>
                <a:spcPct val="120000"/>
              </a:lnSpc>
              <a:buNone/>
            </a:pPr>
            <a:r>
              <a:rPr lang="en-US" sz="1300" dirty="0">
                <a:solidFill>
                  <a:srgbClr val="CFEFE0"/>
                </a:solidFill>
                <a:latin typeface="Courier New" pitchFamily="34" charset="0"/>
                <a:ea typeface="Courier New" pitchFamily="34" charset="-122"/>
                <a:cs typeface="Courier New" pitchFamily="34" charset="-120"/>
              </a:rPr>
              <a:t>  ON juguetes.dueño_id = niños.id;</a:t>
            </a:r>
            <a:endParaRPr lang="en-US" sz="1300" dirty="0"/>
          </a:p>
        </p:txBody>
      </p:sp>
      <p:sp>
        <p:nvSpPr>
          <p:cNvPr id="8" name="Shape 6"/>
          <p:cNvSpPr/>
          <p:nvPr/>
        </p:nvSpPr>
        <p:spPr>
          <a:xfrm>
            <a:off x="6400800" y="1874520"/>
            <a:ext cx="5394960" cy="502920"/>
          </a:xfrm>
          <a:prstGeom prst="roundRect">
            <a:avLst>
              <a:gd name="adj" fmla="val 14545"/>
            </a:avLst>
          </a:prstGeom>
          <a:solidFill>
            <a:srgbClr val="1C7293"/>
          </a:solidFill>
          <a:ln/>
        </p:spPr>
      </p:sp>
      <p:sp>
        <p:nvSpPr>
          <p:cNvPr id="9" name="Text 7"/>
          <p:cNvSpPr/>
          <p:nvPr/>
        </p:nvSpPr>
        <p:spPr>
          <a:xfrm>
            <a:off x="6400800" y="1874520"/>
            <a:ext cx="539496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GROUP BY — agregar resultados</a:t>
            </a:r>
            <a:endParaRPr lang="en-US" sz="1400" dirty="0"/>
          </a:p>
        </p:txBody>
      </p:sp>
      <p:sp>
        <p:nvSpPr>
          <p:cNvPr id="10" name="Shape 8"/>
          <p:cNvSpPr/>
          <p:nvPr/>
        </p:nvSpPr>
        <p:spPr>
          <a:xfrm>
            <a:off x="6400800" y="2468880"/>
            <a:ext cx="5394960" cy="3108960"/>
          </a:xfrm>
          <a:prstGeom prst="roundRect">
            <a:avLst>
              <a:gd name="adj" fmla="val 2353"/>
            </a:avLst>
          </a:prstGeom>
          <a:solidFill>
            <a:srgbClr val="10152E"/>
          </a:solidFill>
          <a:ln w="12700">
            <a:solidFill>
              <a:srgbClr val="324066"/>
            </a:solidFill>
            <a:prstDash val="solid"/>
          </a:ln>
        </p:spPr>
      </p:sp>
      <p:sp>
        <p:nvSpPr>
          <p:cNvPr id="11" name="Text 9"/>
          <p:cNvSpPr/>
          <p:nvPr/>
        </p:nvSpPr>
        <p:spPr>
          <a:xfrm>
            <a:off x="6629400" y="2651760"/>
            <a:ext cx="4937760" cy="2743200"/>
          </a:xfrm>
          <a:prstGeom prst="rect">
            <a:avLst/>
          </a:prstGeom>
          <a:noFill/>
          <a:ln/>
        </p:spPr>
        <p:txBody>
          <a:bodyPr wrap="square" rtlCol="0" anchor="t"/>
          <a:lstStyle/>
          <a:p>
            <a:pPr indent="0" marL="0">
              <a:lnSpc>
                <a:spcPct val="120000"/>
              </a:lnSpc>
              <a:buNone/>
            </a:pPr>
            <a:r>
              <a:rPr lang="en-US" sz="1300" dirty="0">
                <a:solidFill>
                  <a:srgbClr val="CFEFE0"/>
                </a:solidFill>
                <a:latin typeface="Courier New" pitchFamily="34" charset="0"/>
                <a:ea typeface="Courier New" pitchFamily="34" charset="-122"/>
                <a:cs typeface="Courier New" pitchFamily="34" charset="-120"/>
              </a:rPr>
              <a:t>SELECT niños.nombre, COUNT(*) AS total</a:t>
            </a:r>
            <a:endParaRPr lang="en-US" sz="1300" dirty="0"/>
          </a:p>
          <a:p>
            <a:pPr indent="0" marL="0">
              <a:lnSpc>
                <a:spcPct val="120000"/>
              </a:lnSpc>
              <a:buNone/>
            </a:pPr>
            <a:r>
              <a:rPr lang="en-US" sz="1300" dirty="0">
                <a:solidFill>
                  <a:srgbClr val="CFEFE0"/>
                </a:solidFill>
                <a:latin typeface="Courier New" pitchFamily="34" charset="0"/>
                <a:ea typeface="Courier New" pitchFamily="34" charset="-122"/>
                <a:cs typeface="Courier New" pitchFamily="34" charset="-120"/>
              </a:rPr>
              <a:t>FROM niños</a:t>
            </a:r>
            <a:endParaRPr lang="en-US" sz="1300" dirty="0"/>
          </a:p>
          <a:p>
            <a:pPr indent="0" marL="0">
              <a:lnSpc>
                <a:spcPct val="120000"/>
              </a:lnSpc>
              <a:buNone/>
            </a:pPr>
            <a:r>
              <a:rPr lang="en-US" sz="1300" dirty="0">
                <a:solidFill>
                  <a:srgbClr val="CFEFE0"/>
                </a:solidFill>
                <a:latin typeface="Courier New" pitchFamily="34" charset="0"/>
                <a:ea typeface="Courier New" pitchFamily="34" charset="-122"/>
                <a:cs typeface="Courier New" pitchFamily="34" charset="-120"/>
              </a:rPr>
              <a:t>JOIN juguetes</a:t>
            </a:r>
            <a:endParaRPr lang="en-US" sz="1300" dirty="0"/>
          </a:p>
          <a:p>
            <a:pPr indent="0" marL="0">
              <a:lnSpc>
                <a:spcPct val="120000"/>
              </a:lnSpc>
              <a:buNone/>
            </a:pPr>
            <a:r>
              <a:rPr lang="en-US" sz="1300" dirty="0">
                <a:solidFill>
                  <a:srgbClr val="CFEFE0"/>
                </a:solidFill>
                <a:latin typeface="Courier New" pitchFamily="34" charset="0"/>
                <a:ea typeface="Courier New" pitchFamily="34" charset="-122"/>
                <a:cs typeface="Courier New" pitchFamily="34" charset="-120"/>
              </a:rPr>
              <a:t>  ON juguetes.dueño_id = niños.id</a:t>
            </a:r>
            <a:endParaRPr lang="en-US" sz="1300" dirty="0"/>
          </a:p>
          <a:p>
            <a:pPr indent="0" marL="0">
              <a:lnSpc>
                <a:spcPct val="120000"/>
              </a:lnSpc>
              <a:buNone/>
            </a:pPr>
            <a:r>
              <a:rPr lang="en-US" sz="1300" dirty="0">
                <a:solidFill>
                  <a:srgbClr val="CFEFE0"/>
                </a:solidFill>
                <a:latin typeface="Courier New" pitchFamily="34" charset="0"/>
                <a:ea typeface="Courier New" pitchFamily="34" charset="-122"/>
                <a:cs typeface="Courier New" pitchFamily="34" charset="-120"/>
              </a:rPr>
              <a:t>GROUP BY niños.nombre</a:t>
            </a:r>
            <a:endParaRPr lang="en-US" sz="1300" dirty="0"/>
          </a:p>
          <a:p>
            <a:pPr indent="0" marL="0">
              <a:lnSpc>
                <a:spcPct val="120000"/>
              </a:lnSpc>
              <a:buNone/>
            </a:pPr>
            <a:r>
              <a:rPr lang="en-US" sz="1300" dirty="0">
                <a:solidFill>
                  <a:srgbClr val="CFEFE0"/>
                </a:solidFill>
                <a:latin typeface="Courier New" pitchFamily="34" charset="0"/>
                <a:ea typeface="Courier New" pitchFamily="34" charset="-122"/>
                <a:cs typeface="Courier New" pitchFamily="34" charset="-120"/>
              </a:rPr>
              <a:t>HAVING COUNT(*) &gt; 1;</a:t>
            </a:r>
            <a:endParaRPr lang="en-US" sz="1300" dirty="0"/>
          </a:p>
        </p:txBody>
      </p:sp>
      <p:sp>
        <p:nvSpPr>
          <p:cNvPr id="12" name="Text 10"/>
          <p:cNvSpPr/>
          <p:nvPr/>
        </p:nvSpPr>
        <p:spPr>
          <a:xfrm>
            <a:off x="548640" y="5806440"/>
            <a:ext cx="11064240" cy="548640"/>
          </a:xfrm>
          <a:prstGeom prst="rect">
            <a:avLst/>
          </a:prstGeom>
          <a:noFill/>
          <a:ln/>
        </p:spPr>
        <p:txBody>
          <a:bodyPr wrap="square" rtlCol="0" anchor="ctr"/>
          <a:lstStyle/>
          <a:p>
            <a:pPr indent="0" marL="0">
              <a:buNone/>
            </a:pPr>
            <a:r>
              <a:rPr lang="en-US" sz="1250" dirty="0">
                <a:solidFill>
                  <a:srgbClr val="C9D6E3"/>
                </a:solidFill>
                <a:latin typeface="Calibri" pitchFamily="34" charset="0"/>
                <a:ea typeface="Calibri" pitchFamily="34" charset="-122"/>
                <a:cs typeface="Calibri" pitchFamily="34" charset="-120"/>
              </a:rPr>
              <a:t>JOIN conecta filas de dos tablas por su llave; GROUP BY + HAVING agrupa y filtra sobre esos grupos: aquí, los niños con más de un juguete.</a:t>
            </a:r>
            <a:endParaRPr lang="en-US" sz="1250" dirty="0"/>
          </a:p>
        </p:txBody>
      </p:sp>
      <p:sp>
        <p:nvSpPr>
          <p:cNvPr id="13" name="Text 11"/>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C9D6E3"/>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Tipos de JOIN: ¿cuál uso?</a:t>
            </a:r>
            <a:endParaRPr lang="en-US" sz="2800" dirty="0"/>
          </a:p>
        </p:txBody>
      </p:sp>
      <p:sp>
        <p:nvSpPr>
          <p:cNvPr id="3" name="Text 1"/>
          <p:cNvSpPr/>
          <p:nvPr/>
        </p:nvSpPr>
        <p:spPr>
          <a:xfrm>
            <a:off x="548640" y="1005840"/>
            <a:ext cx="10972800" cy="457200"/>
          </a:xfrm>
          <a:prstGeom prst="rect">
            <a:avLst/>
          </a:prstGeom>
          <a:noFill/>
          <a:ln/>
        </p:spPr>
        <p:txBody>
          <a:bodyPr wrap="square" rtlCol="0" anchor="ctr"/>
          <a:lstStyle/>
          <a:p>
            <a:pPr indent="0" marL="0">
              <a:buNone/>
            </a:pPr>
            <a:r>
              <a:rPr lang="en-US" sz="1400" i="1" dirty="0">
                <a:solidFill>
                  <a:srgbClr val="5B6B7A"/>
                </a:solidFill>
                <a:latin typeface="Calibri" pitchFamily="34" charset="0"/>
                <a:ea typeface="Calibri" pitchFamily="34" charset="-122"/>
                <a:cs typeface="Calibri" pitchFamily="34" charset="-120"/>
              </a:rPr>
              <a:t>Todos combinan dos tablas; lo que cambia es qué filas se quedan fuera cuando no hay pareja al otro lado.</a:t>
            </a:r>
            <a:endParaRPr lang="en-US" sz="1400" dirty="0"/>
          </a:p>
        </p:txBody>
      </p:sp>
      <p:sp>
        <p:nvSpPr>
          <p:cNvPr id="4" name="Shape 2"/>
          <p:cNvSpPr/>
          <p:nvPr/>
        </p:nvSpPr>
        <p:spPr>
          <a:xfrm>
            <a:off x="548640" y="1691640"/>
            <a:ext cx="5349240" cy="2148840"/>
          </a:xfrm>
          <a:prstGeom prst="roundRect">
            <a:avLst>
              <a:gd name="adj" fmla="val 4255"/>
            </a:avLst>
          </a:prstGeom>
          <a:solidFill>
            <a:srgbClr val="F4F7F9"/>
          </a:solidFill>
          <a:ln/>
        </p:spPr>
      </p:sp>
      <p:sp>
        <p:nvSpPr>
          <p:cNvPr id="5" name="Text 3"/>
          <p:cNvSpPr/>
          <p:nvPr/>
        </p:nvSpPr>
        <p:spPr>
          <a:xfrm>
            <a:off x="822960" y="1856232"/>
            <a:ext cx="4800600" cy="320040"/>
          </a:xfrm>
          <a:prstGeom prst="rect">
            <a:avLst/>
          </a:prstGeom>
          <a:noFill/>
          <a:ln/>
        </p:spPr>
        <p:txBody>
          <a:bodyPr wrap="square" rtlCol="0" anchor="ctr"/>
          <a:lstStyle/>
          <a:p>
            <a:pPr indent="0" marL="0">
              <a:buNone/>
            </a:pPr>
            <a:r>
              <a:rPr lang="en-US" sz="1400" b="1" dirty="0">
                <a:solidFill>
                  <a:srgbClr val="21295C"/>
                </a:solidFill>
                <a:latin typeface="Courier New" pitchFamily="34" charset="0"/>
                <a:ea typeface="Courier New" pitchFamily="34" charset="-122"/>
                <a:cs typeface="Courier New" pitchFamily="34" charset="-120"/>
              </a:rPr>
              <a:t>INNER JOIN</a:t>
            </a:r>
            <a:endParaRPr lang="en-US" sz="1400" dirty="0"/>
          </a:p>
        </p:txBody>
      </p:sp>
      <p:sp>
        <p:nvSpPr>
          <p:cNvPr id="6" name="Shape 4"/>
          <p:cNvSpPr/>
          <p:nvPr/>
        </p:nvSpPr>
        <p:spPr>
          <a:xfrm>
            <a:off x="822960" y="2258568"/>
            <a:ext cx="1600200" cy="502920"/>
          </a:xfrm>
          <a:prstGeom prst="rect">
            <a:avLst/>
          </a:prstGeom>
          <a:solidFill>
            <a:srgbClr val="E2E8EE"/>
          </a:solidFill>
          <a:ln/>
        </p:spPr>
      </p:sp>
      <p:sp>
        <p:nvSpPr>
          <p:cNvPr id="7" name="Shape 5"/>
          <p:cNvSpPr/>
          <p:nvPr/>
        </p:nvSpPr>
        <p:spPr>
          <a:xfrm>
            <a:off x="2423160" y="2258568"/>
            <a:ext cx="1600200" cy="502920"/>
          </a:xfrm>
          <a:prstGeom prst="rect">
            <a:avLst/>
          </a:prstGeom>
          <a:solidFill>
            <a:srgbClr val="065A82"/>
          </a:solidFill>
          <a:ln/>
        </p:spPr>
      </p:sp>
      <p:sp>
        <p:nvSpPr>
          <p:cNvPr id="8" name="Shape 6"/>
          <p:cNvSpPr/>
          <p:nvPr/>
        </p:nvSpPr>
        <p:spPr>
          <a:xfrm>
            <a:off x="4023360" y="2258568"/>
            <a:ext cx="1600200" cy="502920"/>
          </a:xfrm>
          <a:prstGeom prst="rect">
            <a:avLst/>
          </a:prstGeom>
          <a:solidFill>
            <a:srgbClr val="E2E8EE"/>
          </a:solidFill>
          <a:ln/>
        </p:spPr>
      </p:sp>
      <p:sp>
        <p:nvSpPr>
          <p:cNvPr id="9" name="Text 7"/>
          <p:cNvSpPr/>
          <p:nvPr/>
        </p:nvSpPr>
        <p:spPr>
          <a:xfrm>
            <a:off x="822960" y="2807208"/>
            <a:ext cx="1600200" cy="274320"/>
          </a:xfrm>
          <a:prstGeom prst="rect">
            <a:avLst/>
          </a:prstGeom>
          <a:noFill/>
          <a:ln/>
        </p:spPr>
        <p:txBody>
          <a:bodyPr wrap="square" rtlCol="0" anchor="ctr"/>
          <a:lstStyle/>
          <a:p>
            <a:pPr algn="l" indent="0" marL="0">
              <a:buNone/>
            </a:pPr>
            <a:r>
              <a:rPr lang="en-US" sz="900" dirty="0">
                <a:solidFill>
                  <a:srgbClr val="5B6B7A"/>
                </a:solidFill>
                <a:latin typeface="Calibri" pitchFamily="34" charset="0"/>
                <a:ea typeface="Calibri" pitchFamily="34" charset="-122"/>
                <a:cs typeface="Calibri" pitchFamily="34" charset="-120"/>
              </a:rPr>
              <a:t>Tabla A</a:t>
            </a:r>
            <a:endParaRPr lang="en-US" sz="900" dirty="0"/>
          </a:p>
        </p:txBody>
      </p:sp>
      <p:sp>
        <p:nvSpPr>
          <p:cNvPr id="10" name="Text 8"/>
          <p:cNvSpPr/>
          <p:nvPr/>
        </p:nvSpPr>
        <p:spPr>
          <a:xfrm>
            <a:off x="4023360" y="2807208"/>
            <a:ext cx="1600200" cy="274320"/>
          </a:xfrm>
          <a:prstGeom prst="rect">
            <a:avLst/>
          </a:prstGeom>
          <a:noFill/>
          <a:ln/>
        </p:spPr>
        <p:txBody>
          <a:bodyPr wrap="square" rtlCol="0" anchor="ctr"/>
          <a:lstStyle/>
          <a:p>
            <a:pPr algn="r" indent="0" marL="0">
              <a:buNone/>
            </a:pPr>
            <a:r>
              <a:rPr lang="en-US" sz="900" dirty="0">
                <a:solidFill>
                  <a:srgbClr val="5B6B7A"/>
                </a:solidFill>
                <a:latin typeface="Calibri" pitchFamily="34" charset="0"/>
                <a:ea typeface="Calibri" pitchFamily="34" charset="-122"/>
                <a:cs typeface="Calibri" pitchFamily="34" charset="-120"/>
              </a:rPr>
              <a:t>Tabla B</a:t>
            </a:r>
            <a:endParaRPr lang="en-US" sz="900" dirty="0"/>
          </a:p>
        </p:txBody>
      </p:sp>
      <p:sp>
        <p:nvSpPr>
          <p:cNvPr id="11" name="Text 9"/>
          <p:cNvSpPr/>
          <p:nvPr/>
        </p:nvSpPr>
        <p:spPr>
          <a:xfrm>
            <a:off x="822960" y="2926080"/>
            <a:ext cx="4800600" cy="411480"/>
          </a:xfrm>
          <a:prstGeom prst="rect">
            <a:avLst/>
          </a:prstGeom>
          <a:noFill/>
          <a:ln/>
        </p:spPr>
        <p:txBody>
          <a:bodyPr wrap="square" rtlCol="0" anchor="t"/>
          <a:lstStyle/>
          <a:p>
            <a:pPr indent="0" marL="0">
              <a:buNone/>
            </a:pPr>
            <a:r>
              <a:rPr lang="en-US" sz="1150" b="1" dirty="0">
                <a:solidFill>
                  <a:srgbClr val="2E3B47"/>
                </a:solidFill>
                <a:latin typeface="Calibri" pitchFamily="34" charset="0"/>
                <a:ea typeface="Calibri" pitchFamily="34" charset="-122"/>
                <a:cs typeface="Calibri" pitchFamily="34" charset="-120"/>
              </a:rPr>
              <a:t>Solo las filas que coinciden en ambas tablas.</a:t>
            </a:r>
            <a:endParaRPr lang="en-US" sz="1150" dirty="0"/>
          </a:p>
        </p:txBody>
      </p:sp>
      <p:sp>
        <p:nvSpPr>
          <p:cNvPr id="12" name="Text 10"/>
          <p:cNvSpPr/>
          <p:nvPr/>
        </p:nvSpPr>
        <p:spPr>
          <a:xfrm>
            <a:off x="822960" y="3319272"/>
            <a:ext cx="4800600" cy="457200"/>
          </a:xfrm>
          <a:prstGeom prst="rect">
            <a:avLst/>
          </a:prstGeom>
          <a:noFill/>
          <a:ln/>
        </p:spPr>
        <p:txBody>
          <a:bodyPr wrap="square" rtlCol="0" anchor="t"/>
          <a:lstStyle/>
          <a:p>
            <a:pPr indent="0" marL="0">
              <a:buNone/>
            </a:pPr>
            <a:r>
              <a:rPr lang="en-US" sz="1050" i="1" dirty="0">
                <a:solidFill>
                  <a:srgbClr val="5B6B7A"/>
                </a:solidFill>
                <a:latin typeface="Calibri" pitchFamily="34" charset="0"/>
                <a:ea typeface="Calibri" pitchFamily="34" charset="-122"/>
                <a:cs typeface="Calibri" pitchFamily="34" charset="-120"/>
              </a:rPr>
              <a:t>Cuando solo te interesa lo que sí tiene relación (ej. pedidos que sí tienen cliente asignado).</a:t>
            </a:r>
            <a:endParaRPr lang="en-US" sz="1050" dirty="0"/>
          </a:p>
        </p:txBody>
      </p:sp>
      <p:sp>
        <p:nvSpPr>
          <p:cNvPr id="13" name="Shape 11"/>
          <p:cNvSpPr/>
          <p:nvPr/>
        </p:nvSpPr>
        <p:spPr>
          <a:xfrm>
            <a:off x="6172200" y="1691640"/>
            <a:ext cx="5349240" cy="2148840"/>
          </a:xfrm>
          <a:prstGeom prst="roundRect">
            <a:avLst>
              <a:gd name="adj" fmla="val 4255"/>
            </a:avLst>
          </a:prstGeom>
          <a:solidFill>
            <a:srgbClr val="F4F7F9"/>
          </a:solidFill>
          <a:ln/>
        </p:spPr>
      </p:sp>
      <p:sp>
        <p:nvSpPr>
          <p:cNvPr id="14" name="Text 12"/>
          <p:cNvSpPr/>
          <p:nvPr/>
        </p:nvSpPr>
        <p:spPr>
          <a:xfrm>
            <a:off x="6446520" y="1856232"/>
            <a:ext cx="4800600" cy="320040"/>
          </a:xfrm>
          <a:prstGeom prst="rect">
            <a:avLst/>
          </a:prstGeom>
          <a:noFill/>
          <a:ln/>
        </p:spPr>
        <p:txBody>
          <a:bodyPr wrap="square" rtlCol="0" anchor="ctr"/>
          <a:lstStyle/>
          <a:p>
            <a:pPr indent="0" marL="0">
              <a:buNone/>
            </a:pPr>
            <a:r>
              <a:rPr lang="en-US" sz="1400" b="1" dirty="0">
                <a:solidFill>
                  <a:srgbClr val="21295C"/>
                </a:solidFill>
                <a:latin typeface="Courier New" pitchFamily="34" charset="0"/>
                <a:ea typeface="Courier New" pitchFamily="34" charset="-122"/>
                <a:cs typeface="Courier New" pitchFamily="34" charset="-120"/>
              </a:rPr>
              <a:t>LEFT JOIN</a:t>
            </a:r>
            <a:endParaRPr lang="en-US" sz="1400" dirty="0"/>
          </a:p>
        </p:txBody>
      </p:sp>
      <p:sp>
        <p:nvSpPr>
          <p:cNvPr id="15" name="Shape 13"/>
          <p:cNvSpPr/>
          <p:nvPr/>
        </p:nvSpPr>
        <p:spPr>
          <a:xfrm>
            <a:off x="6446520" y="2258568"/>
            <a:ext cx="1600200" cy="502920"/>
          </a:xfrm>
          <a:prstGeom prst="rect">
            <a:avLst/>
          </a:prstGeom>
          <a:solidFill>
            <a:srgbClr val="065A82"/>
          </a:solidFill>
          <a:ln/>
        </p:spPr>
      </p:sp>
      <p:sp>
        <p:nvSpPr>
          <p:cNvPr id="16" name="Shape 14"/>
          <p:cNvSpPr/>
          <p:nvPr/>
        </p:nvSpPr>
        <p:spPr>
          <a:xfrm>
            <a:off x="8046720" y="2258568"/>
            <a:ext cx="1600200" cy="502920"/>
          </a:xfrm>
          <a:prstGeom prst="rect">
            <a:avLst/>
          </a:prstGeom>
          <a:solidFill>
            <a:srgbClr val="065A82"/>
          </a:solidFill>
          <a:ln/>
        </p:spPr>
      </p:sp>
      <p:sp>
        <p:nvSpPr>
          <p:cNvPr id="17" name="Shape 15"/>
          <p:cNvSpPr/>
          <p:nvPr/>
        </p:nvSpPr>
        <p:spPr>
          <a:xfrm>
            <a:off x="9646920" y="2258568"/>
            <a:ext cx="1600200" cy="502920"/>
          </a:xfrm>
          <a:prstGeom prst="rect">
            <a:avLst/>
          </a:prstGeom>
          <a:solidFill>
            <a:srgbClr val="E2E8EE"/>
          </a:solidFill>
          <a:ln/>
        </p:spPr>
      </p:sp>
      <p:sp>
        <p:nvSpPr>
          <p:cNvPr id="18" name="Text 16"/>
          <p:cNvSpPr/>
          <p:nvPr/>
        </p:nvSpPr>
        <p:spPr>
          <a:xfrm>
            <a:off x="6446520" y="2807208"/>
            <a:ext cx="1600200" cy="274320"/>
          </a:xfrm>
          <a:prstGeom prst="rect">
            <a:avLst/>
          </a:prstGeom>
          <a:noFill/>
          <a:ln/>
        </p:spPr>
        <p:txBody>
          <a:bodyPr wrap="square" rtlCol="0" anchor="ctr"/>
          <a:lstStyle/>
          <a:p>
            <a:pPr algn="l" indent="0" marL="0">
              <a:buNone/>
            </a:pPr>
            <a:r>
              <a:rPr lang="en-US" sz="900" dirty="0">
                <a:solidFill>
                  <a:srgbClr val="5B6B7A"/>
                </a:solidFill>
                <a:latin typeface="Calibri" pitchFamily="34" charset="0"/>
                <a:ea typeface="Calibri" pitchFamily="34" charset="-122"/>
                <a:cs typeface="Calibri" pitchFamily="34" charset="-120"/>
              </a:rPr>
              <a:t>Tabla A</a:t>
            </a:r>
            <a:endParaRPr lang="en-US" sz="900" dirty="0"/>
          </a:p>
        </p:txBody>
      </p:sp>
      <p:sp>
        <p:nvSpPr>
          <p:cNvPr id="19" name="Text 17"/>
          <p:cNvSpPr/>
          <p:nvPr/>
        </p:nvSpPr>
        <p:spPr>
          <a:xfrm>
            <a:off x="9646920" y="2807208"/>
            <a:ext cx="1600200" cy="274320"/>
          </a:xfrm>
          <a:prstGeom prst="rect">
            <a:avLst/>
          </a:prstGeom>
          <a:noFill/>
          <a:ln/>
        </p:spPr>
        <p:txBody>
          <a:bodyPr wrap="square" rtlCol="0" anchor="ctr"/>
          <a:lstStyle/>
          <a:p>
            <a:pPr algn="r" indent="0" marL="0">
              <a:buNone/>
            </a:pPr>
            <a:r>
              <a:rPr lang="en-US" sz="900" dirty="0">
                <a:solidFill>
                  <a:srgbClr val="5B6B7A"/>
                </a:solidFill>
                <a:latin typeface="Calibri" pitchFamily="34" charset="0"/>
                <a:ea typeface="Calibri" pitchFamily="34" charset="-122"/>
                <a:cs typeface="Calibri" pitchFamily="34" charset="-120"/>
              </a:rPr>
              <a:t>Tabla B</a:t>
            </a:r>
            <a:endParaRPr lang="en-US" sz="900" dirty="0"/>
          </a:p>
        </p:txBody>
      </p:sp>
      <p:sp>
        <p:nvSpPr>
          <p:cNvPr id="20" name="Text 18"/>
          <p:cNvSpPr/>
          <p:nvPr/>
        </p:nvSpPr>
        <p:spPr>
          <a:xfrm>
            <a:off x="6446520" y="2926080"/>
            <a:ext cx="4800600" cy="411480"/>
          </a:xfrm>
          <a:prstGeom prst="rect">
            <a:avLst/>
          </a:prstGeom>
          <a:noFill/>
          <a:ln/>
        </p:spPr>
        <p:txBody>
          <a:bodyPr wrap="square" rtlCol="0" anchor="t"/>
          <a:lstStyle/>
          <a:p>
            <a:pPr indent="0" marL="0">
              <a:buNone/>
            </a:pPr>
            <a:r>
              <a:rPr lang="en-US" sz="1150" b="1" dirty="0">
                <a:solidFill>
                  <a:srgbClr val="2E3B47"/>
                </a:solidFill>
                <a:latin typeface="Calibri" pitchFamily="34" charset="0"/>
                <a:ea typeface="Calibri" pitchFamily="34" charset="-122"/>
                <a:cs typeface="Calibri" pitchFamily="34" charset="-120"/>
              </a:rPr>
              <a:t>Todas las filas de la tabla izquierda, tengan o no pareja a la derecha.</a:t>
            </a:r>
            <a:endParaRPr lang="en-US" sz="1150" dirty="0"/>
          </a:p>
        </p:txBody>
      </p:sp>
      <p:sp>
        <p:nvSpPr>
          <p:cNvPr id="21" name="Text 19"/>
          <p:cNvSpPr/>
          <p:nvPr/>
        </p:nvSpPr>
        <p:spPr>
          <a:xfrm>
            <a:off x="6446520" y="3319272"/>
            <a:ext cx="4800600" cy="457200"/>
          </a:xfrm>
          <a:prstGeom prst="rect">
            <a:avLst/>
          </a:prstGeom>
          <a:noFill/>
          <a:ln/>
        </p:spPr>
        <p:txBody>
          <a:bodyPr wrap="square" rtlCol="0" anchor="t"/>
          <a:lstStyle/>
          <a:p>
            <a:pPr indent="0" marL="0">
              <a:buNone/>
            </a:pPr>
            <a:r>
              <a:rPr lang="en-US" sz="1050" i="1" dirty="0">
                <a:solidFill>
                  <a:srgbClr val="5B6B7A"/>
                </a:solidFill>
                <a:latin typeface="Calibri" pitchFamily="34" charset="0"/>
                <a:ea typeface="Calibri" pitchFamily="34" charset="-122"/>
                <a:cs typeface="Calibri" pitchFamily="34" charset="-120"/>
              </a:rPr>
              <a:t>Para ver todo de tu tabla principal, aunque le falte información relacionada (ej. todos los clientes, incluso sin pedidos).</a:t>
            </a:r>
            <a:endParaRPr lang="en-US" sz="1050" dirty="0"/>
          </a:p>
        </p:txBody>
      </p:sp>
      <p:sp>
        <p:nvSpPr>
          <p:cNvPr id="22" name="Shape 20"/>
          <p:cNvSpPr/>
          <p:nvPr/>
        </p:nvSpPr>
        <p:spPr>
          <a:xfrm>
            <a:off x="548640" y="4023360"/>
            <a:ext cx="5349240" cy="2148840"/>
          </a:xfrm>
          <a:prstGeom prst="roundRect">
            <a:avLst>
              <a:gd name="adj" fmla="val 4255"/>
            </a:avLst>
          </a:prstGeom>
          <a:solidFill>
            <a:srgbClr val="F4F7F9"/>
          </a:solidFill>
          <a:ln/>
        </p:spPr>
      </p:sp>
      <p:sp>
        <p:nvSpPr>
          <p:cNvPr id="23" name="Text 21"/>
          <p:cNvSpPr/>
          <p:nvPr/>
        </p:nvSpPr>
        <p:spPr>
          <a:xfrm>
            <a:off x="822960" y="4187952"/>
            <a:ext cx="4800600" cy="320040"/>
          </a:xfrm>
          <a:prstGeom prst="rect">
            <a:avLst/>
          </a:prstGeom>
          <a:noFill/>
          <a:ln/>
        </p:spPr>
        <p:txBody>
          <a:bodyPr wrap="square" rtlCol="0" anchor="ctr"/>
          <a:lstStyle/>
          <a:p>
            <a:pPr indent="0" marL="0">
              <a:buNone/>
            </a:pPr>
            <a:r>
              <a:rPr lang="en-US" sz="1400" b="1" dirty="0">
                <a:solidFill>
                  <a:srgbClr val="21295C"/>
                </a:solidFill>
                <a:latin typeface="Courier New" pitchFamily="34" charset="0"/>
                <a:ea typeface="Courier New" pitchFamily="34" charset="-122"/>
                <a:cs typeface="Courier New" pitchFamily="34" charset="-120"/>
              </a:rPr>
              <a:t>RIGHT JOIN</a:t>
            </a:r>
            <a:endParaRPr lang="en-US" sz="1400" dirty="0"/>
          </a:p>
        </p:txBody>
      </p:sp>
      <p:sp>
        <p:nvSpPr>
          <p:cNvPr id="24" name="Shape 22"/>
          <p:cNvSpPr/>
          <p:nvPr/>
        </p:nvSpPr>
        <p:spPr>
          <a:xfrm>
            <a:off x="822960" y="4590288"/>
            <a:ext cx="1600200" cy="502920"/>
          </a:xfrm>
          <a:prstGeom prst="rect">
            <a:avLst/>
          </a:prstGeom>
          <a:solidFill>
            <a:srgbClr val="E2E8EE"/>
          </a:solidFill>
          <a:ln/>
        </p:spPr>
      </p:sp>
      <p:sp>
        <p:nvSpPr>
          <p:cNvPr id="25" name="Shape 23"/>
          <p:cNvSpPr/>
          <p:nvPr/>
        </p:nvSpPr>
        <p:spPr>
          <a:xfrm>
            <a:off x="2423160" y="4590288"/>
            <a:ext cx="1600200" cy="502920"/>
          </a:xfrm>
          <a:prstGeom prst="rect">
            <a:avLst/>
          </a:prstGeom>
          <a:solidFill>
            <a:srgbClr val="065A82"/>
          </a:solidFill>
          <a:ln/>
        </p:spPr>
      </p:sp>
      <p:sp>
        <p:nvSpPr>
          <p:cNvPr id="26" name="Shape 24"/>
          <p:cNvSpPr/>
          <p:nvPr/>
        </p:nvSpPr>
        <p:spPr>
          <a:xfrm>
            <a:off x="4023360" y="4590288"/>
            <a:ext cx="1600200" cy="502920"/>
          </a:xfrm>
          <a:prstGeom prst="rect">
            <a:avLst/>
          </a:prstGeom>
          <a:solidFill>
            <a:srgbClr val="065A82"/>
          </a:solidFill>
          <a:ln/>
        </p:spPr>
      </p:sp>
      <p:sp>
        <p:nvSpPr>
          <p:cNvPr id="27" name="Text 25"/>
          <p:cNvSpPr/>
          <p:nvPr/>
        </p:nvSpPr>
        <p:spPr>
          <a:xfrm>
            <a:off x="822960" y="5138928"/>
            <a:ext cx="1600200" cy="274320"/>
          </a:xfrm>
          <a:prstGeom prst="rect">
            <a:avLst/>
          </a:prstGeom>
          <a:noFill/>
          <a:ln/>
        </p:spPr>
        <p:txBody>
          <a:bodyPr wrap="square" rtlCol="0" anchor="ctr"/>
          <a:lstStyle/>
          <a:p>
            <a:pPr algn="l" indent="0" marL="0">
              <a:buNone/>
            </a:pPr>
            <a:r>
              <a:rPr lang="en-US" sz="900" dirty="0">
                <a:solidFill>
                  <a:srgbClr val="5B6B7A"/>
                </a:solidFill>
                <a:latin typeface="Calibri" pitchFamily="34" charset="0"/>
                <a:ea typeface="Calibri" pitchFamily="34" charset="-122"/>
                <a:cs typeface="Calibri" pitchFamily="34" charset="-120"/>
              </a:rPr>
              <a:t>Tabla A</a:t>
            </a:r>
            <a:endParaRPr lang="en-US" sz="900" dirty="0"/>
          </a:p>
        </p:txBody>
      </p:sp>
      <p:sp>
        <p:nvSpPr>
          <p:cNvPr id="28" name="Text 26"/>
          <p:cNvSpPr/>
          <p:nvPr/>
        </p:nvSpPr>
        <p:spPr>
          <a:xfrm>
            <a:off x="4023360" y="5138928"/>
            <a:ext cx="1600200" cy="274320"/>
          </a:xfrm>
          <a:prstGeom prst="rect">
            <a:avLst/>
          </a:prstGeom>
          <a:noFill/>
          <a:ln/>
        </p:spPr>
        <p:txBody>
          <a:bodyPr wrap="square" rtlCol="0" anchor="ctr"/>
          <a:lstStyle/>
          <a:p>
            <a:pPr algn="r" indent="0" marL="0">
              <a:buNone/>
            </a:pPr>
            <a:r>
              <a:rPr lang="en-US" sz="900" dirty="0">
                <a:solidFill>
                  <a:srgbClr val="5B6B7A"/>
                </a:solidFill>
                <a:latin typeface="Calibri" pitchFamily="34" charset="0"/>
                <a:ea typeface="Calibri" pitchFamily="34" charset="-122"/>
                <a:cs typeface="Calibri" pitchFamily="34" charset="-120"/>
              </a:rPr>
              <a:t>Tabla B</a:t>
            </a:r>
            <a:endParaRPr lang="en-US" sz="900" dirty="0"/>
          </a:p>
        </p:txBody>
      </p:sp>
      <p:sp>
        <p:nvSpPr>
          <p:cNvPr id="29" name="Text 27"/>
          <p:cNvSpPr/>
          <p:nvPr/>
        </p:nvSpPr>
        <p:spPr>
          <a:xfrm>
            <a:off x="822960" y="5257800"/>
            <a:ext cx="4800600" cy="411480"/>
          </a:xfrm>
          <a:prstGeom prst="rect">
            <a:avLst/>
          </a:prstGeom>
          <a:noFill/>
          <a:ln/>
        </p:spPr>
        <p:txBody>
          <a:bodyPr wrap="square" rtlCol="0" anchor="t"/>
          <a:lstStyle/>
          <a:p>
            <a:pPr indent="0" marL="0">
              <a:buNone/>
            </a:pPr>
            <a:r>
              <a:rPr lang="en-US" sz="1150" b="1" dirty="0">
                <a:solidFill>
                  <a:srgbClr val="2E3B47"/>
                </a:solidFill>
                <a:latin typeface="Calibri" pitchFamily="34" charset="0"/>
                <a:ea typeface="Calibri" pitchFamily="34" charset="-122"/>
                <a:cs typeface="Calibri" pitchFamily="34" charset="-120"/>
              </a:rPr>
              <a:t>Todas las filas de la tabla derecha, tengan o no pareja a la izquierda.</a:t>
            </a:r>
            <a:endParaRPr lang="en-US" sz="1150" dirty="0"/>
          </a:p>
        </p:txBody>
      </p:sp>
      <p:sp>
        <p:nvSpPr>
          <p:cNvPr id="30" name="Text 28"/>
          <p:cNvSpPr/>
          <p:nvPr/>
        </p:nvSpPr>
        <p:spPr>
          <a:xfrm>
            <a:off x="822960" y="5650992"/>
            <a:ext cx="4800600" cy="457200"/>
          </a:xfrm>
          <a:prstGeom prst="rect">
            <a:avLst/>
          </a:prstGeom>
          <a:noFill/>
          <a:ln/>
        </p:spPr>
        <p:txBody>
          <a:bodyPr wrap="square" rtlCol="0" anchor="t"/>
          <a:lstStyle/>
          <a:p>
            <a:pPr indent="0" marL="0">
              <a:buNone/>
            </a:pPr>
            <a:r>
              <a:rPr lang="en-US" sz="1050" i="1" dirty="0">
                <a:solidFill>
                  <a:srgbClr val="5B6B7A"/>
                </a:solidFill>
                <a:latin typeface="Calibri" pitchFamily="34" charset="0"/>
                <a:ea typeface="Calibri" pitchFamily="34" charset="-122"/>
                <a:cs typeface="Calibri" pitchFamily="34" charset="-120"/>
              </a:rPr>
              <a:t>Lo mismo que LEFT JOIN visto desde el otro lado; en la práctica casi siempre se reescribe como LEFT JOIN cambiando el orden de las tablas.</a:t>
            </a:r>
            <a:endParaRPr lang="en-US" sz="1050" dirty="0"/>
          </a:p>
        </p:txBody>
      </p:sp>
      <p:sp>
        <p:nvSpPr>
          <p:cNvPr id="31" name="Shape 29"/>
          <p:cNvSpPr/>
          <p:nvPr/>
        </p:nvSpPr>
        <p:spPr>
          <a:xfrm>
            <a:off x="6172200" y="4023360"/>
            <a:ext cx="5349240" cy="2148840"/>
          </a:xfrm>
          <a:prstGeom prst="roundRect">
            <a:avLst>
              <a:gd name="adj" fmla="val 4255"/>
            </a:avLst>
          </a:prstGeom>
          <a:solidFill>
            <a:srgbClr val="F4F7F9"/>
          </a:solidFill>
          <a:ln/>
        </p:spPr>
      </p:sp>
      <p:sp>
        <p:nvSpPr>
          <p:cNvPr id="32" name="Text 30"/>
          <p:cNvSpPr/>
          <p:nvPr/>
        </p:nvSpPr>
        <p:spPr>
          <a:xfrm>
            <a:off x="6446520" y="4187952"/>
            <a:ext cx="4800600" cy="320040"/>
          </a:xfrm>
          <a:prstGeom prst="rect">
            <a:avLst/>
          </a:prstGeom>
          <a:noFill/>
          <a:ln/>
        </p:spPr>
        <p:txBody>
          <a:bodyPr wrap="square" rtlCol="0" anchor="ctr"/>
          <a:lstStyle/>
          <a:p>
            <a:pPr indent="0" marL="0">
              <a:buNone/>
            </a:pPr>
            <a:r>
              <a:rPr lang="en-US" sz="1400" b="1" dirty="0">
                <a:solidFill>
                  <a:srgbClr val="21295C"/>
                </a:solidFill>
                <a:latin typeface="Courier New" pitchFamily="34" charset="0"/>
                <a:ea typeface="Courier New" pitchFamily="34" charset="-122"/>
                <a:cs typeface="Courier New" pitchFamily="34" charset="-120"/>
              </a:rPr>
              <a:t>FULL OUTER JOIN</a:t>
            </a:r>
            <a:endParaRPr lang="en-US" sz="1400" dirty="0"/>
          </a:p>
        </p:txBody>
      </p:sp>
      <p:sp>
        <p:nvSpPr>
          <p:cNvPr id="33" name="Shape 31"/>
          <p:cNvSpPr/>
          <p:nvPr/>
        </p:nvSpPr>
        <p:spPr>
          <a:xfrm>
            <a:off x="6446520" y="4590288"/>
            <a:ext cx="1600200" cy="502920"/>
          </a:xfrm>
          <a:prstGeom prst="rect">
            <a:avLst/>
          </a:prstGeom>
          <a:solidFill>
            <a:srgbClr val="065A82"/>
          </a:solidFill>
          <a:ln/>
        </p:spPr>
      </p:sp>
      <p:sp>
        <p:nvSpPr>
          <p:cNvPr id="34" name="Shape 32"/>
          <p:cNvSpPr/>
          <p:nvPr/>
        </p:nvSpPr>
        <p:spPr>
          <a:xfrm>
            <a:off x="8046720" y="4590288"/>
            <a:ext cx="1600200" cy="502920"/>
          </a:xfrm>
          <a:prstGeom prst="rect">
            <a:avLst/>
          </a:prstGeom>
          <a:solidFill>
            <a:srgbClr val="065A82"/>
          </a:solidFill>
          <a:ln/>
        </p:spPr>
      </p:sp>
      <p:sp>
        <p:nvSpPr>
          <p:cNvPr id="35" name="Shape 33"/>
          <p:cNvSpPr/>
          <p:nvPr/>
        </p:nvSpPr>
        <p:spPr>
          <a:xfrm>
            <a:off x="9646920" y="4590288"/>
            <a:ext cx="1600200" cy="502920"/>
          </a:xfrm>
          <a:prstGeom prst="rect">
            <a:avLst/>
          </a:prstGeom>
          <a:solidFill>
            <a:srgbClr val="065A82"/>
          </a:solidFill>
          <a:ln/>
        </p:spPr>
      </p:sp>
      <p:sp>
        <p:nvSpPr>
          <p:cNvPr id="36" name="Text 34"/>
          <p:cNvSpPr/>
          <p:nvPr/>
        </p:nvSpPr>
        <p:spPr>
          <a:xfrm>
            <a:off x="6446520" y="5138928"/>
            <a:ext cx="1600200" cy="274320"/>
          </a:xfrm>
          <a:prstGeom prst="rect">
            <a:avLst/>
          </a:prstGeom>
          <a:noFill/>
          <a:ln/>
        </p:spPr>
        <p:txBody>
          <a:bodyPr wrap="square" rtlCol="0" anchor="ctr"/>
          <a:lstStyle/>
          <a:p>
            <a:pPr algn="l" indent="0" marL="0">
              <a:buNone/>
            </a:pPr>
            <a:r>
              <a:rPr lang="en-US" sz="900" dirty="0">
                <a:solidFill>
                  <a:srgbClr val="5B6B7A"/>
                </a:solidFill>
                <a:latin typeface="Calibri" pitchFamily="34" charset="0"/>
                <a:ea typeface="Calibri" pitchFamily="34" charset="-122"/>
                <a:cs typeface="Calibri" pitchFamily="34" charset="-120"/>
              </a:rPr>
              <a:t>Tabla A</a:t>
            </a:r>
            <a:endParaRPr lang="en-US" sz="900" dirty="0"/>
          </a:p>
        </p:txBody>
      </p:sp>
      <p:sp>
        <p:nvSpPr>
          <p:cNvPr id="37" name="Text 35"/>
          <p:cNvSpPr/>
          <p:nvPr/>
        </p:nvSpPr>
        <p:spPr>
          <a:xfrm>
            <a:off x="9646920" y="5138928"/>
            <a:ext cx="1600200" cy="274320"/>
          </a:xfrm>
          <a:prstGeom prst="rect">
            <a:avLst/>
          </a:prstGeom>
          <a:noFill/>
          <a:ln/>
        </p:spPr>
        <p:txBody>
          <a:bodyPr wrap="square" rtlCol="0" anchor="ctr"/>
          <a:lstStyle/>
          <a:p>
            <a:pPr algn="r" indent="0" marL="0">
              <a:buNone/>
            </a:pPr>
            <a:r>
              <a:rPr lang="en-US" sz="900" dirty="0">
                <a:solidFill>
                  <a:srgbClr val="5B6B7A"/>
                </a:solidFill>
                <a:latin typeface="Calibri" pitchFamily="34" charset="0"/>
                <a:ea typeface="Calibri" pitchFamily="34" charset="-122"/>
                <a:cs typeface="Calibri" pitchFamily="34" charset="-120"/>
              </a:rPr>
              <a:t>Tabla B</a:t>
            </a:r>
            <a:endParaRPr lang="en-US" sz="900" dirty="0"/>
          </a:p>
        </p:txBody>
      </p:sp>
      <p:sp>
        <p:nvSpPr>
          <p:cNvPr id="38" name="Text 36"/>
          <p:cNvSpPr/>
          <p:nvPr/>
        </p:nvSpPr>
        <p:spPr>
          <a:xfrm>
            <a:off x="6446520" y="5257800"/>
            <a:ext cx="4800600" cy="411480"/>
          </a:xfrm>
          <a:prstGeom prst="rect">
            <a:avLst/>
          </a:prstGeom>
          <a:noFill/>
          <a:ln/>
        </p:spPr>
        <p:txBody>
          <a:bodyPr wrap="square" rtlCol="0" anchor="t"/>
          <a:lstStyle/>
          <a:p>
            <a:pPr indent="0" marL="0">
              <a:buNone/>
            </a:pPr>
            <a:r>
              <a:rPr lang="en-US" sz="1150" b="1" dirty="0">
                <a:solidFill>
                  <a:srgbClr val="2E3B47"/>
                </a:solidFill>
                <a:latin typeface="Calibri" pitchFamily="34" charset="0"/>
                <a:ea typeface="Calibri" pitchFamily="34" charset="-122"/>
                <a:cs typeface="Calibri" pitchFamily="34" charset="-120"/>
              </a:rPr>
              <a:t>Todas las filas de ambas tablas, coincidan o no.</a:t>
            </a:r>
            <a:endParaRPr lang="en-US" sz="1150" dirty="0"/>
          </a:p>
        </p:txBody>
      </p:sp>
      <p:sp>
        <p:nvSpPr>
          <p:cNvPr id="39" name="Text 37"/>
          <p:cNvSpPr/>
          <p:nvPr/>
        </p:nvSpPr>
        <p:spPr>
          <a:xfrm>
            <a:off x="6446520" y="5650992"/>
            <a:ext cx="4800600" cy="457200"/>
          </a:xfrm>
          <a:prstGeom prst="rect">
            <a:avLst/>
          </a:prstGeom>
          <a:noFill/>
          <a:ln/>
        </p:spPr>
        <p:txBody>
          <a:bodyPr wrap="square" rtlCol="0" anchor="t"/>
          <a:lstStyle/>
          <a:p>
            <a:pPr indent="0" marL="0">
              <a:buNone/>
            </a:pPr>
            <a:r>
              <a:rPr lang="en-US" sz="1050" i="1" dirty="0">
                <a:solidFill>
                  <a:srgbClr val="5B6B7A"/>
                </a:solidFill>
                <a:latin typeface="Calibri" pitchFamily="34" charset="0"/>
                <a:ea typeface="Calibri" pitchFamily="34" charset="-122"/>
                <a:cs typeface="Calibri" pitchFamily="34" charset="-120"/>
              </a:rPr>
              <a:t>Para detectar a la vez huecos en los dos sentidos (ej. clientes sin pedidos y pedidos sin cliente).</a:t>
            </a:r>
            <a:endParaRPr lang="en-US" sz="1050" dirty="0"/>
          </a:p>
        </p:txBody>
      </p:sp>
      <p:sp>
        <p:nvSpPr>
          <p:cNvPr id="40" name="Text 38"/>
          <p:cNvSpPr/>
          <p:nvPr/>
        </p:nvSpPr>
        <p:spPr>
          <a:xfrm>
            <a:off x="457200" y="6537960"/>
            <a:ext cx="7315200" cy="274320"/>
          </a:xfrm>
          <a:prstGeom prst="rect">
            <a:avLst/>
          </a:prstGeom>
          <a:noFill/>
          <a:ln/>
        </p:spPr>
        <p:txBody>
          <a:bodyPr wrap="square" rtlCol="0" anchor="ctr"/>
          <a:lstStyle/>
          <a:p>
            <a:pPr algn="l" indent="0" marL="0">
              <a:buNone/>
            </a:pPr>
            <a:r>
              <a:rPr lang="en-US" sz="1000" dirty="0">
                <a:solidFill>
                  <a:srgbClr val="5B6B7A"/>
                </a:solidFill>
                <a:latin typeface="Calibri" pitchFamily="34" charset="0"/>
                <a:ea typeface="Calibri" pitchFamily="34" charset="-122"/>
                <a:cs typeface="Calibri" pitchFamily="34" charset="-120"/>
              </a:rPr>
              <a:t>SQL: CRUD, diseño e integridad</a:t>
            </a:r>
            <a:endParaRPr lang="en-US" sz="1000" dirty="0"/>
          </a:p>
        </p:txBody>
      </p:sp>
      <p:sp>
        <p:nvSpPr>
          <p:cNvPr id="41" name="Text 39"/>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La diferencia, en una consulta real</a:t>
            </a:r>
            <a:endParaRPr lang="en-US" sz="2700" dirty="0"/>
          </a:p>
        </p:txBody>
      </p:sp>
      <p:sp>
        <p:nvSpPr>
          <p:cNvPr id="3" name="Text 1"/>
          <p:cNvSpPr/>
          <p:nvPr/>
        </p:nvSpPr>
        <p:spPr>
          <a:xfrm>
            <a:off x="548640" y="1005840"/>
            <a:ext cx="10972800" cy="457200"/>
          </a:xfrm>
          <a:prstGeom prst="rect">
            <a:avLst/>
          </a:prstGeom>
          <a:noFill/>
          <a:ln/>
        </p:spPr>
        <p:txBody>
          <a:bodyPr wrap="square" rtlCol="0" anchor="ctr"/>
          <a:lstStyle/>
          <a:p>
            <a:pPr indent="0" marL="0">
              <a:buNone/>
            </a:pPr>
            <a:r>
              <a:rPr lang="en-US" sz="1400" i="1" dirty="0">
                <a:solidFill>
                  <a:srgbClr val="C9D6E3"/>
                </a:solidFill>
                <a:latin typeface="Calibri" pitchFamily="34" charset="0"/>
                <a:ea typeface="Calibri" pitchFamily="34" charset="-122"/>
                <a:cs typeface="Calibri" pitchFamily="34" charset="-120"/>
              </a:rPr>
              <a:t>Partimos de un niño sin juguetes todavía (Marta, id = 3) para ver qué cambia.</a:t>
            </a:r>
            <a:endParaRPr lang="en-US" sz="1400" dirty="0"/>
          </a:p>
        </p:txBody>
      </p:sp>
      <p:sp>
        <p:nvSpPr>
          <p:cNvPr id="4" name="Shape 2"/>
          <p:cNvSpPr/>
          <p:nvPr/>
        </p:nvSpPr>
        <p:spPr>
          <a:xfrm>
            <a:off x="548640" y="1645920"/>
            <a:ext cx="5394960" cy="502920"/>
          </a:xfrm>
          <a:prstGeom prst="roundRect">
            <a:avLst>
              <a:gd name="adj" fmla="val 14545"/>
            </a:avLst>
          </a:prstGeom>
          <a:solidFill>
            <a:srgbClr val="1C7293"/>
          </a:solidFill>
          <a:ln/>
        </p:spPr>
      </p:sp>
      <p:sp>
        <p:nvSpPr>
          <p:cNvPr id="5" name="Text 3"/>
          <p:cNvSpPr/>
          <p:nvPr/>
        </p:nvSpPr>
        <p:spPr>
          <a:xfrm>
            <a:off x="548640" y="1645920"/>
            <a:ext cx="539496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INNER JOIN — descarta a Marta</a:t>
            </a:r>
            <a:endParaRPr lang="en-US" sz="1400" dirty="0"/>
          </a:p>
        </p:txBody>
      </p:sp>
      <p:sp>
        <p:nvSpPr>
          <p:cNvPr id="6" name="Shape 4"/>
          <p:cNvSpPr/>
          <p:nvPr/>
        </p:nvSpPr>
        <p:spPr>
          <a:xfrm>
            <a:off x="548640" y="2240280"/>
            <a:ext cx="5394960" cy="3566160"/>
          </a:xfrm>
          <a:prstGeom prst="roundRect">
            <a:avLst>
              <a:gd name="adj" fmla="val 2051"/>
            </a:avLst>
          </a:prstGeom>
          <a:solidFill>
            <a:srgbClr val="10152E"/>
          </a:solidFill>
          <a:ln w="12700">
            <a:solidFill>
              <a:srgbClr val="324066"/>
            </a:solidFill>
            <a:prstDash val="solid"/>
          </a:ln>
        </p:spPr>
      </p:sp>
      <p:sp>
        <p:nvSpPr>
          <p:cNvPr id="7" name="Text 5"/>
          <p:cNvSpPr/>
          <p:nvPr/>
        </p:nvSpPr>
        <p:spPr>
          <a:xfrm>
            <a:off x="777240" y="2423160"/>
            <a:ext cx="4937760" cy="3200400"/>
          </a:xfrm>
          <a:prstGeom prst="rect">
            <a:avLst/>
          </a:prstGeom>
          <a:noFill/>
          <a:ln/>
        </p:spPr>
        <p:txBody>
          <a:bodyPr wrap="square" rtlCol="0" anchor="t"/>
          <a:lstStyle/>
          <a:p>
            <a:pPr indent="0" marL="0">
              <a:lnSpc>
                <a:spcPct val="120000"/>
              </a:lnSpc>
              <a:buNone/>
            </a:pPr>
            <a:r>
              <a:rPr lang="en-US" sz="1250" dirty="0">
                <a:solidFill>
                  <a:srgbClr val="CFEFE0"/>
                </a:solidFill>
                <a:latin typeface="Courier New" pitchFamily="34" charset="0"/>
                <a:ea typeface="Courier New" pitchFamily="34" charset="-122"/>
                <a:cs typeface="Courier New" pitchFamily="34" charset="-120"/>
              </a:rPr>
              <a:t>SELECT niños.nombre,</a:t>
            </a:r>
            <a:endParaRPr lang="en-US" sz="1250" dirty="0"/>
          </a:p>
          <a:p>
            <a:pPr indent="0" marL="0">
              <a:lnSpc>
                <a:spcPct val="120000"/>
              </a:lnSpc>
              <a:buNone/>
            </a:pPr>
            <a:r>
              <a:rPr lang="en-US" sz="1250" dirty="0">
                <a:solidFill>
                  <a:srgbClr val="CFEFE0"/>
                </a:solidFill>
                <a:latin typeface="Courier New" pitchFamily="34" charset="0"/>
                <a:ea typeface="Courier New" pitchFamily="34" charset="-122"/>
                <a:cs typeface="Courier New" pitchFamily="34" charset="-120"/>
              </a:rPr>
              <a:t>       juguetes.nombre</a:t>
            </a:r>
            <a:endParaRPr lang="en-US" sz="1250" dirty="0"/>
          </a:p>
          <a:p>
            <a:pPr indent="0" marL="0">
              <a:lnSpc>
                <a:spcPct val="120000"/>
              </a:lnSpc>
              <a:buNone/>
            </a:pPr>
            <a:r>
              <a:rPr lang="en-US" sz="1250" dirty="0">
                <a:solidFill>
                  <a:srgbClr val="CFEFE0"/>
                </a:solidFill>
                <a:latin typeface="Courier New" pitchFamily="34" charset="0"/>
                <a:ea typeface="Courier New" pitchFamily="34" charset="-122"/>
                <a:cs typeface="Courier New" pitchFamily="34" charset="-120"/>
              </a:rPr>
              <a:t>FROM niños</a:t>
            </a:r>
            <a:endParaRPr lang="en-US" sz="1250" dirty="0"/>
          </a:p>
          <a:p>
            <a:pPr indent="0" marL="0">
              <a:lnSpc>
                <a:spcPct val="120000"/>
              </a:lnSpc>
              <a:buNone/>
            </a:pPr>
            <a:r>
              <a:rPr lang="en-US" sz="1250" dirty="0">
                <a:solidFill>
                  <a:srgbClr val="CFEFE0"/>
                </a:solidFill>
                <a:latin typeface="Courier New" pitchFamily="34" charset="0"/>
                <a:ea typeface="Courier New" pitchFamily="34" charset="-122"/>
                <a:cs typeface="Courier New" pitchFamily="34" charset="-120"/>
              </a:rPr>
              <a:t>JOIN juguetes</a:t>
            </a:r>
            <a:endParaRPr lang="en-US" sz="1250" dirty="0"/>
          </a:p>
          <a:p>
            <a:pPr indent="0" marL="0">
              <a:lnSpc>
                <a:spcPct val="120000"/>
              </a:lnSpc>
              <a:buNone/>
            </a:pPr>
            <a:r>
              <a:rPr lang="en-US" sz="1250" dirty="0">
                <a:solidFill>
                  <a:srgbClr val="CFEFE0"/>
                </a:solidFill>
                <a:latin typeface="Courier New" pitchFamily="34" charset="0"/>
                <a:ea typeface="Courier New" pitchFamily="34" charset="-122"/>
                <a:cs typeface="Courier New" pitchFamily="34" charset="-120"/>
              </a:rPr>
              <a:t>  ON juguetes.dueño_id = niños.id;</a:t>
            </a:r>
            <a:endParaRPr lang="en-US" sz="1250" dirty="0"/>
          </a:p>
          <a:p>
            <a:pPr indent="0" marL="0">
              <a:lnSpc>
                <a:spcPct val="120000"/>
              </a:lnSpc>
              <a:buNone/>
            </a:pPr>
            <a:endParaRPr lang="en-US" sz="1250" dirty="0"/>
          </a:p>
          <a:p>
            <a:pPr indent="0" marL="0">
              <a:lnSpc>
                <a:spcPct val="120000"/>
              </a:lnSpc>
              <a:buNone/>
            </a:pPr>
            <a:r>
              <a:rPr lang="en-US" sz="1250" dirty="0">
                <a:solidFill>
                  <a:srgbClr val="CFEFE0"/>
                </a:solidFill>
                <a:latin typeface="Courier New" pitchFamily="34" charset="0"/>
                <a:ea typeface="Courier New" pitchFamily="34" charset="-122"/>
                <a:cs typeface="Courier New" pitchFamily="34" charset="-120"/>
              </a:rPr>
              <a:t>-- Resultado: Juan, Ana</a:t>
            </a:r>
            <a:endParaRPr lang="en-US" sz="1250" dirty="0"/>
          </a:p>
          <a:p>
            <a:pPr indent="0" marL="0">
              <a:lnSpc>
                <a:spcPct val="120000"/>
              </a:lnSpc>
              <a:buNone/>
            </a:pPr>
            <a:r>
              <a:rPr lang="en-US" sz="1250" dirty="0">
                <a:solidFill>
                  <a:srgbClr val="CFEFE0"/>
                </a:solidFill>
                <a:latin typeface="Courier New" pitchFamily="34" charset="0"/>
                <a:ea typeface="Courier New" pitchFamily="34" charset="-122"/>
                <a:cs typeface="Courier New" pitchFamily="34" charset="-120"/>
              </a:rPr>
              <a:t>-- (Marta no aparece: no</a:t>
            </a:r>
            <a:endParaRPr lang="en-US" sz="1250" dirty="0"/>
          </a:p>
          <a:p>
            <a:pPr indent="0" marL="0">
              <a:lnSpc>
                <a:spcPct val="120000"/>
              </a:lnSpc>
              <a:buNone/>
            </a:pPr>
            <a:r>
              <a:rPr lang="en-US" sz="1250" dirty="0">
                <a:solidFill>
                  <a:srgbClr val="CFEFE0"/>
                </a:solidFill>
                <a:latin typeface="Courier New" pitchFamily="34" charset="0"/>
                <a:ea typeface="Courier New" pitchFamily="34" charset="-122"/>
                <a:cs typeface="Courier New" pitchFamily="34" charset="-120"/>
              </a:rPr>
              <a:t>--  tiene juguetes)</a:t>
            </a:r>
            <a:endParaRPr lang="en-US" sz="1250" dirty="0"/>
          </a:p>
        </p:txBody>
      </p:sp>
      <p:sp>
        <p:nvSpPr>
          <p:cNvPr id="8" name="Shape 6"/>
          <p:cNvSpPr/>
          <p:nvPr/>
        </p:nvSpPr>
        <p:spPr>
          <a:xfrm>
            <a:off x="6400800" y="1645920"/>
            <a:ext cx="5394960" cy="502920"/>
          </a:xfrm>
          <a:prstGeom prst="roundRect">
            <a:avLst>
              <a:gd name="adj" fmla="val 14545"/>
            </a:avLst>
          </a:prstGeom>
          <a:solidFill>
            <a:srgbClr val="1C7293"/>
          </a:solidFill>
          <a:ln/>
        </p:spPr>
      </p:sp>
      <p:sp>
        <p:nvSpPr>
          <p:cNvPr id="9" name="Text 7"/>
          <p:cNvSpPr/>
          <p:nvPr/>
        </p:nvSpPr>
        <p:spPr>
          <a:xfrm>
            <a:off x="6400800" y="1645920"/>
            <a:ext cx="539496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LEFT JOIN — conserva a Marta</a:t>
            </a:r>
            <a:endParaRPr lang="en-US" sz="1400" dirty="0"/>
          </a:p>
        </p:txBody>
      </p:sp>
      <p:sp>
        <p:nvSpPr>
          <p:cNvPr id="10" name="Shape 8"/>
          <p:cNvSpPr/>
          <p:nvPr/>
        </p:nvSpPr>
        <p:spPr>
          <a:xfrm>
            <a:off x="6400800" y="2240280"/>
            <a:ext cx="5394960" cy="3566160"/>
          </a:xfrm>
          <a:prstGeom prst="roundRect">
            <a:avLst>
              <a:gd name="adj" fmla="val 2051"/>
            </a:avLst>
          </a:prstGeom>
          <a:solidFill>
            <a:srgbClr val="10152E"/>
          </a:solidFill>
          <a:ln w="12700">
            <a:solidFill>
              <a:srgbClr val="324066"/>
            </a:solidFill>
            <a:prstDash val="solid"/>
          </a:ln>
        </p:spPr>
      </p:sp>
      <p:sp>
        <p:nvSpPr>
          <p:cNvPr id="11" name="Text 9"/>
          <p:cNvSpPr/>
          <p:nvPr/>
        </p:nvSpPr>
        <p:spPr>
          <a:xfrm>
            <a:off x="6629400" y="2423160"/>
            <a:ext cx="4937760" cy="3200400"/>
          </a:xfrm>
          <a:prstGeom prst="rect">
            <a:avLst/>
          </a:prstGeom>
          <a:noFill/>
          <a:ln/>
        </p:spPr>
        <p:txBody>
          <a:bodyPr wrap="square" rtlCol="0" anchor="t"/>
          <a:lstStyle/>
          <a:p>
            <a:pPr indent="0" marL="0">
              <a:lnSpc>
                <a:spcPct val="120000"/>
              </a:lnSpc>
              <a:buNone/>
            </a:pPr>
            <a:r>
              <a:rPr lang="en-US" sz="1250" dirty="0">
                <a:solidFill>
                  <a:srgbClr val="CFEFE0"/>
                </a:solidFill>
                <a:latin typeface="Courier New" pitchFamily="34" charset="0"/>
                <a:ea typeface="Courier New" pitchFamily="34" charset="-122"/>
                <a:cs typeface="Courier New" pitchFamily="34" charset="-120"/>
              </a:rPr>
              <a:t>SELECT niños.nombre,</a:t>
            </a:r>
            <a:endParaRPr lang="en-US" sz="1250" dirty="0"/>
          </a:p>
          <a:p>
            <a:pPr indent="0" marL="0">
              <a:lnSpc>
                <a:spcPct val="120000"/>
              </a:lnSpc>
              <a:buNone/>
            </a:pPr>
            <a:r>
              <a:rPr lang="en-US" sz="1250" dirty="0">
                <a:solidFill>
                  <a:srgbClr val="CFEFE0"/>
                </a:solidFill>
                <a:latin typeface="Courier New" pitchFamily="34" charset="0"/>
                <a:ea typeface="Courier New" pitchFamily="34" charset="-122"/>
                <a:cs typeface="Courier New" pitchFamily="34" charset="-120"/>
              </a:rPr>
              <a:t>       juguetes.nombre</a:t>
            </a:r>
            <a:endParaRPr lang="en-US" sz="1250" dirty="0"/>
          </a:p>
          <a:p>
            <a:pPr indent="0" marL="0">
              <a:lnSpc>
                <a:spcPct val="120000"/>
              </a:lnSpc>
              <a:buNone/>
            </a:pPr>
            <a:r>
              <a:rPr lang="en-US" sz="1250" dirty="0">
                <a:solidFill>
                  <a:srgbClr val="CFEFE0"/>
                </a:solidFill>
                <a:latin typeface="Courier New" pitchFamily="34" charset="0"/>
                <a:ea typeface="Courier New" pitchFamily="34" charset="-122"/>
                <a:cs typeface="Courier New" pitchFamily="34" charset="-120"/>
              </a:rPr>
              <a:t>FROM niños</a:t>
            </a:r>
            <a:endParaRPr lang="en-US" sz="1250" dirty="0"/>
          </a:p>
          <a:p>
            <a:pPr indent="0" marL="0">
              <a:lnSpc>
                <a:spcPct val="120000"/>
              </a:lnSpc>
              <a:buNone/>
            </a:pPr>
            <a:r>
              <a:rPr lang="en-US" sz="1250" dirty="0">
                <a:solidFill>
                  <a:srgbClr val="CFEFE0"/>
                </a:solidFill>
                <a:latin typeface="Courier New" pitchFamily="34" charset="0"/>
                <a:ea typeface="Courier New" pitchFamily="34" charset="-122"/>
                <a:cs typeface="Courier New" pitchFamily="34" charset="-120"/>
              </a:rPr>
              <a:t>LEFT JOIN juguetes</a:t>
            </a:r>
            <a:endParaRPr lang="en-US" sz="1250" dirty="0"/>
          </a:p>
          <a:p>
            <a:pPr indent="0" marL="0">
              <a:lnSpc>
                <a:spcPct val="120000"/>
              </a:lnSpc>
              <a:buNone/>
            </a:pPr>
            <a:r>
              <a:rPr lang="en-US" sz="1250" dirty="0">
                <a:solidFill>
                  <a:srgbClr val="CFEFE0"/>
                </a:solidFill>
                <a:latin typeface="Courier New" pitchFamily="34" charset="0"/>
                <a:ea typeface="Courier New" pitchFamily="34" charset="-122"/>
                <a:cs typeface="Courier New" pitchFamily="34" charset="-120"/>
              </a:rPr>
              <a:t>  ON juguetes.dueño_id = niños.id;</a:t>
            </a:r>
            <a:endParaRPr lang="en-US" sz="1250" dirty="0"/>
          </a:p>
          <a:p>
            <a:pPr indent="0" marL="0">
              <a:lnSpc>
                <a:spcPct val="120000"/>
              </a:lnSpc>
              <a:buNone/>
            </a:pPr>
            <a:endParaRPr lang="en-US" sz="1250" dirty="0"/>
          </a:p>
          <a:p>
            <a:pPr indent="0" marL="0">
              <a:lnSpc>
                <a:spcPct val="120000"/>
              </a:lnSpc>
              <a:buNone/>
            </a:pPr>
            <a:r>
              <a:rPr lang="en-US" sz="1250" dirty="0">
                <a:solidFill>
                  <a:srgbClr val="CFEFE0"/>
                </a:solidFill>
                <a:latin typeface="Courier New" pitchFamily="34" charset="0"/>
                <a:ea typeface="Courier New" pitchFamily="34" charset="-122"/>
                <a:cs typeface="Courier New" pitchFamily="34" charset="-120"/>
              </a:rPr>
              <a:t>-- Resultado: Juan, Ana, Marta</a:t>
            </a:r>
            <a:endParaRPr lang="en-US" sz="1250" dirty="0"/>
          </a:p>
          <a:p>
            <a:pPr indent="0" marL="0">
              <a:lnSpc>
                <a:spcPct val="120000"/>
              </a:lnSpc>
              <a:buNone/>
            </a:pPr>
            <a:r>
              <a:rPr lang="en-US" sz="1250" dirty="0">
                <a:solidFill>
                  <a:srgbClr val="CFEFE0"/>
                </a:solidFill>
                <a:latin typeface="Courier New" pitchFamily="34" charset="0"/>
                <a:ea typeface="Courier New" pitchFamily="34" charset="-122"/>
                <a:cs typeface="Courier New" pitchFamily="34" charset="-120"/>
              </a:rPr>
              <a:t>-- (Marta aparece con</a:t>
            </a:r>
            <a:endParaRPr lang="en-US" sz="1250" dirty="0"/>
          </a:p>
          <a:p>
            <a:pPr indent="0" marL="0">
              <a:lnSpc>
                <a:spcPct val="120000"/>
              </a:lnSpc>
              <a:buNone/>
            </a:pPr>
            <a:r>
              <a:rPr lang="en-US" sz="1250" dirty="0">
                <a:solidFill>
                  <a:srgbClr val="CFEFE0"/>
                </a:solidFill>
                <a:latin typeface="Courier New" pitchFamily="34" charset="0"/>
                <a:ea typeface="Courier New" pitchFamily="34" charset="-122"/>
                <a:cs typeface="Courier New" pitchFamily="34" charset="-120"/>
              </a:rPr>
              <a:t>--  juguete = NULL)</a:t>
            </a:r>
            <a:endParaRPr lang="en-US" sz="1250" dirty="0"/>
          </a:p>
        </p:txBody>
      </p:sp>
      <p:sp>
        <p:nvSpPr>
          <p:cNvPr id="12" name="Text 10"/>
          <p:cNvSpPr/>
          <p:nvPr/>
        </p:nvSpPr>
        <p:spPr>
          <a:xfrm>
            <a:off x="548640" y="5989320"/>
            <a:ext cx="11064240" cy="457200"/>
          </a:xfrm>
          <a:prstGeom prst="rect">
            <a:avLst/>
          </a:prstGeom>
          <a:noFill/>
          <a:ln/>
        </p:spPr>
        <p:txBody>
          <a:bodyPr wrap="square" rtlCol="0" anchor="ctr"/>
          <a:lstStyle/>
          <a:p>
            <a:pPr indent="0" marL="0">
              <a:buNone/>
            </a:pPr>
            <a:r>
              <a:rPr lang="en-US" sz="1300" i="1" dirty="0">
                <a:solidFill>
                  <a:srgbClr val="9FD8E8"/>
                </a:solidFill>
                <a:latin typeface="Calibri" pitchFamily="34" charset="0"/>
                <a:ea typeface="Calibri" pitchFamily="34" charset="-122"/>
                <a:cs typeface="Calibri" pitchFamily="34" charset="-120"/>
              </a:rPr>
              <a:t>Regla práctica: si un JOIN normal te hace "perder" filas que esperabas ver, casi siempre la solución es un LEFT JOIN.</a:t>
            </a:r>
            <a:endParaRPr lang="en-US" sz="1300" dirty="0"/>
          </a:p>
        </p:txBody>
      </p:sp>
      <p:sp>
        <p:nvSpPr>
          <p:cNvPr id="13" name="Text 11"/>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C9D6E3"/>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94360"/>
          </a:xfrm>
          <a:prstGeom prst="rect">
            <a:avLst/>
          </a:prstGeom>
          <a:noFill/>
          <a:ln/>
        </p:spPr>
        <p:txBody>
          <a:bodyPr wrap="square" rtlCol="0" anchor="ctr"/>
          <a:lstStyle/>
          <a:p>
            <a:pPr indent="0" marL="0">
              <a:buNone/>
            </a:pPr>
            <a:r>
              <a:rPr lang="en-US" sz="2500" b="1" dirty="0">
                <a:solidFill>
                  <a:srgbClr val="21295C"/>
                </a:solidFill>
                <a:latin typeface="Cambria" pitchFamily="34" charset="0"/>
                <a:ea typeface="Cambria" pitchFamily="34" charset="-122"/>
                <a:cs typeface="Cambria" pitchFamily="34" charset="-120"/>
              </a:rPr>
              <a:t>Índices: el atajo para encontrar datos rápido</a:t>
            </a:r>
            <a:endParaRPr lang="en-US" sz="2500" dirty="0"/>
          </a:p>
        </p:txBody>
      </p:sp>
      <p:sp>
        <p:nvSpPr>
          <p:cNvPr id="3" name="Text 1"/>
          <p:cNvSpPr/>
          <p:nvPr/>
        </p:nvSpPr>
        <p:spPr>
          <a:xfrm>
            <a:off x="548640" y="960120"/>
            <a:ext cx="10972800" cy="502920"/>
          </a:xfrm>
          <a:prstGeom prst="rect">
            <a:avLst/>
          </a:prstGeom>
          <a:noFill/>
          <a:ln/>
        </p:spPr>
        <p:txBody>
          <a:bodyPr wrap="square" rtlCol="0" anchor="ctr"/>
          <a:lstStyle/>
          <a:p>
            <a:pPr indent="0" marL="0">
              <a:lnSpc>
                <a:spcPct val="110000"/>
              </a:lnSpc>
              <a:buNone/>
            </a:pPr>
            <a:r>
              <a:rPr lang="en-US" sz="1300" i="1" dirty="0">
                <a:solidFill>
                  <a:srgbClr val="5B6B7A"/>
                </a:solidFill>
                <a:latin typeface="Calibri" pitchFamily="34" charset="0"/>
                <a:ea typeface="Calibri" pitchFamily="34" charset="-122"/>
                <a:cs typeface="Calibri" pitchFamily="34" charset="-120"/>
              </a:rPr>
              <a:t>Los JOIN y las consultas que acabamos de ver funcionan bien con pocas filas, pero una tabla real puede tener millones. ¿Cómo evitamos que esas mismas consultas se vuelvan lentas al crecer la tabla? Con índices.</a:t>
            </a:r>
            <a:endParaRPr lang="en-US" sz="1300" dirty="0"/>
          </a:p>
        </p:txBody>
      </p:sp>
      <p:sp>
        <p:nvSpPr>
          <p:cNvPr id="4" name="Shape 2"/>
          <p:cNvSpPr/>
          <p:nvPr/>
        </p:nvSpPr>
        <p:spPr>
          <a:xfrm>
            <a:off x="640080" y="1600200"/>
            <a:ext cx="10881360" cy="1051560"/>
          </a:xfrm>
          <a:prstGeom prst="roundRect">
            <a:avLst>
              <a:gd name="adj" fmla="val 8696"/>
            </a:avLst>
          </a:prstGeom>
          <a:solidFill>
            <a:srgbClr val="F4F7F9"/>
          </a:solidFill>
          <a:ln/>
        </p:spPr>
      </p:sp>
      <p:sp>
        <p:nvSpPr>
          <p:cNvPr id="5" name="Shape 3"/>
          <p:cNvSpPr/>
          <p:nvPr/>
        </p:nvSpPr>
        <p:spPr>
          <a:xfrm>
            <a:off x="914400" y="1737360"/>
            <a:ext cx="731520" cy="731520"/>
          </a:xfrm>
          <a:prstGeom prst="ellipse">
            <a:avLst/>
          </a:prstGeom>
          <a:solidFill>
            <a:srgbClr val="065A82"/>
          </a:solidFill>
          <a:ln/>
        </p:spPr>
      </p:sp>
      <p:pic>
        <p:nvPicPr>
          <p:cNvPr id="6" name="Image 0" descr="/home/claude/work/pptx_build/icons/bookOpen.png">    </p:cNvPr>
          <p:cNvPicPr>
            <a:picLocks noChangeAspect="1"/>
          </p:cNvPicPr>
          <p:nvPr/>
        </p:nvPicPr>
        <p:blipFill>
          <a:blip r:embed="rId1"/>
          <a:stretch>
            <a:fillRect/>
          </a:stretch>
        </p:blipFill>
        <p:spPr>
          <a:xfrm>
            <a:off x="1016813" y="1839773"/>
            <a:ext cx="526694" cy="526694"/>
          </a:xfrm>
          <a:prstGeom prst="rect">
            <a:avLst/>
          </a:prstGeom>
        </p:spPr>
      </p:pic>
      <p:sp>
        <p:nvSpPr>
          <p:cNvPr id="7" name="Text 4"/>
          <p:cNvSpPr/>
          <p:nvPr/>
        </p:nvSpPr>
        <p:spPr>
          <a:xfrm>
            <a:off x="1920240" y="1600200"/>
            <a:ext cx="9418320" cy="1051560"/>
          </a:xfrm>
          <a:prstGeom prst="rect">
            <a:avLst/>
          </a:prstGeom>
          <a:noFill/>
          <a:ln/>
        </p:spPr>
        <p:txBody>
          <a:bodyPr wrap="square" rtlCol="0" anchor="ctr"/>
          <a:lstStyle/>
          <a:p>
            <a:pPr indent="0" marL="0">
              <a:buNone/>
            </a:pPr>
            <a:r>
              <a:rPr lang="en-US" sz="1400" dirty="0">
                <a:solidFill>
                  <a:srgbClr val="2E3B47"/>
                </a:solidFill>
                <a:latin typeface="Calibri" pitchFamily="34" charset="0"/>
                <a:ea typeface="Calibri" pitchFamily="34" charset="-122"/>
                <a:cs typeface="Calibri" pitchFamily="34" charset="-120"/>
              </a:rPr>
              <a:t>Un índice es como el índice de un libro: en vez de leer página por página para encontrar un capítulo, vas directo a la página correcta.</a:t>
            </a:r>
            <a:endParaRPr lang="en-US" sz="1400" dirty="0"/>
          </a:p>
        </p:txBody>
      </p:sp>
      <p:sp>
        <p:nvSpPr>
          <p:cNvPr id="8" name="Shape 5"/>
          <p:cNvSpPr/>
          <p:nvPr/>
        </p:nvSpPr>
        <p:spPr>
          <a:xfrm>
            <a:off x="640080" y="3017520"/>
            <a:ext cx="5349240" cy="1920240"/>
          </a:xfrm>
          <a:prstGeom prst="roundRect">
            <a:avLst>
              <a:gd name="adj" fmla="val 4762"/>
            </a:avLst>
          </a:prstGeom>
          <a:solidFill>
            <a:srgbClr val="F4F7F9"/>
          </a:solidFill>
          <a:ln/>
        </p:spPr>
      </p:sp>
      <p:sp>
        <p:nvSpPr>
          <p:cNvPr id="9" name="Shape 6"/>
          <p:cNvSpPr/>
          <p:nvPr/>
        </p:nvSpPr>
        <p:spPr>
          <a:xfrm>
            <a:off x="868680" y="3246120"/>
            <a:ext cx="640080" cy="640080"/>
          </a:xfrm>
          <a:prstGeom prst="ellipse">
            <a:avLst/>
          </a:prstGeom>
          <a:solidFill>
            <a:srgbClr val="1C7293"/>
          </a:solidFill>
          <a:ln/>
        </p:spPr>
      </p:sp>
      <p:pic>
        <p:nvPicPr>
          <p:cNvPr id="10" name="Image 1" descr="/home/claude/work/pptx_build/icons/search.png">    </p:cNvPr>
          <p:cNvPicPr>
            <a:picLocks noChangeAspect="1"/>
          </p:cNvPicPr>
          <p:nvPr/>
        </p:nvPicPr>
        <p:blipFill>
          <a:blip r:embed="rId2"/>
          <a:stretch>
            <a:fillRect/>
          </a:stretch>
        </p:blipFill>
        <p:spPr>
          <a:xfrm>
            <a:off x="958291" y="3335731"/>
            <a:ext cx="460858" cy="460858"/>
          </a:xfrm>
          <a:prstGeom prst="rect">
            <a:avLst/>
          </a:prstGeom>
        </p:spPr>
      </p:pic>
      <p:sp>
        <p:nvSpPr>
          <p:cNvPr id="11" name="Text 7"/>
          <p:cNvSpPr/>
          <p:nvPr/>
        </p:nvSpPr>
        <p:spPr>
          <a:xfrm>
            <a:off x="1691640" y="3246120"/>
            <a:ext cx="4023360" cy="45720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Sin índice</a:t>
            </a:r>
            <a:endParaRPr lang="en-US" sz="1500" dirty="0"/>
          </a:p>
        </p:txBody>
      </p:sp>
      <p:sp>
        <p:nvSpPr>
          <p:cNvPr id="12" name="Text 8"/>
          <p:cNvSpPr/>
          <p:nvPr/>
        </p:nvSpPr>
        <p:spPr>
          <a:xfrm>
            <a:off x="868680" y="3886200"/>
            <a:ext cx="4937760" cy="914400"/>
          </a:xfrm>
          <a:prstGeom prst="rect">
            <a:avLst/>
          </a:prstGeom>
          <a:noFill/>
          <a:ln/>
        </p:spPr>
        <p:txBody>
          <a:bodyPr wrap="square" rtlCol="0" anchor="t"/>
          <a:lstStyle/>
          <a:p>
            <a:pPr indent="0" marL="0">
              <a:buNone/>
            </a:pPr>
            <a:r>
              <a:rPr lang="en-US" sz="1250" dirty="0">
                <a:solidFill>
                  <a:srgbClr val="5B6B7A"/>
                </a:solidFill>
                <a:latin typeface="Calibri" pitchFamily="34" charset="0"/>
                <a:ea typeface="Calibri" pitchFamily="34" charset="-122"/>
                <a:cs typeface="Calibri" pitchFamily="34" charset="-120"/>
              </a:rPr>
              <a:t>La base de datos revisa fila por fila hasta encontrar lo que buscas ("full table scan"). Lento en tablas grandes.</a:t>
            </a:r>
            <a:endParaRPr lang="en-US" sz="1250" dirty="0"/>
          </a:p>
        </p:txBody>
      </p:sp>
      <p:sp>
        <p:nvSpPr>
          <p:cNvPr id="13" name="Shape 9"/>
          <p:cNvSpPr/>
          <p:nvPr/>
        </p:nvSpPr>
        <p:spPr>
          <a:xfrm>
            <a:off x="6263640" y="3017520"/>
            <a:ext cx="5349240" cy="1920240"/>
          </a:xfrm>
          <a:prstGeom prst="roundRect">
            <a:avLst>
              <a:gd name="adj" fmla="val 4762"/>
            </a:avLst>
          </a:prstGeom>
          <a:solidFill>
            <a:srgbClr val="F4F7F9"/>
          </a:solidFill>
          <a:ln/>
        </p:spPr>
      </p:sp>
      <p:sp>
        <p:nvSpPr>
          <p:cNvPr id="14" name="Shape 10"/>
          <p:cNvSpPr/>
          <p:nvPr/>
        </p:nvSpPr>
        <p:spPr>
          <a:xfrm>
            <a:off x="6492240" y="3246120"/>
            <a:ext cx="640080" cy="640080"/>
          </a:xfrm>
          <a:prstGeom prst="ellipse">
            <a:avLst/>
          </a:prstGeom>
          <a:solidFill>
            <a:srgbClr val="1C7293"/>
          </a:solidFill>
          <a:ln/>
        </p:spPr>
      </p:sp>
      <p:pic>
        <p:nvPicPr>
          <p:cNvPr id="15" name="Image 2" descr="/home/claude/work/pptx_build/icons/bolt.png">    </p:cNvPr>
          <p:cNvPicPr>
            <a:picLocks noChangeAspect="1"/>
          </p:cNvPicPr>
          <p:nvPr/>
        </p:nvPicPr>
        <p:blipFill>
          <a:blip r:embed="rId3"/>
          <a:stretch>
            <a:fillRect/>
          </a:stretch>
        </p:blipFill>
        <p:spPr>
          <a:xfrm>
            <a:off x="6581851" y="3335731"/>
            <a:ext cx="460858" cy="460858"/>
          </a:xfrm>
          <a:prstGeom prst="rect">
            <a:avLst/>
          </a:prstGeom>
        </p:spPr>
      </p:pic>
      <p:sp>
        <p:nvSpPr>
          <p:cNvPr id="16" name="Text 11"/>
          <p:cNvSpPr/>
          <p:nvPr/>
        </p:nvSpPr>
        <p:spPr>
          <a:xfrm>
            <a:off x="7315200" y="3246120"/>
            <a:ext cx="4023360" cy="45720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Con índice</a:t>
            </a:r>
            <a:endParaRPr lang="en-US" sz="1500" dirty="0"/>
          </a:p>
        </p:txBody>
      </p:sp>
      <p:sp>
        <p:nvSpPr>
          <p:cNvPr id="17" name="Text 12"/>
          <p:cNvSpPr/>
          <p:nvPr/>
        </p:nvSpPr>
        <p:spPr>
          <a:xfrm>
            <a:off x="6492240" y="3886200"/>
            <a:ext cx="4937760" cy="914400"/>
          </a:xfrm>
          <a:prstGeom prst="rect">
            <a:avLst/>
          </a:prstGeom>
          <a:noFill/>
          <a:ln/>
        </p:spPr>
        <p:txBody>
          <a:bodyPr wrap="square" rtlCol="0" anchor="t"/>
          <a:lstStyle/>
          <a:p>
            <a:pPr indent="0" marL="0">
              <a:buNone/>
            </a:pPr>
            <a:r>
              <a:rPr lang="en-US" sz="1250" dirty="0">
                <a:solidFill>
                  <a:srgbClr val="5B6B7A"/>
                </a:solidFill>
                <a:latin typeface="Calibri" pitchFamily="34" charset="0"/>
                <a:ea typeface="Calibri" pitchFamily="34" charset="-122"/>
                <a:cs typeface="Calibri" pitchFamily="34" charset="-120"/>
              </a:rPr>
              <a:t>La base de datos salta directo a las filas relevantes, usando una estructura ordenada (normalmente un árbol B).</a:t>
            </a:r>
            <a:endParaRPr lang="en-US" sz="1250" dirty="0"/>
          </a:p>
        </p:txBody>
      </p:sp>
      <p:sp>
        <p:nvSpPr>
          <p:cNvPr id="18" name="Text 13"/>
          <p:cNvSpPr/>
          <p:nvPr/>
        </p:nvSpPr>
        <p:spPr>
          <a:xfrm>
            <a:off x="640080" y="5212080"/>
            <a:ext cx="10881360" cy="548640"/>
          </a:xfrm>
          <a:prstGeom prst="rect">
            <a:avLst/>
          </a:prstGeom>
          <a:noFill/>
          <a:ln/>
        </p:spPr>
        <p:txBody>
          <a:bodyPr wrap="square" rtlCol="0" anchor="ctr"/>
          <a:lstStyle/>
          <a:p>
            <a:pPr indent="0" marL="0">
              <a:buNone/>
            </a:pPr>
            <a:r>
              <a:rPr lang="en-US" sz="1300" i="1" dirty="0">
                <a:solidFill>
                  <a:srgbClr val="1C7293"/>
                </a:solidFill>
                <a:latin typeface="Calibri" pitchFamily="34" charset="0"/>
                <a:ea typeface="Calibri" pitchFamily="34" charset="-122"/>
                <a:cs typeface="Calibri" pitchFamily="34" charset="-120"/>
              </a:rPr>
              <a:t>El precio a pagar: cada índice ocupa espacio y ralentiza un poco las escrituras (INSERT/UPDATE), así que se indexa con criterio, no todo.</a:t>
            </a:r>
            <a:endParaRPr lang="en-US" sz="1300" dirty="0"/>
          </a:p>
        </p:txBody>
      </p:sp>
      <p:sp>
        <p:nvSpPr>
          <p:cNvPr id="19" name="Text 14"/>
          <p:cNvSpPr/>
          <p:nvPr/>
        </p:nvSpPr>
        <p:spPr>
          <a:xfrm>
            <a:off x="457200" y="6537960"/>
            <a:ext cx="7315200" cy="274320"/>
          </a:xfrm>
          <a:prstGeom prst="rect">
            <a:avLst/>
          </a:prstGeom>
          <a:noFill/>
          <a:ln/>
        </p:spPr>
        <p:txBody>
          <a:bodyPr wrap="square" rtlCol="0" anchor="ctr"/>
          <a:lstStyle/>
          <a:p>
            <a:pPr algn="l" indent="0" marL="0">
              <a:buNone/>
            </a:pPr>
            <a:r>
              <a:rPr lang="en-US" sz="1000" dirty="0">
                <a:solidFill>
                  <a:srgbClr val="5B6B7A"/>
                </a:solidFill>
                <a:latin typeface="Calibri" pitchFamily="34" charset="0"/>
                <a:ea typeface="Calibri" pitchFamily="34" charset="-122"/>
                <a:cs typeface="Calibri" pitchFamily="34" charset="-120"/>
              </a:rPr>
              <a:t>SQL: CRUD, diseño e integridad</a:t>
            </a:r>
            <a:endParaRPr lang="en-US" sz="1000" dirty="0"/>
          </a:p>
        </p:txBody>
      </p:sp>
      <p:sp>
        <p:nvSpPr>
          <p:cNvPr id="20" name="Text 15"/>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Índices en código: la misma consulta, dos escenarios</a:t>
            </a:r>
            <a:endParaRPr lang="en-US" sz="2500" dirty="0"/>
          </a:p>
        </p:txBody>
      </p:sp>
      <p:sp>
        <p:nvSpPr>
          <p:cNvPr id="3" name="Text 1"/>
          <p:cNvSpPr/>
          <p:nvPr/>
        </p:nvSpPr>
        <p:spPr>
          <a:xfrm>
            <a:off x="548640" y="1005840"/>
            <a:ext cx="10972800" cy="457200"/>
          </a:xfrm>
          <a:prstGeom prst="rect">
            <a:avLst/>
          </a:prstGeom>
          <a:noFill/>
          <a:ln/>
        </p:spPr>
        <p:txBody>
          <a:bodyPr wrap="square" rtlCol="0" anchor="ctr"/>
          <a:lstStyle/>
          <a:p>
            <a:pPr indent="0" marL="0">
              <a:buNone/>
            </a:pPr>
            <a:r>
              <a:rPr lang="en-US" sz="1400" i="1" dirty="0">
                <a:solidFill>
                  <a:srgbClr val="C9D6E3"/>
                </a:solidFill>
                <a:latin typeface="Calibri" pitchFamily="34" charset="0"/>
                <a:ea typeface="Calibri" pitchFamily="34" charset="-122"/>
                <a:cs typeface="Calibri" pitchFamily="34" charset="-120"/>
              </a:rPr>
              <a:t>Partimos de una tabla "libros" con miles de filas, sin ningún índice creado todavía.</a:t>
            </a:r>
            <a:endParaRPr lang="en-US" sz="1400" dirty="0"/>
          </a:p>
        </p:txBody>
      </p:sp>
      <p:sp>
        <p:nvSpPr>
          <p:cNvPr id="4" name="Shape 2"/>
          <p:cNvSpPr/>
          <p:nvPr/>
        </p:nvSpPr>
        <p:spPr>
          <a:xfrm>
            <a:off x="548640" y="1691640"/>
            <a:ext cx="5394960" cy="502920"/>
          </a:xfrm>
          <a:prstGeom prst="roundRect">
            <a:avLst>
              <a:gd name="adj" fmla="val 14545"/>
            </a:avLst>
          </a:prstGeom>
          <a:solidFill>
            <a:srgbClr val="1C7293"/>
          </a:solidFill>
          <a:ln/>
        </p:spPr>
      </p:sp>
      <p:sp>
        <p:nvSpPr>
          <p:cNvPr id="5" name="Text 3"/>
          <p:cNvSpPr/>
          <p:nvPr/>
        </p:nvSpPr>
        <p:spPr>
          <a:xfrm>
            <a:off x="548640" y="1691640"/>
            <a:ext cx="539496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Sin índice — escaneo completo</a:t>
            </a:r>
            <a:endParaRPr lang="en-US" sz="1400" dirty="0"/>
          </a:p>
        </p:txBody>
      </p:sp>
      <p:sp>
        <p:nvSpPr>
          <p:cNvPr id="6" name="Shape 4"/>
          <p:cNvSpPr/>
          <p:nvPr/>
        </p:nvSpPr>
        <p:spPr>
          <a:xfrm>
            <a:off x="548640" y="2286000"/>
            <a:ext cx="5394960" cy="3566160"/>
          </a:xfrm>
          <a:prstGeom prst="roundRect">
            <a:avLst>
              <a:gd name="adj" fmla="val 2051"/>
            </a:avLst>
          </a:prstGeom>
          <a:solidFill>
            <a:srgbClr val="10152E"/>
          </a:solidFill>
          <a:ln w="12700">
            <a:solidFill>
              <a:srgbClr val="324066"/>
            </a:solidFill>
            <a:prstDash val="solid"/>
          </a:ln>
        </p:spPr>
      </p:sp>
      <p:sp>
        <p:nvSpPr>
          <p:cNvPr id="7" name="Text 5"/>
          <p:cNvSpPr/>
          <p:nvPr/>
        </p:nvSpPr>
        <p:spPr>
          <a:xfrm>
            <a:off x="777240" y="2468880"/>
            <a:ext cx="4937760" cy="3200400"/>
          </a:xfrm>
          <a:prstGeom prst="rect">
            <a:avLst/>
          </a:prstGeom>
          <a:noFill/>
          <a:ln/>
        </p:spPr>
        <p:txBody>
          <a:bodyPr wrap="square" rtlCol="0" anchor="t"/>
          <a:lstStyle/>
          <a:p>
            <a:pPr indent="0" marL="0">
              <a:lnSpc>
                <a:spcPct val="115000"/>
              </a:lnSpc>
              <a:buNone/>
            </a:pPr>
            <a:r>
              <a:rPr lang="en-US" sz="1300" dirty="0">
                <a:solidFill>
                  <a:srgbClr val="CFEFE0"/>
                </a:solidFill>
                <a:latin typeface="Courier New" pitchFamily="34" charset="0"/>
                <a:ea typeface="Courier New" pitchFamily="34" charset="-122"/>
                <a:cs typeface="Courier New" pitchFamily="34" charset="-120"/>
              </a:rPr>
              <a:t>SELECT *</a:t>
            </a:r>
            <a:endParaRPr lang="en-US" sz="1300" dirty="0"/>
          </a:p>
          <a:p>
            <a:pPr indent="0" marL="0">
              <a:lnSpc>
                <a:spcPct val="115000"/>
              </a:lnSpc>
              <a:buNone/>
            </a:pPr>
            <a:r>
              <a:rPr lang="en-US" sz="1300" dirty="0">
                <a:solidFill>
                  <a:srgbClr val="CFEFE0"/>
                </a:solidFill>
                <a:latin typeface="Courier New" pitchFamily="34" charset="0"/>
                <a:ea typeface="Courier New" pitchFamily="34" charset="-122"/>
                <a:cs typeface="Courier New" pitchFamily="34" charset="-120"/>
              </a:rPr>
              <a:t>FROM libros</a:t>
            </a:r>
            <a:endParaRPr lang="en-US" sz="1300" dirty="0"/>
          </a:p>
          <a:p>
            <a:pPr indent="0" marL="0">
              <a:lnSpc>
                <a:spcPct val="115000"/>
              </a:lnSpc>
              <a:buNone/>
            </a:pPr>
            <a:r>
              <a:rPr lang="en-US" sz="1300" dirty="0">
                <a:solidFill>
                  <a:srgbClr val="CFEFE0"/>
                </a:solidFill>
                <a:latin typeface="Courier New" pitchFamily="34" charset="0"/>
                <a:ea typeface="Courier New" pitchFamily="34" charset="-122"/>
                <a:cs typeface="Courier New" pitchFamily="34" charset="-120"/>
              </a:rPr>
              <a:t>WHERE autor = 'Isabel Allende';</a:t>
            </a:r>
            <a:endParaRPr lang="en-US" sz="1300" dirty="0"/>
          </a:p>
          <a:p>
            <a:pPr indent="0" marL="0">
              <a:lnSpc>
                <a:spcPct val="115000"/>
              </a:lnSpc>
              <a:buNone/>
            </a:pPr>
            <a:endParaRPr lang="en-US" sz="1300" dirty="0"/>
          </a:p>
          <a:p>
            <a:pPr indent="0" marL="0">
              <a:lnSpc>
                <a:spcPct val="115000"/>
              </a:lnSpc>
              <a:buNone/>
            </a:pPr>
            <a:r>
              <a:rPr lang="en-US" sz="1300" dirty="0">
                <a:solidFill>
                  <a:srgbClr val="CFEFE0"/>
                </a:solidFill>
                <a:latin typeface="Courier New" pitchFamily="34" charset="0"/>
                <a:ea typeface="Courier New" pitchFamily="34" charset="-122"/>
                <a:cs typeface="Courier New" pitchFamily="34" charset="-120"/>
              </a:rPr>
              <a:t>-- La base de datos revisa</a:t>
            </a:r>
            <a:endParaRPr lang="en-US" sz="1300" dirty="0"/>
          </a:p>
          <a:p>
            <a:pPr indent="0" marL="0">
              <a:lnSpc>
                <a:spcPct val="115000"/>
              </a:lnSpc>
              <a:buNone/>
            </a:pPr>
            <a:r>
              <a:rPr lang="en-US" sz="1300" dirty="0">
                <a:solidFill>
                  <a:srgbClr val="CFEFE0"/>
                </a:solidFill>
                <a:latin typeface="Courier New" pitchFamily="34" charset="0"/>
                <a:ea typeface="Courier New" pitchFamily="34" charset="-122"/>
                <a:cs typeface="Courier New" pitchFamily="34" charset="-120"/>
              </a:rPr>
              <a:t>-- fila por fila, una a una,</a:t>
            </a:r>
            <a:endParaRPr lang="en-US" sz="1300" dirty="0"/>
          </a:p>
          <a:p>
            <a:pPr indent="0" marL="0">
              <a:lnSpc>
                <a:spcPct val="115000"/>
              </a:lnSpc>
              <a:buNone/>
            </a:pPr>
            <a:r>
              <a:rPr lang="en-US" sz="1300" dirty="0">
                <a:solidFill>
                  <a:srgbClr val="CFEFE0"/>
                </a:solidFill>
                <a:latin typeface="Courier New" pitchFamily="34" charset="0"/>
                <a:ea typeface="Courier New" pitchFamily="34" charset="-122"/>
                <a:cs typeface="Courier New" pitchFamily="34" charset="-120"/>
              </a:rPr>
              <a:t>-- hasta encontrar todas las</a:t>
            </a:r>
            <a:endParaRPr lang="en-US" sz="1300" dirty="0"/>
          </a:p>
          <a:p>
            <a:pPr indent="0" marL="0">
              <a:lnSpc>
                <a:spcPct val="115000"/>
              </a:lnSpc>
              <a:buNone/>
            </a:pPr>
            <a:r>
              <a:rPr lang="en-US" sz="1300" dirty="0">
                <a:solidFill>
                  <a:srgbClr val="CFEFE0"/>
                </a:solidFill>
                <a:latin typeface="Courier New" pitchFamily="34" charset="0"/>
                <a:ea typeface="Courier New" pitchFamily="34" charset="-122"/>
                <a:cs typeface="Courier New" pitchFamily="34" charset="-120"/>
              </a:rPr>
              <a:t>-- coincidencias.</a:t>
            </a:r>
            <a:endParaRPr lang="en-US" sz="1300" dirty="0"/>
          </a:p>
          <a:p>
            <a:pPr indent="0" marL="0">
              <a:lnSpc>
                <a:spcPct val="115000"/>
              </a:lnSpc>
              <a:buNone/>
            </a:pPr>
            <a:r>
              <a:rPr lang="en-US" sz="1300" dirty="0">
                <a:solidFill>
                  <a:srgbClr val="CFEFE0"/>
                </a:solidFill>
                <a:latin typeface="Courier New" pitchFamily="34" charset="0"/>
                <a:ea typeface="Courier New" pitchFamily="34" charset="-122"/>
                <a:cs typeface="Courier New" pitchFamily="34" charset="-120"/>
              </a:rPr>
              <a:t>-- Con miles de filas, se nota.</a:t>
            </a:r>
            <a:endParaRPr lang="en-US" sz="1300" dirty="0"/>
          </a:p>
        </p:txBody>
      </p:sp>
      <p:sp>
        <p:nvSpPr>
          <p:cNvPr id="8" name="Shape 6"/>
          <p:cNvSpPr/>
          <p:nvPr/>
        </p:nvSpPr>
        <p:spPr>
          <a:xfrm>
            <a:off x="6400800" y="1691640"/>
            <a:ext cx="5394960" cy="502920"/>
          </a:xfrm>
          <a:prstGeom prst="roundRect">
            <a:avLst>
              <a:gd name="adj" fmla="val 14545"/>
            </a:avLst>
          </a:prstGeom>
          <a:solidFill>
            <a:srgbClr val="1C7293"/>
          </a:solidFill>
          <a:ln/>
        </p:spPr>
      </p:sp>
      <p:sp>
        <p:nvSpPr>
          <p:cNvPr id="9" name="Text 7"/>
          <p:cNvSpPr/>
          <p:nvPr/>
        </p:nvSpPr>
        <p:spPr>
          <a:xfrm>
            <a:off x="6400800" y="1691640"/>
            <a:ext cx="539496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 índice — salto directo</a:t>
            </a:r>
            <a:endParaRPr lang="en-US" sz="1400" dirty="0"/>
          </a:p>
        </p:txBody>
      </p:sp>
      <p:sp>
        <p:nvSpPr>
          <p:cNvPr id="10" name="Shape 8"/>
          <p:cNvSpPr/>
          <p:nvPr/>
        </p:nvSpPr>
        <p:spPr>
          <a:xfrm>
            <a:off x="6400800" y="2286000"/>
            <a:ext cx="5394960" cy="3566160"/>
          </a:xfrm>
          <a:prstGeom prst="roundRect">
            <a:avLst>
              <a:gd name="adj" fmla="val 2051"/>
            </a:avLst>
          </a:prstGeom>
          <a:solidFill>
            <a:srgbClr val="10152E"/>
          </a:solidFill>
          <a:ln w="12700">
            <a:solidFill>
              <a:srgbClr val="324066"/>
            </a:solidFill>
            <a:prstDash val="solid"/>
          </a:ln>
        </p:spPr>
      </p:sp>
      <p:sp>
        <p:nvSpPr>
          <p:cNvPr id="11" name="Text 9"/>
          <p:cNvSpPr/>
          <p:nvPr/>
        </p:nvSpPr>
        <p:spPr>
          <a:xfrm>
            <a:off x="6629400" y="2468880"/>
            <a:ext cx="4937760" cy="3200400"/>
          </a:xfrm>
          <a:prstGeom prst="rect">
            <a:avLst/>
          </a:prstGeom>
          <a:noFill/>
          <a:ln/>
        </p:spPr>
        <p:txBody>
          <a:bodyPr wrap="square" rtlCol="0" anchor="t"/>
          <a:lstStyle/>
          <a:p>
            <a:pPr indent="0" marL="0">
              <a:lnSpc>
                <a:spcPct val="115000"/>
              </a:lnSpc>
              <a:buNone/>
            </a:pPr>
            <a:r>
              <a:rPr lang="en-US" sz="1300" dirty="0">
                <a:solidFill>
                  <a:srgbClr val="CFEFE0"/>
                </a:solidFill>
                <a:latin typeface="Courier New" pitchFamily="34" charset="0"/>
                <a:ea typeface="Courier New" pitchFamily="34" charset="-122"/>
                <a:cs typeface="Courier New" pitchFamily="34" charset="-120"/>
              </a:rPr>
              <a:t>CREATE INDEX idx_autor</a:t>
            </a:r>
            <a:endParaRPr lang="en-US" sz="1300" dirty="0"/>
          </a:p>
          <a:p>
            <a:pPr indent="0" marL="0">
              <a:lnSpc>
                <a:spcPct val="115000"/>
              </a:lnSpc>
              <a:buNone/>
            </a:pPr>
            <a:r>
              <a:rPr lang="en-US" sz="1300" dirty="0">
                <a:solidFill>
                  <a:srgbClr val="CFEFE0"/>
                </a:solidFill>
                <a:latin typeface="Courier New" pitchFamily="34" charset="0"/>
                <a:ea typeface="Courier New" pitchFamily="34" charset="-122"/>
                <a:cs typeface="Courier New" pitchFamily="34" charset="-120"/>
              </a:rPr>
              <a:t>ON libros (autor);</a:t>
            </a:r>
            <a:endParaRPr lang="en-US" sz="1300" dirty="0"/>
          </a:p>
          <a:p>
            <a:pPr indent="0" marL="0">
              <a:lnSpc>
                <a:spcPct val="115000"/>
              </a:lnSpc>
              <a:buNone/>
            </a:pPr>
            <a:endParaRPr lang="en-US" sz="1300" dirty="0"/>
          </a:p>
          <a:p>
            <a:pPr indent="0" marL="0">
              <a:lnSpc>
                <a:spcPct val="115000"/>
              </a:lnSpc>
              <a:buNone/>
            </a:pPr>
            <a:r>
              <a:rPr lang="en-US" sz="1300" dirty="0">
                <a:solidFill>
                  <a:srgbClr val="CFEFE0"/>
                </a:solidFill>
                <a:latin typeface="Courier New" pitchFamily="34" charset="0"/>
                <a:ea typeface="Courier New" pitchFamily="34" charset="-122"/>
                <a:cs typeface="Courier New" pitchFamily="34" charset="-120"/>
              </a:rPr>
              <a:t>SELECT *</a:t>
            </a:r>
            <a:endParaRPr lang="en-US" sz="1300" dirty="0"/>
          </a:p>
          <a:p>
            <a:pPr indent="0" marL="0">
              <a:lnSpc>
                <a:spcPct val="115000"/>
              </a:lnSpc>
              <a:buNone/>
            </a:pPr>
            <a:r>
              <a:rPr lang="en-US" sz="1300" dirty="0">
                <a:solidFill>
                  <a:srgbClr val="CFEFE0"/>
                </a:solidFill>
                <a:latin typeface="Courier New" pitchFamily="34" charset="0"/>
                <a:ea typeface="Courier New" pitchFamily="34" charset="-122"/>
                <a:cs typeface="Courier New" pitchFamily="34" charset="-120"/>
              </a:rPr>
              <a:t>FROM libros</a:t>
            </a:r>
            <a:endParaRPr lang="en-US" sz="1300" dirty="0"/>
          </a:p>
          <a:p>
            <a:pPr indent="0" marL="0">
              <a:lnSpc>
                <a:spcPct val="115000"/>
              </a:lnSpc>
              <a:buNone/>
            </a:pPr>
            <a:r>
              <a:rPr lang="en-US" sz="1300" dirty="0">
                <a:solidFill>
                  <a:srgbClr val="CFEFE0"/>
                </a:solidFill>
                <a:latin typeface="Courier New" pitchFamily="34" charset="0"/>
                <a:ea typeface="Courier New" pitchFamily="34" charset="-122"/>
                <a:cs typeface="Courier New" pitchFamily="34" charset="-120"/>
              </a:rPr>
              <a:t>WHERE autor = 'Isabel Allende';</a:t>
            </a:r>
            <a:endParaRPr lang="en-US" sz="1300" dirty="0"/>
          </a:p>
          <a:p>
            <a:pPr indent="0" marL="0">
              <a:lnSpc>
                <a:spcPct val="115000"/>
              </a:lnSpc>
              <a:buNone/>
            </a:pPr>
            <a:endParaRPr lang="en-US" sz="1300" dirty="0"/>
          </a:p>
          <a:p>
            <a:pPr indent="0" marL="0">
              <a:lnSpc>
                <a:spcPct val="115000"/>
              </a:lnSpc>
              <a:buNone/>
            </a:pPr>
            <a:r>
              <a:rPr lang="en-US" sz="1300" dirty="0">
                <a:solidFill>
                  <a:srgbClr val="CFEFE0"/>
                </a:solidFill>
                <a:latin typeface="Courier New" pitchFamily="34" charset="0"/>
                <a:ea typeface="Courier New" pitchFamily="34" charset="-122"/>
                <a:cs typeface="Courier New" pitchFamily="34" charset="-120"/>
              </a:rPr>
              <a:t>-- Misma consulta, mismo</a:t>
            </a:r>
            <a:endParaRPr lang="en-US" sz="1300" dirty="0"/>
          </a:p>
          <a:p>
            <a:pPr indent="0" marL="0">
              <a:lnSpc>
                <a:spcPct val="115000"/>
              </a:lnSpc>
              <a:buNone/>
            </a:pPr>
            <a:r>
              <a:rPr lang="en-US" sz="1300" dirty="0">
                <a:solidFill>
                  <a:srgbClr val="CFEFE0"/>
                </a:solidFill>
                <a:latin typeface="Courier New" pitchFamily="34" charset="0"/>
                <a:ea typeface="Courier New" pitchFamily="34" charset="-122"/>
                <a:cs typeface="Courier New" pitchFamily="34" charset="-120"/>
              </a:rPr>
              <a:t>-- resultado. Pero ahora la</a:t>
            </a:r>
            <a:endParaRPr lang="en-US" sz="1300" dirty="0"/>
          </a:p>
          <a:p>
            <a:pPr indent="0" marL="0">
              <a:lnSpc>
                <a:spcPct val="115000"/>
              </a:lnSpc>
              <a:buNone/>
            </a:pPr>
            <a:r>
              <a:rPr lang="en-US" sz="1300" dirty="0">
                <a:solidFill>
                  <a:srgbClr val="CFEFE0"/>
                </a:solidFill>
                <a:latin typeface="Courier New" pitchFamily="34" charset="0"/>
                <a:ea typeface="Courier New" pitchFamily="34" charset="-122"/>
                <a:cs typeface="Courier New" pitchFamily="34" charset="-120"/>
              </a:rPr>
              <a:t>-- base de datos usa el índice</a:t>
            </a:r>
            <a:endParaRPr lang="en-US" sz="1300" dirty="0"/>
          </a:p>
          <a:p>
            <a:pPr indent="0" marL="0">
              <a:lnSpc>
                <a:spcPct val="115000"/>
              </a:lnSpc>
              <a:buNone/>
            </a:pPr>
            <a:r>
              <a:rPr lang="en-US" sz="1300" dirty="0">
                <a:solidFill>
                  <a:srgbClr val="CFEFE0"/>
                </a:solidFill>
                <a:latin typeface="Courier New" pitchFamily="34" charset="0"/>
                <a:ea typeface="Courier New" pitchFamily="34" charset="-122"/>
                <a:cs typeface="Courier New" pitchFamily="34" charset="-120"/>
              </a:rPr>
              <a:t>-- de "autor" y salta directo</a:t>
            </a:r>
            <a:endParaRPr lang="en-US" sz="1300" dirty="0"/>
          </a:p>
          <a:p>
            <a:pPr indent="0" marL="0">
              <a:lnSpc>
                <a:spcPct val="115000"/>
              </a:lnSpc>
              <a:buNone/>
            </a:pPr>
            <a:r>
              <a:rPr lang="en-US" sz="1300" dirty="0">
                <a:solidFill>
                  <a:srgbClr val="CFEFE0"/>
                </a:solidFill>
                <a:latin typeface="Courier New" pitchFamily="34" charset="0"/>
                <a:ea typeface="Courier New" pitchFamily="34" charset="-122"/>
                <a:cs typeface="Courier New" pitchFamily="34" charset="-120"/>
              </a:rPr>
              <a:t>-- a las filas que coinciden.</a:t>
            </a:r>
            <a:endParaRPr lang="en-US" sz="1300" dirty="0"/>
          </a:p>
        </p:txBody>
      </p:sp>
      <p:sp>
        <p:nvSpPr>
          <p:cNvPr id="12" name="Text 10"/>
          <p:cNvSpPr/>
          <p:nvPr/>
        </p:nvSpPr>
        <p:spPr>
          <a:xfrm>
            <a:off x="548640" y="5989320"/>
            <a:ext cx="11064240" cy="457200"/>
          </a:xfrm>
          <a:prstGeom prst="rect">
            <a:avLst/>
          </a:prstGeom>
          <a:noFill/>
          <a:ln/>
        </p:spPr>
        <p:txBody>
          <a:bodyPr wrap="square" rtlCol="0" anchor="ctr"/>
          <a:lstStyle/>
          <a:p>
            <a:pPr indent="0" marL="0">
              <a:buNone/>
            </a:pPr>
            <a:r>
              <a:rPr lang="en-US" sz="1300" i="1" dirty="0">
                <a:solidFill>
                  <a:srgbClr val="9FD8E8"/>
                </a:solidFill>
                <a:latin typeface="Calibri" pitchFamily="34" charset="0"/>
                <a:ea typeface="Calibri" pitchFamily="34" charset="-122"/>
                <a:cs typeface="Calibri" pitchFamily="34" charset="-120"/>
              </a:rPr>
              <a:t>El CREATE INDEX solo se ejecuta una vez. A partir de ahí, todas las consultas que filtren por "autor" se benefician del atajo.</a:t>
            </a:r>
            <a:endParaRPr lang="en-US" sz="1300" dirty="0"/>
          </a:p>
        </p:txBody>
      </p:sp>
      <p:sp>
        <p:nvSpPr>
          <p:cNvPr id="13" name="Text 11"/>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C9D6E3"/>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73152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Lo que nos llevamos hoy</a:t>
            </a:r>
            <a:endParaRPr lang="en-US" sz="3000" dirty="0"/>
          </a:p>
        </p:txBody>
      </p:sp>
      <p:sp>
        <p:nvSpPr>
          <p:cNvPr id="3" name="Shape 1"/>
          <p:cNvSpPr/>
          <p:nvPr/>
        </p:nvSpPr>
        <p:spPr>
          <a:xfrm>
            <a:off x="640080" y="1143000"/>
            <a:ext cx="530352" cy="530352"/>
          </a:xfrm>
          <a:prstGeom prst="ellipse">
            <a:avLst/>
          </a:prstGeom>
          <a:solidFill>
            <a:srgbClr val="065A82"/>
          </a:solidFill>
          <a:ln/>
        </p:spPr>
      </p:sp>
      <p:pic>
        <p:nvPicPr>
          <p:cNvPr id="4" name="Image 0" descr="/home/claude/work/pptx_build/icons/table.png">    </p:cNvPr>
          <p:cNvPicPr>
            <a:picLocks noChangeAspect="1"/>
          </p:cNvPicPr>
          <p:nvPr/>
        </p:nvPicPr>
        <p:blipFill>
          <a:blip r:embed="rId1"/>
          <a:stretch>
            <a:fillRect/>
          </a:stretch>
        </p:blipFill>
        <p:spPr>
          <a:xfrm>
            <a:off x="714329" y="1217249"/>
            <a:ext cx="381853" cy="381853"/>
          </a:xfrm>
          <a:prstGeom prst="rect">
            <a:avLst/>
          </a:prstGeom>
        </p:spPr>
      </p:pic>
      <p:sp>
        <p:nvSpPr>
          <p:cNvPr id="5" name="Text 2"/>
          <p:cNvSpPr/>
          <p:nvPr/>
        </p:nvSpPr>
        <p:spPr>
          <a:xfrm>
            <a:off x="1417320" y="1143000"/>
            <a:ext cx="10149840" cy="530352"/>
          </a:xfrm>
          <a:prstGeom prst="rect">
            <a:avLst/>
          </a:prstGeom>
          <a:noFill/>
          <a:ln/>
        </p:spPr>
        <p:txBody>
          <a:bodyPr wrap="square" rtlCol="0" anchor="ctr"/>
          <a:lstStyle/>
          <a:p>
            <a:pPr indent="0" marL="0">
              <a:buNone/>
            </a:pPr>
            <a:r>
              <a:rPr lang="en-US" sz="1350" dirty="0">
                <a:solidFill>
                  <a:srgbClr val="2E3B47"/>
                </a:solidFill>
                <a:latin typeface="Calibri" pitchFamily="34" charset="0"/>
                <a:ea typeface="Calibri" pitchFamily="34" charset="-122"/>
                <a:cs typeface="Calibri" pitchFamily="34" charset="-120"/>
              </a:rPr>
              <a:t>Una base de datos relacional organiza la información en tablas conectadas por llaves.</a:t>
            </a:r>
            <a:endParaRPr lang="en-US" sz="1350" dirty="0"/>
          </a:p>
        </p:txBody>
      </p:sp>
      <p:sp>
        <p:nvSpPr>
          <p:cNvPr id="6" name="Shape 3"/>
          <p:cNvSpPr/>
          <p:nvPr/>
        </p:nvSpPr>
        <p:spPr>
          <a:xfrm>
            <a:off x="640080" y="1865376"/>
            <a:ext cx="530352" cy="530352"/>
          </a:xfrm>
          <a:prstGeom prst="ellipse">
            <a:avLst/>
          </a:prstGeom>
          <a:solidFill>
            <a:srgbClr val="065A82"/>
          </a:solidFill>
          <a:ln/>
        </p:spPr>
      </p:sp>
      <p:pic>
        <p:nvPicPr>
          <p:cNvPr id="7" name="Image 1" descr="/home/claude/work/pptx_build/icons/terminal.png">    </p:cNvPr>
          <p:cNvPicPr>
            <a:picLocks noChangeAspect="1"/>
          </p:cNvPicPr>
          <p:nvPr/>
        </p:nvPicPr>
        <p:blipFill>
          <a:blip r:embed="rId2"/>
          <a:stretch>
            <a:fillRect/>
          </a:stretch>
        </p:blipFill>
        <p:spPr>
          <a:xfrm>
            <a:off x="714329" y="1939625"/>
            <a:ext cx="381853" cy="381853"/>
          </a:xfrm>
          <a:prstGeom prst="rect">
            <a:avLst/>
          </a:prstGeom>
        </p:spPr>
      </p:pic>
      <p:sp>
        <p:nvSpPr>
          <p:cNvPr id="8" name="Text 4"/>
          <p:cNvSpPr/>
          <p:nvPr/>
        </p:nvSpPr>
        <p:spPr>
          <a:xfrm>
            <a:off x="1417320" y="1865376"/>
            <a:ext cx="10149840" cy="530352"/>
          </a:xfrm>
          <a:prstGeom prst="rect">
            <a:avLst/>
          </a:prstGeom>
          <a:noFill/>
          <a:ln/>
        </p:spPr>
        <p:txBody>
          <a:bodyPr wrap="square" rtlCol="0" anchor="ctr"/>
          <a:lstStyle/>
          <a:p>
            <a:pPr indent="0" marL="0">
              <a:buNone/>
            </a:pPr>
            <a:r>
              <a:rPr lang="en-US" sz="1350" dirty="0">
                <a:solidFill>
                  <a:srgbClr val="2E3B47"/>
                </a:solidFill>
                <a:latin typeface="Calibri" pitchFamily="34" charset="0"/>
                <a:ea typeface="Calibri" pitchFamily="34" charset="-122"/>
                <a:cs typeface="Calibri" pitchFamily="34" charset="-120"/>
              </a:rPr>
              <a:t>CRUD se escribe en SQL puro: INSERT, SELECT, UPDATE y DELETE.</a:t>
            </a:r>
            <a:endParaRPr lang="en-US" sz="1350" dirty="0"/>
          </a:p>
        </p:txBody>
      </p:sp>
      <p:sp>
        <p:nvSpPr>
          <p:cNvPr id="9" name="Shape 5"/>
          <p:cNvSpPr/>
          <p:nvPr/>
        </p:nvSpPr>
        <p:spPr>
          <a:xfrm>
            <a:off x="640080" y="2587752"/>
            <a:ext cx="530352" cy="530352"/>
          </a:xfrm>
          <a:prstGeom prst="ellipse">
            <a:avLst/>
          </a:prstGeom>
          <a:solidFill>
            <a:srgbClr val="065A82"/>
          </a:solidFill>
          <a:ln/>
        </p:spPr>
      </p:sp>
      <p:pic>
        <p:nvPicPr>
          <p:cNvPr id="10" name="Image 2" descr="/home/claude/work/pptx_build/icons/layers.png">    </p:cNvPr>
          <p:cNvPicPr>
            <a:picLocks noChangeAspect="1"/>
          </p:cNvPicPr>
          <p:nvPr/>
        </p:nvPicPr>
        <p:blipFill>
          <a:blip r:embed="rId3"/>
          <a:stretch>
            <a:fillRect/>
          </a:stretch>
        </p:blipFill>
        <p:spPr>
          <a:xfrm>
            <a:off x="714329" y="2662001"/>
            <a:ext cx="381853" cy="381853"/>
          </a:xfrm>
          <a:prstGeom prst="rect">
            <a:avLst/>
          </a:prstGeom>
        </p:spPr>
      </p:pic>
      <p:sp>
        <p:nvSpPr>
          <p:cNvPr id="11" name="Text 6"/>
          <p:cNvSpPr/>
          <p:nvPr/>
        </p:nvSpPr>
        <p:spPr>
          <a:xfrm>
            <a:off x="1417320" y="2587752"/>
            <a:ext cx="10149840" cy="530352"/>
          </a:xfrm>
          <a:prstGeom prst="rect">
            <a:avLst/>
          </a:prstGeom>
          <a:noFill/>
          <a:ln/>
        </p:spPr>
        <p:txBody>
          <a:bodyPr wrap="square" rtlCol="0" anchor="ctr"/>
          <a:lstStyle/>
          <a:p>
            <a:pPr indent="0" marL="0">
              <a:buNone/>
            </a:pPr>
            <a:r>
              <a:rPr lang="en-US" sz="1350" dirty="0">
                <a:solidFill>
                  <a:srgbClr val="2E3B47"/>
                </a:solidFill>
                <a:latin typeface="Calibri" pitchFamily="34" charset="0"/>
                <a:ea typeface="Calibri" pitchFamily="34" charset="-122"/>
                <a:cs typeface="Calibri" pitchFamily="34" charset="-120"/>
              </a:rPr>
              <a:t>Normalizar evita duplicar datos y mantiene todo coherente al actualizar.</a:t>
            </a:r>
            <a:endParaRPr lang="en-US" sz="1350" dirty="0"/>
          </a:p>
        </p:txBody>
      </p:sp>
      <p:sp>
        <p:nvSpPr>
          <p:cNvPr id="12" name="Shape 7"/>
          <p:cNvSpPr/>
          <p:nvPr/>
        </p:nvSpPr>
        <p:spPr>
          <a:xfrm>
            <a:off x="640080" y="3310128"/>
            <a:ext cx="530352" cy="530352"/>
          </a:xfrm>
          <a:prstGeom prst="ellipse">
            <a:avLst/>
          </a:prstGeom>
          <a:solidFill>
            <a:srgbClr val="065A82"/>
          </a:solidFill>
          <a:ln/>
        </p:spPr>
      </p:sp>
      <p:pic>
        <p:nvPicPr>
          <p:cNvPr id="13" name="Image 3" descr="/home/claude/work/pptx_build/icons/shield.png">    </p:cNvPr>
          <p:cNvPicPr>
            <a:picLocks noChangeAspect="1"/>
          </p:cNvPicPr>
          <p:nvPr/>
        </p:nvPicPr>
        <p:blipFill>
          <a:blip r:embed="rId4"/>
          <a:stretch>
            <a:fillRect/>
          </a:stretch>
        </p:blipFill>
        <p:spPr>
          <a:xfrm>
            <a:off x="714329" y="3384377"/>
            <a:ext cx="381853" cy="381853"/>
          </a:xfrm>
          <a:prstGeom prst="rect">
            <a:avLst/>
          </a:prstGeom>
        </p:spPr>
      </p:pic>
      <p:sp>
        <p:nvSpPr>
          <p:cNvPr id="14" name="Text 8"/>
          <p:cNvSpPr/>
          <p:nvPr/>
        </p:nvSpPr>
        <p:spPr>
          <a:xfrm>
            <a:off x="1417320" y="3310128"/>
            <a:ext cx="10149840" cy="530352"/>
          </a:xfrm>
          <a:prstGeom prst="rect">
            <a:avLst/>
          </a:prstGeom>
          <a:noFill/>
          <a:ln/>
        </p:spPr>
        <p:txBody>
          <a:bodyPr wrap="square" rtlCol="0" anchor="ctr"/>
          <a:lstStyle/>
          <a:p>
            <a:pPr indent="0" marL="0">
              <a:buNone/>
            </a:pPr>
            <a:r>
              <a:rPr lang="en-US" sz="1350" dirty="0">
                <a:solidFill>
                  <a:srgbClr val="2E3B47"/>
                </a:solidFill>
                <a:latin typeface="Calibri" pitchFamily="34" charset="0"/>
                <a:ea typeface="Calibri" pitchFamily="34" charset="-122"/>
                <a:cs typeface="Calibri" pitchFamily="34" charset="-120"/>
              </a:rPr>
              <a:t>Las restricciones de integridad (NOT NULL, UNIQUE, FK, CHECK) impiden datos imposibles.</a:t>
            </a:r>
            <a:endParaRPr lang="en-US" sz="1350" dirty="0"/>
          </a:p>
        </p:txBody>
      </p:sp>
      <p:sp>
        <p:nvSpPr>
          <p:cNvPr id="15" name="Shape 9"/>
          <p:cNvSpPr/>
          <p:nvPr/>
        </p:nvSpPr>
        <p:spPr>
          <a:xfrm>
            <a:off x="640080" y="4032504"/>
            <a:ext cx="530352" cy="530352"/>
          </a:xfrm>
          <a:prstGeom prst="ellipse">
            <a:avLst/>
          </a:prstGeom>
          <a:solidFill>
            <a:srgbClr val="065A82"/>
          </a:solidFill>
          <a:ln/>
        </p:spPr>
      </p:sp>
      <p:pic>
        <p:nvPicPr>
          <p:cNvPr id="16" name="Image 4" descr="/home/claude/work/pptx_build/icons/bolt.png">    </p:cNvPr>
          <p:cNvPicPr>
            <a:picLocks noChangeAspect="1"/>
          </p:cNvPicPr>
          <p:nvPr/>
        </p:nvPicPr>
        <p:blipFill>
          <a:blip r:embed="rId5"/>
          <a:stretch>
            <a:fillRect/>
          </a:stretch>
        </p:blipFill>
        <p:spPr>
          <a:xfrm>
            <a:off x="714329" y="4106753"/>
            <a:ext cx="381853" cy="381853"/>
          </a:xfrm>
          <a:prstGeom prst="rect">
            <a:avLst/>
          </a:prstGeom>
        </p:spPr>
      </p:pic>
      <p:sp>
        <p:nvSpPr>
          <p:cNvPr id="17" name="Text 10"/>
          <p:cNvSpPr/>
          <p:nvPr/>
        </p:nvSpPr>
        <p:spPr>
          <a:xfrm>
            <a:off x="1417320" y="4032504"/>
            <a:ext cx="10149840" cy="530352"/>
          </a:xfrm>
          <a:prstGeom prst="rect">
            <a:avLst/>
          </a:prstGeom>
          <a:noFill/>
          <a:ln/>
        </p:spPr>
        <p:txBody>
          <a:bodyPr wrap="square" rtlCol="0" anchor="ctr"/>
          <a:lstStyle/>
          <a:p>
            <a:pPr indent="0" marL="0">
              <a:buNone/>
            </a:pPr>
            <a:r>
              <a:rPr lang="en-US" sz="1350" dirty="0">
                <a:solidFill>
                  <a:srgbClr val="2E3B47"/>
                </a:solidFill>
                <a:latin typeface="Calibri" pitchFamily="34" charset="0"/>
                <a:ea typeface="Calibri" pitchFamily="34" charset="-122"/>
                <a:cs typeface="Calibri" pitchFamily="34" charset="-120"/>
              </a:rPr>
              <a:t>Las transacciones ACID garantizan que las operaciones críticas nunca queden a medias.</a:t>
            </a:r>
            <a:endParaRPr lang="en-US" sz="1350" dirty="0"/>
          </a:p>
        </p:txBody>
      </p:sp>
      <p:sp>
        <p:nvSpPr>
          <p:cNvPr id="18" name="Shape 11"/>
          <p:cNvSpPr/>
          <p:nvPr/>
        </p:nvSpPr>
        <p:spPr>
          <a:xfrm>
            <a:off x="640080" y="4754880"/>
            <a:ext cx="530352" cy="530352"/>
          </a:xfrm>
          <a:prstGeom prst="ellipse">
            <a:avLst/>
          </a:prstGeom>
          <a:solidFill>
            <a:srgbClr val="065A82"/>
          </a:solidFill>
          <a:ln/>
        </p:spPr>
      </p:sp>
      <p:pic>
        <p:nvPicPr>
          <p:cNvPr id="19" name="Image 5" descr="/home/claude/work/pptx_build/icons/link.png">    </p:cNvPr>
          <p:cNvPicPr>
            <a:picLocks noChangeAspect="1"/>
          </p:cNvPicPr>
          <p:nvPr/>
        </p:nvPicPr>
        <p:blipFill>
          <a:blip r:embed="rId6"/>
          <a:stretch>
            <a:fillRect/>
          </a:stretch>
        </p:blipFill>
        <p:spPr>
          <a:xfrm>
            <a:off x="714329" y="4829129"/>
            <a:ext cx="381853" cy="381853"/>
          </a:xfrm>
          <a:prstGeom prst="rect">
            <a:avLst/>
          </a:prstGeom>
        </p:spPr>
      </p:pic>
      <p:sp>
        <p:nvSpPr>
          <p:cNvPr id="20" name="Text 12"/>
          <p:cNvSpPr/>
          <p:nvPr/>
        </p:nvSpPr>
        <p:spPr>
          <a:xfrm>
            <a:off x="1417320" y="4754880"/>
            <a:ext cx="10149840" cy="530352"/>
          </a:xfrm>
          <a:prstGeom prst="rect">
            <a:avLst/>
          </a:prstGeom>
          <a:noFill/>
          <a:ln/>
        </p:spPr>
        <p:txBody>
          <a:bodyPr wrap="square" rtlCol="0" anchor="ctr"/>
          <a:lstStyle/>
          <a:p>
            <a:pPr indent="0" marL="0">
              <a:buNone/>
            </a:pPr>
            <a:r>
              <a:rPr lang="en-US" sz="1350" dirty="0">
                <a:solidFill>
                  <a:srgbClr val="2E3B47"/>
                </a:solidFill>
                <a:latin typeface="Calibri" pitchFamily="34" charset="0"/>
                <a:ea typeface="Calibri" pitchFamily="34" charset="-122"/>
                <a:cs typeface="Calibri" pitchFamily="34" charset="-120"/>
              </a:rPr>
              <a:t>Los JOIN combinan tablas; INNER, LEFT, RIGHT y FULL OUTER cambian qué filas sin pareja se conservan.</a:t>
            </a:r>
            <a:endParaRPr lang="en-US" sz="1350" dirty="0"/>
          </a:p>
        </p:txBody>
      </p:sp>
      <p:sp>
        <p:nvSpPr>
          <p:cNvPr id="21" name="Shape 13"/>
          <p:cNvSpPr/>
          <p:nvPr/>
        </p:nvSpPr>
        <p:spPr>
          <a:xfrm>
            <a:off x="640080" y="5477256"/>
            <a:ext cx="530352" cy="530352"/>
          </a:xfrm>
          <a:prstGeom prst="ellipse">
            <a:avLst/>
          </a:prstGeom>
          <a:solidFill>
            <a:srgbClr val="065A82"/>
          </a:solidFill>
          <a:ln/>
        </p:spPr>
      </p:sp>
      <p:pic>
        <p:nvPicPr>
          <p:cNvPr id="22" name="Image 6" descr="/home/claude/work/pptx_build/icons/search.png">    </p:cNvPr>
          <p:cNvPicPr>
            <a:picLocks noChangeAspect="1"/>
          </p:cNvPicPr>
          <p:nvPr/>
        </p:nvPicPr>
        <p:blipFill>
          <a:blip r:embed="rId7"/>
          <a:stretch>
            <a:fillRect/>
          </a:stretch>
        </p:blipFill>
        <p:spPr>
          <a:xfrm>
            <a:off x="714329" y="5551505"/>
            <a:ext cx="381853" cy="381853"/>
          </a:xfrm>
          <a:prstGeom prst="rect">
            <a:avLst/>
          </a:prstGeom>
        </p:spPr>
      </p:pic>
      <p:sp>
        <p:nvSpPr>
          <p:cNvPr id="23" name="Text 14"/>
          <p:cNvSpPr/>
          <p:nvPr/>
        </p:nvSpPr>
        <p:spPr>
          <a:xfrm>
            <a:off x="1417320" y="5477256"/>
            <a:ext cx="10149840" cy="530352"/>
          </a:xfrm>
          <a:prstGeom prst="rect">
            <a:avLst/>
          </a:prstGeom>
          <a:noFill/>
          <a:ln/>
        </p:spPr>
        <p:txBody>
          <a:bodyPr wrap="square" rtlCol="0" anchor="ctr"/>
          <a:lstStyle/>
          <a:p>
            <a:pPr indent="0" marL="0">
              <a:buNone/>
            </a:pPr>
            <a:r>
              <a:rPr lang="en-US" sz="1350" dirty="0">
                <a:solidFill>
                  <a:srgbClr val="2E3B47"/>
                </a:solidFill>
                <a:latin typeface="Calibri" pitchFamily="34" charset="0"/>
                <a:ea typeface="Calibri" pitchFamily="34" charset="-122"/>
                <a:cs typeface="Calibri" pitchFamily="34" charset="-120"/>
              </a:rPr>
              <a:t>Los índices aceleran las consultas, a cambio de algo de espacio y de velocidad de escritura.</a:t>
            </a:r>
            <a:endParaRPr lang="en-US" sz="1350" dirty="0"/>
          </a:p>
        </p:txBody>
      </p:sp>
      <p:sp>
        <p:nvSpPr>
          <p:cNvPr id="24" name="Text 15"/>
          <p:cNvSpPr/>
          <p:nvPr/>
        </p:nvSpPr>
        <p:spPr>
          <a:xfrm>
            <a:off x="457200" y="6537960"/>
            <a:ext cx="7315200" cy="274320"/>
          </a:xfrm>
          <a:prstGeom prst="rect">
            <a:avLst/>
          </a:prstGeom>
          <a:noFill/>
          <a:ln/>
        </p:spPr>
        <p:txBody>
          <a:bodyPr wrap="square" rtlCol="0" anchor="ctr"/>
          <a:lstStyle/>
          <a:p>
            <a:pPr algn="l" indent="0" marL="0">
              <a:buNone/>
            </a:pPr>
            <a:r>
              <a:rPr lang="en-US" sz="1000" dirty="0">
                <a:solidFill>
                  <a:srgbClr val="5B6B7A"/>
                </a:solidFill>
                <a:latin typeface="Calibri" pitchFamily="34" charset="0"/>
                <a:ea typeface="Calibri" pitchFamily="34" charset="-122"/>
                <a:cs typeface="Calibri" pitchFamily="34" charset="-120"/>
              </a:rPr>
              <a:t>Conclusiones</a:t>
            </a:r>
            <a:endParaRPr lang="en-US" sz="1000" dirty="0"/>
          </a:p>
        </p:txBody>
      </p:sp>
      <p:sp>
        <p:nvSpPr>
          <p:cNvPr id="25" name="Text 16"/>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73152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Lo que ganamos al diseñarlo bien</a:t>
            </a:r>
            <a:endParaRPr lang="en-US" sz="3000" dirty="0"/>
          </a:p>
        </p:txBody>
      </p:sp>
      <p:sp>
        <p:nvSpPr>
          <p:cNvPr id="3" name="Text 1"/>
          <p:cNvSpPr/>
          <p:nvPr/>
        </p:nvSpPr>
        <p:spPr>
          <a:xfrm>
            <a:off x="548640" y="1097280"/>
            <a:ext cx="10972800" cy="457200"/>
          </a:xfrm>
          <a:prstGeom prst="rect">
            <a:avLst/>
          </a:prstGeom>
          <a:noFill/>
          <a:ln/>
        </p:spPr>
        <p:txBody>
          <a:bodyPr wrap="square" rtlCol="0" anchor="ctr"/>
          <a:lstStyle/>
          <a:p>
            <a:pPr indent="0" marL="0">
              <a:buNone/>
            </a:pPr>
            <a:r>
              <a:rPr lang="en-US" sz="1500" i="1" dirty="0">
                <a:solidFill>
                  <a:srgbClr val="5B6B7A"/>
                </a:solidFill>
                <a:latin typeface="Calibri" pitchFamily="34" charset="0"/>
                <a:ea typeface="Calibri" pitchFamily="34" charset="-122"/>
                <a:cs typeface="Calibri" pitchFamily="34" charset="-120"/>
              </a:rPr>
              <a:t>Cada cosa que hemos visto hoy existe para conseguir uno de estos tres resultados.</a:t>
            </a:r>
            <a:endParaRPr lang="en-US" sz="1500" dirty="0"/>
          </a:p>
        </p:txBody>
      </p:sp>
      <p:sp>
        <p:nvSpPr>
          <p:cNvPr id="4" name="Shape 2"/>
          <p:cNvSpPr/>
          <p:nvPr/>
        </p:nvSpPr>
        <p:spPr>
          <a:xfrm>
            <a:off x="640080" y="1828800"/>
            <a:ext cx="10881360" cy="1234440"/>
          </a:xfrm>
          <a:prstGeom prst="roundRect">
            <a:avLst>
              <a:gd name="adj" fmla="val 7407"/>
            </a:avLst>
          </a:prstGeom>
          <a:solidFill>
            <a:srgbClr val="F4F7F9"/>
          </a:solidFill>
          <a:ln/>
        </p:spPr>
      </p:sp>
      <p:sp>
        <p:nvSpPr>
          <p:cNvPr id="5" name="Shape 3"/>
          <p:cNvSpPr/>
          <p:nvPr/>
        </p:nvSpPr>
        <p:spPr>
          <a:xfrm>
            <a:off x="914400" y="2084832"/>
            <a:ext cx="731520" cy="731520"/>
          </a:xfrm>
          <a:prstGeom prst="ellipse">
            <a:avLst/>
          </a:prstGeom>
          <a:solidFill>
            <a:srgbClr val="1C7293"/>
          </a:solidFill>
          <a:ln/>
        </p:spPr>
      </p:sp>
      <p:pic>
        <p:nvPicPr>
          <p:cNvPr id="6" name="Image 0" descr="/home/claude/work/pptx_build/icons/check.png">    </p:cNvPr>
          <p:cNvPicPr>
            <a:picLocks noChangeAspect="1"/>
          </p:cNvPicPr>
          <p:nvPr/>
        </p:nvPicPr>
        <p:blipFill>
          <a:blip r:embed="rId1"/>
          <a:stretch>
            <a:fillRect/>
          </a:stretch>
        </p:blipFill>
        <p:spPr>
          <a:xfrm>
            <a:off x="1016813" y="2187245"/>
            <a:ext cx="526694" cy="526694"/>
          </a:xfrm>
          <a:prstGeom prst="rect">
            <a:avLst/>
          </a:prstGeom>
        </p:spPr>
      </p:pic>
      <p:sp>
        <p:nvSpPr>
          <p:cNvPr id="7" name="Text 4"/>
          <p:cNvSpPr/>
          <p:nvPr/>
        </p:nvSpPr>
        <p:spPr>
          <a:xfrm>
            <a:off x="1920240" y="1993392"/>
            <a:ext cx="9418320" cy="41148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La normalización evita que...</a:t>
            </a:r>
            <a:endParaRPr lang="en-US" sz="1500" dirty="0"/>
          </a:p>
        </p:txBody>
      </p:sp>
      <p:sp>
        <p:nvSpPr>
          <p:cNvPr id="8" name="Text 5"/>
          <p:cNvSpPr/>
          <p:nvPr/>
        </p:nvSpPr>
        <p:spPr>
          <a:xfrm>
            <a:off x="1920240" y="2377440"/>
            <a:ext cx="9418320" cy="594360"/>
          </a:xfrm>
          <a:prstGeom prst="rect">
            <a:avLst/>
          </a:prstGeom>
          <a:noFill/>
          <a:ln/>
        </p:spPr>
        <p:txBody>
          <a:bodyPr wrap="square" rtlCol="0" anchor="ctr"/>
          <a:lstStyle/>
          <a:p>
            <a:pPr indent="0" marL="0">
              <a:buNone/>
            </a:pPr>
            <a:r>
              <a:rPr lang="en-US" sz="1450" dirty="0">
                <a:solidFill>
                  <a:srgbClr val="2E3B47"/>
                </a:solidFill>
                <a:latin typeface="Calibri" pitchFamily="34" charset="0"/>
                <a:ea typeface="Calibri" pitchFamily="34" charset="-122"/>
                <a:cs typeface="Calibri" pitchFamily="34" charset="-120"/>
              </a:rPr>
              <a:t>los datos se dupliquen y queden contradictorios entre tablas.</a:t>
            </a:r>
            <a:endParaRPr lang="en-US" sz="1450" dirty="0"/>
          </a:p>
        </p:txBody>
      </p:sp>
      <p:sp>
        <p:nvSpPr>
          <p:cNvPr id="9" name="Shape 6"/>
          <p:cNvSpPr/>
          <p:nvPr/>
        </p:nvSpPr>
        <p:spPr>
          <a:xfrm>
            <a:off x="640080" y="3291840"/>
            <a:ext cx="10881360" cy="1234440"/>
          </a:xfrm>
          <a:prstGeom prst="roundRect">
            <a:avLst>
              <a:gd name="adj" fmla="val 7407"/>
            </a:avLst>
          </a:prstGeom>
          <a:solidFill>
            <a:srgbClr val="F4F7F9"/>
          </a:solidFill>
          <a:ln/>
        </p:spPr>
      </p:sp>
      <p:sp>
        <p:nvSpPr>
          <p:cNvPr id="10" name="Shape 7"/>
          <p:cNvSpPr/>
          <p:nvPr/>
        </p:nvSpPr>
        <p:spPr>
          <a:xfrm>
            <a:off x="914400" y="3547872"/>
            <a:ext cx="731520" cy="731520"/>
          </a:xfrm>
          <a:prstGeom prst="ellipse">
            <a:avLst/>
          </a:prstGeom>
          <a:solidFill>
            <a:srgbClr val="1C7293"/>
          </a:solidFill>
          <a:ln/>
        </p:spPr>
      </p:sp>
      <p:pic>
        <p:nvPicPr>
          <p:cNvPr id="11" name="Image 1" descr="/home/claude/work/pptx_build/icons/shield.png">    </p:cNvPr>
          <p:cNvPicPr>
            <a:picLocks noChangeAspect="1"/>
          </p:cNvPicPr>
          <p:nvPr/>
        </p:nvPicPr>
        <p:blipFill>
          <a:blip r:embed="rId2"/>
          <a:stretch>
            <a:fillRect/>
          </a:stretch>
        </p:blipFill>
        <p:spPr>
          <a:xfrm>
            <a:off x="1016813" y="3650285"/>
            <a:ext cx="526694" cy="526694"/>
          </a:xfrm>
          <a:prstGeom prst="rect">
            <a:avLst/>
          </a:prstGeom>
        </p:spPr>
      </p:pic>
      <p:sp>
        <p:nvSpPr>
          <p:cNvPr id="12" name="Text 8"/>
          <p:cNvSpPr/>
          <p:nvPr/>
        </p:nvSpPr>
        <p:spPr>
          <a:xfrm>
            <a:off x="1920240" y="3456432"/>
            <a:ext cx="9418320" cy="41148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La integridad y ACID evitan que...</a:t>
            </a:r>
            <a:endParaRPr lang="en-US" sz="1500" dirty="0"/>
          </a:p>
        </p:txBody>
      </p:sp>
      <p:sp>
        <p:nvSpPr>
          <p:cNvPr id="13" name="Text 9"/>
          <p:cNvSpPr/>
          <p:nvPr/>
        </p:nvSpPr>
        <p:spPr>
          <a:xfrm>
            <a:off x="1920240" y="3840480"/>
            <a:ext cx="9418320" cy="594360"/>
          </a:xfrm>
          <a:prstGeom prst="rect">
            <a:avLst/>
          </a:prstGeom>
          <a:noFill/>
          <a:ln/>
        </p:spPr>
        <p:txBody>
          <a:bodyPr wrap="square" rtlCol="0" anchor="ctr"/>
          <a:lstStyle/>
          <a:p>
            <a:pPr indent="0" marL="0">
              <a:buNone/>
            </a:pPr>
            <a:r>
              <a:rPr lang="en-US" sz="1450" dirty="0">
                <a:solidFill>
                  <a:srgbClr val="2E3B47"/>
                </a:solidFill>
                <a:latin typeface="Calibri" pitchFamily="34" charset="0"/>
                <a:ea typeface="Calibri" pitchFamily="34" charset="-122"/>
                <a:cs typeface="Calibri" pitchFamily="34" charset="-120"/>
              </a:rPr>
              <a:t>un fallo o un error a medio camino deje los datos rotos o incompletos.</a:t>
            </a:r>
            <a:endParaRPr lang="en-US" sz="1450" dirty="0"/>
          </a:p>
        </p:txBody>
      </p:sp>
      <p:sp>
        <p:nvSpPr>
          <p:cNvPr id="14" name="Shape 10"/>
          <p:cNvSpPr/>
          <p:nvPr/>
        </p:nvSpPr>
        <p:spPr>
          <a:xfrm>
            <a:off x="640080" y="4754880"/>
            <a:ext cx="10881360" cy="1234440"/>
          </a:xfrm>
          <a:prstGeom prst="roundRect">
            <a:avLst>
              <a:gd name="adj" fmla="val 7407"/>
            </a:avLst>
          </a:prstGeom>
          <a:solidFill>
            <a:srgbClr val="F4F7F9"/>
          </a:solidFill>
          <a:ln/>
        </p:spPr>
      </p:sp>
      <p:sp>
        <p:nvSpPr>
          <p:cNvPr id="15" name="Shape 11"/>
          <p:cNvSpPr/>
          <p:nvPr/>
        </p:nvSpPr>
        <p:spPr>
          <a:xfrm>
            <a:off x="914400" y="5010912"/>
            <a:ext cx="731520" cy="731520"/>
          </a:xfrm>
          <a:prstGeom prst="ellipse">
            <a:avLst/>
          </a:prstGeom>
          <a:solidFill>
            <a:srgbClr val="1C7293"/>
          </a:solidFill>
          <a:ln/>
        </p:spPr>
      </p:sp>
      <p:pic>
        <p:nvPicPr>
          <p:cNvPr id="16" name="Image 2" descr="/home/claude/work/pptx_build/icons/search.png">    </p:cNvPr>
          <p:cNvPicPr>
            <a:picLocks noChangeAspect="1"/>
          </p:cNvPicPr>
          <p:nvPr/>
        </p:nvPicPr>
        <p:blipFill>
          <a:blip r:embed="rId3"/>
          <a:stretch>
            <a:fillRect/>
          </a:stretch>
        </p:blipFill>
        <p:spPr>
          <a:xfrm>
            <a:off x="1016813" y="5113325"/>
            <a:ext cx="526694" cy="526694"/>
          </a:xfrm>
          <a:prstGeom prst="rect">
            <a:avLst/>
          </a:prstGeom>
        </p:spPr>
      </p:pic>
      <p:sp>
        <p:nvSpPr>
          <p:cNvPr id="17" name="Text 12"/>
          <p:cNvSpPr/>
          <p:nvPr/>
        </p:nvSpPr>
        <p:spPr>
          <a:xfrm>
            <a:off x="1920240" y="4919472"/>
            <a:ext cx="9418320" cy="41148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Los índices evitan que...</a:t>
            </a:r>
            <a:endParaRPr lang="en-US" sz="1500" dirty="0"/>
          </a:p>
        </p:txBody>
      </p:sp>
      <p:sp>
        <p:nvSpPr>
          <p:cNvPr id="18" name="Text 13"/>
          <p:cNvSpPr/>
          <p:nvPr/>
        </p:nvSpPr>
        <p:spPr>
          <a:xfrm>
            <a:off x="1920240" y="5303520"/>
            <a:ext cx="9418320" cy="594360"/>
          </a:xfrm>
          <a:prstGeom prst="rect">
            <a:avLst/>
          </a:prstGeom>
          <a:noFill/>
          <a:ln/>
        </p:spPr>
        <p:txBody>
          <a:bodyPr wrap="square" rtlCol="0" anchor="ctr"/>
          <a:lstStyle/>
          <a:p>
            <a:pPr indent="0" marL="0">
              <a:buNone/>
            </a:pPr>
            <a:r>
              <a:rPr lang="en-US" sz="1450" dirty="0">
                <a:solidFill>
                  <a:srgbClr val="2E3B47"/>
                </a:solidFill>
                <a:latin typeface="Calibri" pitchFamily="34" charset="0"/>
                <a:ea typeface="Calibri" pitchFamily="34" charset="-122"/>
                <a:cs typeface="Calibri" pitchFamily="34" charset="-120"/>
              </a:rPr>
              <a:t>las consultas se vuelvan lentas cuando la tabla crece a millones de filas.</a:t>
            </a:r>
            <a:endParaRPr lang="en-US" sz="1450" dirty="0"/>
          </a:p>
        </p:txBody>
      </p:sp>
      <p:sp>
        <p:nvSpPr>
          <p:cNvPr id="19" name="Text 14"/>
          <p:cNvSpPr/>
          <p:nvPr/>
        </p:nvSpPr>
        <p:spPr>
          <a:xfrm>
            <a:off x="457200" y="6537960"/>
            <a:ext cx="7315200" cy="274320"/>
          </a:xfrm>
          <a:prstGeom prst="rect">
            <a:avLst/>
          </a:prstGeom>
          <a:noFill/>
          <a:ln/>
        </p:spPr>
        <p:txBody>
          <a:bodyPr wrap="square" rtlCol="0" anchor="ctr"/>
          <a:lstStyle/>
          <a:p>
            <a:pPr algn="l" indent="0" marL="0">
              <a:buNone/>
            </a:pPr>
            <a:r>
              <a:rPr lang="en-US" sz="1000" dirty="0">
                <a:solidFill>
                  <a:srgbClr val="5B6B7A"/>
                </a:solidFill>
                <a:latin typeface="Calibri" pitchFamily="34" charset="0"/>
                <a:ea typeface="Calibri" pitchFamily="34" charset="-122"/>
                <a:cs typeface="Calibri" pitchFamily="34" charset="-120"/>
              </a:rPr>
              <a:t>Conclusiones</a:t>
            </a:r>
            <a:endParaRPr lang="en-US" sz="1000" dirty="0"/>
          </a:p>
        </p:txBody>
      </p:sp>
      <p:sp>
        <p:nvSpPr>
          <p:cNvPr id="20" name="Text 15"/>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822960" y="2103120"/>
            <a:ext cx="2743200" cy="1097280"/>
          </a:xfrm>
          <a:prstGeom prst="rect">
            <a:avLst/>
          </a:prstGeom>
          <a:noFill/>
          <a:ln/>
        </p:spPr>
        <p:txBody>
          <a:bodyPr wrap="square" rtlCol="0" anchor="ctr"/>
          <a:lstStyle/>
          <a:p>
            <a:pPr indent="0" marL="0">
              <a:buNone/>
            </a:pPr>
            <a:r>
              <a:rPr lang="en-US" sz="6000" b="1" dirty="0">
                <a:solidFill>
                  <a:srgbClr val="1C7293"/>
                </a:solidFill>
                <a:latin typeface="Cambria" pitchFamily="34" charset="0"/>
                <a:ea typeface="Cambria" pitchFamily="34" charset="-122"/>
                <a:cs typeface="Cambria" pitchFamily="34" charset="-120"/>
              </a:rPr>
              <a:t>04</a:t>
            </a:r>
            <a:endParaRPr lang="en-US" sz="6000" dirty="0"/>
          </a:p>
        </p:txBody>
      </p:sp>
      <p:sp>
        <p:nvSpPr>
          <p:cNvPr id="3" name="Text 1"/>
          <p:cNvSpPr/>
          <p:nvPr/>
        </p:nvSpPr>
        <p:spPr>
          <a:xfrm>
            <a:off x="822960" y="3108960"/>
            <a:ext cx="10058400" cy="109728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¡Hora de jugar!</a:t>
            </a:r>
            <a:endParaRPr lang="en-US" sz="3600" dirty="0"/>
          </a:p>
        </p:txBody>
      </p:sp>
      <p:sp>
        <p:nvSpPr>
          <p:cNvPr id="4" name="Text 2"/>
          <p:cNvSpPr/>
          <p:nvPr/>
        </p:nvSpPr>
        <p:spPr>
          <a:xfrm>
            <a:off x="822960" y="3931920"/>
            <a:ext cx="10058400" cy="457200"/>
          </a:xfrm>
          <a:prstGeom prst="rect">
            <a:avLst/>
          </a:prstGeom>
          <a:noFill/>
          <a:ln/>
        </p:spPr>
        <p:txBody>
          <a:bodyPr wrap="square" rtlCol="0" anchor="ctr"/>
          <a:lstStyle/>
          <a:p>
            <a:pPr indent="0" marL="0">
              <a:buNone/>
            </a:pPr>
            <a:r>
              <a:rPr lang="en-US" sz="1600" i="1" dirty="0">
                <a:solidFill>
                  <a:srgbClr val="C9D6E3"/>
                </a:solidFill>
                <a:latin typeface="Calibri" pitchFamily="34" charset="0"/>
                <a:ea typeface="Calibri" pitchFamily="34" charset="-122"/>
                <a:cs typeface="Calibri" pitchFamily="34" charset="-120"/>
              </a:rPr>
              <a:t>Comprobemos qué se ha quedado con un Kahoot</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94960" y="822960"/>
            <a:ext cx="1371600" cy="1371600"/>
          </a:xfrm>
          <a:prstGeom prst="ellipse">
            <a:avLst/>
          </a:prstGeom>
          <a:solidFill>
            <a:srgbClr val="065A82"/>
          </a:solidFill>
          <a:ln/>
        </p:spPr>
      </p:sp>
      <p:pic>
        <p:nvPicPr>
          <p:cNvPr id="3" name="Image 0" descr="/home/claude/work/pptx_build/icons/trophy.png">    </p:cNvPr>
          <p:cNvPicPr>
            <a:picLocks noChangeAspect="1"/>
          </p:cNvPicPr>
          <p:nvPr/>
        </p:nvPicPr>
        <p:blipFill>
          <a:blip r:embed="rId1"/>
          <a:stretch>
            <a:fillRect/>
          </a:stretch>
        </p:blipFill>
        <p:spPr>
          <a:xfrm>
            <a:off x="5586984" y="1014984"/>
            <a:ext cx="987552" cy="987552"/>
          </a:xfrm>
          <a:prstGeom prst="rect">
            <a:avLst/>
          </a:prstGeom>
        </p:spPr>
      </p:pic>
      <p:sp>
        <p:nvSpPr>
          <p:cNvPr id="4" name="Text 1"/>
          <p:cNvSpPr/>
          <p:nvPr/>
        </p:nvSpPr>
        <p:spPr>
          <a:xfrm>
            <a:off x="548640" y="2468880"/>
            <a:ext cx="11064240" cy="731520"/>
          </a:xfrm>
          <a:prstGeom prst="rect">
            <a:avLst/>
          </a:prstGeom>
          <a:noFill/>
          <a:ln/>
        </p:spPr>
        <p:txBody>
          <a:bodyPr wrap="square" rtlCol="0" anchor="ctr"/>
          <a:lstStyle/>
          <a:p>
            <a:pPr algn="ctr" indent="0" marL="0">
              <a:buNone/>
            </a:pPr>
            <a:r>
              <a:rPr lang="en-US" sz="3000" b="1" dirty="0">
                <a:solidFill>
                  <a:srgbClr val="21295C"/>
                </a:solidFill>
                <a:latin typeface="Cambria" pitchFamily="34" charset="0"/>
                <a:ea typeface="Cambria" pitchFamily="34" charset="-122"/>
                <a:cs typeface="Cambria" pitchFamily="34" charset="-120"/>
              </a:rPr>
              <a:t>Kahoot: Bases de Datos Relacionales</a:t>
            </a:r>
            <a:endParaRPr lang="en-US" sz="3000" dirty="0"/>
          </a:p>
        </p:txBody>
      </p:sp>
      <p:sp>
        <p:nvSpPr>
          <p:cNvPr id="5" name="Text 2"/>
          <p:cNvSpPr/>
          <p:nvPr/>
        </p:nvSpPr>
        <p:spPr>
          <a:xfrm>
            <a:off x="1645920" y="3291840"/>
            <a:ext cx="8869680" cy="822960"/>
          </a:xfrm>
          <a:prstGeom prst="rect">
            <a:avLst/>
          </a:prstGeom>
          <a:noFill/>
          <a:ln/>
        </p:spPr>
        <p:txBody>
          <a:bodyPr wrap="square" rtlCol="0" anchor="t"/>
          <a:lstStyle/>
          <a:p>
            <a:pPr algn="ctr" indent="0" marL="0">
              <a:buNone/>
            </a:pPr>
            <a:r>
              <a:rPr lang="en-US" sz="1600" dirty="0">
                <a:solidFill>
                  <a:srgbClr val="5B6B7A"/>
                </a:solidFill>
                <a:latin typeface="Calibri" pitchFamily="34" charset="0"/>
                <a:ea typeface="Calibri" pitchFamily="34" charset="-122"/>
                <a:cs typeface="Calibri" pitchFamily="34" charset="-120"/>
              </a:rPr>
              <a:t>Unas preguntas rápidas para repasar en vivo lo que hemos visto: tablas y llaves, normalización, integridad, ACID, SQL y qué hace un índice.</a:t>
            </a:r>
            <a:endParaRPr lang="en-US" sz="1600" dirty="0"/>
          </a:p>
        </p:txBody>
      </p:sp>
      <p:sp>
        <p:nvSpPr>
          <p:cNvPr id="6" name="Shape 3"/>
          <p:cNvSpPr/>
          <p:nvPr/>
        </p:nvSpPr>
        <p:spPr>
          <a:xfrm>
            <a:off x="3474720" y="4297680"/>
            <a:ext cx="5212080" cy="1005840"/>
          </a:xfrm>
          <a:prstGeom prst="roundRect">
            <a:avLst>
              <a:gd name="adj" fmla="val 9091"/>
            </a:avLst>
          </a:prstGeom>
          <a:solidFill>
            <a:srgbClr val="F4F7F9"/>
          </a:solidFill>
          <a:ln/>
        </p:spPr>
      </p:sp>
      <p:sp>
        <p:nvSpPr>
          <p:cNvPr id="7" name="Shape 4"/>
          <p:cNvSpPr/>
          <p:nvPr/>
        </p:nvSpPr>
        <p:spPr>
          <a:xfrm>
            <a:off x="3703320" y="4434840"/>
            <a:ext cx="731520" cy="731520"/>
          </a:xfrm>
          <a:prstGeom prst="ellipse">
            <a:avLst/>
          </a:prstGeom>
          <a:solidFill>
            <a:srgbClr val="1C7293"/>
          </a:solidFill>
          <a:ln/>
        </p:spPr>
      </p:sp>
      <p:pic>
        <p:nvPicPr>
          <p:cNvPr id="8" name="Image 1" descr="/home/claude/work/pptx_build/icons/mobileAlt.png">    </p:cNvPr>
          <p:cNvPicPr>
            <a:picLocks noChangeAspect="1"/>
          </p:cNvPicPr>
          <p:nvPr/>
        </p:nvPicPr>
        <p:blipFill>
          <a:blip r:embed="rId2"/>
          <a:stretch>
            <a:fillRect/>
          </a:stretch>
        </p:blipFill>
        <p:spPr>
          <a:xfrm>
            <a:off x="3805733" y="4537253"/>
            <a:ext cx="526694" cy="526694"/>
          </a:xfrm>
          <a:prstGeom prst="rect">
            <a:avLst/>
          </a:prstGeom>
        </p:spPr>
      </p:pic>
      <p:sp>
        <p:nvSpPr>
          <p:cNvPr id="9" name="Text 5"/>
          <p:cNvSpPr/>
          <p:nvPr/>
        </p:nvSpPr>
        <p:spPr>
          <a:xfrm>
            <a:off x="4572000" y="4297680"/>
            <a:ext cx="3931920" cy="100584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Entra en kahoot.it</a:t>
            </a:r>
            <a:endParaRPr lang="en-US" sz="1500" dirty="0"/>
          </a:p>
          <a:p>
            <a:pPr indent="0" marL="0">
              <a:buNone/>
            </a:pPr>
            <a:r>
              <a:rPr lang="en-US" sz="1500" b="1" dirty="0">
                <a:solidFill>
                  <a:srgbClr val="21295C"/>
                </a:solidFill>
                <a:latin typeface="Calibri" pitchFamily="34" charset="0"/>
                <a:ea typeface="Calibri" pitchFamily="34" charset="-122"/>
                <a:cs typeface="Calibri" pitchFamily="34" charset="-120"/>
              </a:rPr>
              <a:t>y escribe el PIN del juego</a:t>
            </a:r>
            <a:endParaRPr lang="en-US" sz="1500" dirty="0"/>
          </a:p>
        </p:txBody>
      </p:sp>
      <p:sp>
        <p:nvSpPr>
          <p:cNvPr id="10" name="Text 6"/>
          <p:cNvSpPr/>
          <p:nvPr/>
        </p:nvSpPr>
        <p:spPr>
          <a:xfrm>
            <a:off x="457200" y="6537960"/>
            <a:ext cx="7315200" cy="274320"/>
          </a:xfrm>
          <a:prstGeom prst="rect">
            <a:avLst/>
          </a:prstGeom>
          <a:noFill/>
          <a:ln/>
        </p:spPr>
        <p:txBody>
          <a:bodyPr wrap="square" rtlCol="0" anchor="ctr"/>
          <a:lstStyle/>
          <a:p>
            <a:pPr algn="l" indent="0" marL="0">
              <a:buNone/>
            </a:pPr>
            <a:r>
              <a:rPr lang="en-US" sz="1000" dirty="0">
                <a:solidFill>
                  <a:srgbClr val="5B6B7A"/>
                </a:solidFill>
                <a:latin typeface="Calibri" pitchFamily="34" charset="0"/>
                <a:ea typeface="Calibri" pitchFamily="34" charset="-122"/>
                <a:cs typeface="Calibri" pitchFamily="34" charset="-120"/>
              </a:rPr>
              <a:t>Práctica</a:t>
            </a:r>
            <a:endParaRPr lang="en-US" sz="1000" dirty="0"/>
          </a:p>
        </p:txBody>
      </p:sp>
      <p:sp>
        <p:nvSpPr>
          <p:cNvPr id="11" name="Text 7"/>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731520"/>
          </a:xfrm>
          <a:prstGeom prst="rect">
            <a:avLst/>
          </a:prstGeom>
          <a:noFill/>
          <a:ln/>
        </p:spPr>
        <p:txBody>
          <a:bodyPr wrap="square"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¿Cómo se juega?</a:t>
            </a:r>
            <a:endParaRPr lang="en-US" sz="2800" dirty="0"/>
          </a:p>
        </p:txBody>
      </p:sp>
      <p:sp>
        <p:nvSpPr>
          <p:cNvPr id="3" name="Shape 1"/>
          <p:cNvSpPr/>
          <p:nvPr/>
        </p:nvSpPr>
        <p:spPr>
          <a:xfrm>
            <a:off x="640080" y="1600200"/>
            <a:ext cx="731520" cy="731520"/>
          </a:xfrm>
          <a:prstGeom prst="ellipse">
            <a:avLst/>
          </a:prstGeom>
          <a:solidFill>
            <a:srgbClr val="1C7293"/>
          </a:solidFill>
          <a:ln/>
        </p:spPr>
      </p:sp>
      <p:pic>
        <p:nvPicPr>
          <p:cNvPr id="4" name="Image 0" descr="/home/claude/work/pptx_build/icons/mobileAlt.png">    </p:cNvPr>
          <p:cNvPicPr>
            <a:picLocks noChangeAspect="1"/>
          </p:cNvPicPr>
          <p:nvPr/>
        </p:nvPicPr>
        <p:blipFill>
          <a:blip r:embed="rId1"/>
          <a:stretch>
            <a:fillRect/>
          </a:stretch>
        </p:blipFill>
        <p:spPr>
          <a:xfrm>
            <a:off x="742493" y="1702613"/>
            <a:ext cx="526694" cy="526694"/>
          </a:xfrm>
          <a:prstGeom prst="rect">
            <a:avLst/>
          </a:prstGeom>
        </p:spPr>
      </p:pic>
      <p:sp>
        <p:nvSpPr>
          <p:cNvPr id="5" name="Text 2"/>
          <p:cNvSpPr/>
          <p:nvPr/>
        </p:nvSpPr>
        <p:spPr>
          <a:xfrm>
            <a:off x="1645920" y="1554480"/>
            <a:ext cx="9692640" cy="365760"/>
          </a:xfrm>
          <a:prstGeom prst="rect">
            <a:avLst/>
          </a:prstGeom>
          <a:noFill/>
          <a:ln/>
        </p:spPr>
        <p:txBody>
          <a:bodyPr wrap="square"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Un dispositivo por persona</a:t>
            </a:r>
            <a:endParaRPr lang="en-US" sz="1700" dirty="0"/>
          </a:p>
        </p:txBody>
      </p:sp>
      <p:sp>
        <p:nvSpPr>
          <p:cNvPr id="6" name="Text 3"/>
          <p:cNvSpPr/>
          <p:nvPr/>
        </p:nvSpPr>
        <p:spPr>
          <a:xfrm>
            <a:off x="1645920" y="1947672"/>
            <a:ext cx="9692640" cy="548640"/>
          </a:xfrm>
          <a:prstGeom prst="rect">
            <a:avLst/>
          </a:prstGeom>
          <a:noFill/>
          <a:ln/>
        </p:spPr>
        <p:txBody>
          <a:bodyPr wrap="square" rtlCol="0" anchor="ctr"/>
          <a:lstStyle/>
          <a:p>
            <a:pPr indent="0" marL="0">
              <a:buNone/>
            </a:pPr>
            <a:r>
              <a:rPr lang="en-US" sz="1400" dirty="0">
                <a:solidFill>
                  <a:srgbClr val="5B6B7A"/>
                </a:solidFill>
                <a:latin typeface="Calibri" pitchFamily="34" charset="0"/>
                <a:ea typeface="Calibri" pitchFamily="34" charset="-122"/>
                <a:cs typeface="Calibri" pitchFamily="34" charset="-120"/>
              </a:rPr>
              <a:t>Con el móvil o el portátil, sin necesidad de descargar nada: solo el navegador.</a:t>
            </a:r>
            <a:endParaRPr lang="en-US" sz="1400" dirty="0"/>
          </a:p>
        </p:txBody>
      </p:sp>
      <p:sp>
        <p:nvSpPr>
          <p:cNvPr id="7" name="Shape 4"/>
          <p:cNvSpPr/>
          <p:nvPr/>
        </p:nvSpPr>
        <p:spPr>
          <a:xfrm>
            <a:off x="640080" y="3017520"/>
            <a:ext cx="731520" cy="731520"/>
          </a:xfrm>
          <a:prstGeom prst="ellipse">
            <a:avLst/>
          </a:prstGeom>
          <a:solidFill>
            <a:srgbClr val="1C7293"/>
          </a:solidFill>
          <a:ln/>
        </p:spPr>
      </p:sp>
      <p:pic>
        <p:nvPicPr>
          <p:cNvPr id="8" name="Image 1" descr="/home/claude/work/pptx_build/icons/gamepad2.png">    </p:cNvPr>
          <p:cNvPicPr>
            <a:picLocks noChangeAspect="1"/>
          </p:cNvPicPr>
          <p:nvPr/>
        </p:nvPicPr>
        <p:blipFill>
          <a:blip r:embed="rId2"/>
          <a:stretch>
            <a:fillRect/>
          </a:stretch>
        </p:blipFill>
        <p:spPr>
          <a:xfrm>
            <a:off x="742493" y="3119933"/>
            <a:ext cx="526694" cy="526694"/>
          </a:xfrm>
          <a:prstGeom prst="rect">
            <a:avLst/>
          </a:prstGeom>
        </p:spPr>
      </p:pic>
      <p:sp>
        <p:nvSpPr>
          <p:cNvPr id="9" name="Text 5"/>
          <p:cNvSpPr/>
          <p:nvPr/>
        </p:nvSpPr>
        <p:spPr>
          <a:xfrm>
            <a:off x="1645920" y="2971800"/>
            <a:ext cx="9692640" cy="365760"/>
          </a:xfrm>
          <a:prstGeom prst="rect">
            <a:avLst/>
          </a:prstGeom>
          <a:noFill/>
          <a:ln/>
        </p:spPr>
        <p:txBody>
          <a:bodyPr wrap="square"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Preguntas con tiempo límite</a:t>
            </a:r>
            <a:endParaRPr lang="en-US" sz="1700" dirty="0"/>
          </a:p>
        </p:txBody>
      </p:sp>
      <p:sp>
        <p:nvSpPr>
          <p:cNvPr id="10" name="Text 6"/>
          <p:cNvSpPr/>
          <p:nvPr/>
        </p:nvSpPr>
        <p:spPr>
          <a:xfrm>
            <a:off x="1645920" y="3364992"/>
            <a:ext cx="9692640" cy="548640"/>
          </a:xfrm>
          <a:prstGeom prst="rect">
            <a:avLst/>
          </a:prstGeom>
          <a:noFill/>
          <a:ln/>
        </p:spPr>
        <p:txBody>
          <a:bodyPr wrap="square" rtlCol="0" anchor="ctr"/>
          <a:lstStyle/>
          <a:p>
            <a:pPr indent="0" marL="0">
              <a:buNone/>
            </a:pPr>
            <a:r>
              <a:rPr lang="en-US" sz="1400" dirty="0">
                <a:solidFill>
                  <a:srgbClr val="5B6B7A"/>
                </a:solidFill>
                <a:latin typeface="Calibri" pitchFamily="34" charset="0"/>
                <a:ea typeface="Calibri" pitchFamily="34" charset="-122"/>
                <a:cs typeface="Calibri" pitchFamily="34" charset="-120"/>
              </a:rPr>
              <a:t>Cada pregunta tiene 4 opciones y un contador. Cuanto antes aciertes, más puntos.</a:t>
            </a:r>
            <a:endParaRPr lang="en-US" sz="1400" dirty="0"/>
          </a:p>
        </p:txBody>
      </p:sp>
      <p:sp>
        <p:nvSpPr>
          <p:cNvPr id="11" name="Shape 7"/>
          <p:cNvSpPr/>
          <p:nvPr/>
        </p:nvSpPr>
        <p:spPr>
          <a:xfrm>
            <a:off x="640080" y="4434840"/>
            <a:ext cx="731520" cy="731520"/>
          </a:xfrm>
          <a:prstGeom prst="ellipse">
            <a:avLst/>
          </a:prstGeom>
          <a:solidFill>
            <a:srgbClr val="1C7293"/>
          </a:solidFill>
          <a:ln/>
        </p:spPr>
      </p:sp>
      <p:pic>
        <p:nvPicPr>
          <p:cNvPr id="12" name="Image 2" descr="/home/claude/work/pptx_build/icons/trophy.png">    </p:cNvPr>
          <p:cNvPicPr>
            <a:picLocks noChangeAspect="1"/>
          </p:cNvPicPr>
          <p:nvPr/>
        </p:nvPicPr>
        <p:blipFill>
          <a:blip r:embed="rId3"/>
          <a:stretch>
            <a:fillRect/>
          </a:stretch>
        </p:blipFill>
        <p:spPr>
          <a:xfrm>
            <a:off x="742493" y="4537253"/>
            <a:ext cx="526694" cy="526694"/>
          </a:xfrm>
          <a:prstGeom prst="rect">
            <a:avLst/>
          </a:prstGeom>
        </p:spPr>
      </p:pic>
      <p:sp>
        <p:nvSpPr>
          <p:cNvPr id="13" name="Text 8"/>
          <p:cNvSpPr/>
          <p:nvPr/>
        </p:nvSpPr>
        <p:spPr>
          <a:xfrm>
            <a:off x="1645920" y="4389120"/>
            <a:ext cx="9692640" cy="365760"/>
          </a:xfrm>
          <a:prstGeom prst="rect">
            <a:avLst/>
          </a:prstGeom>
          <a:noFill/>
          <a:ln/>
        </p:spPr>
        <p:txBody>
          <a:bodyPr wrap="square"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Marcador en vivo</a:t>
            </a:r>
            <a:endParaRPr lang="en-US" sz="1700" dirty="0"/>
          </a:p>
        </p:txBody>
      </p:sp>
      <p:sp>
        <p:nvSpPr>
          <p:cNvPr id="14" name="Text 9"/>
          <p:cNvSpPr/>
          <p:nvPr/>
        </p:nvSpPr>
        <p:spPr>
          <a:xfrm>
            <a:off x="1645920" y="4782312"/>
            <a:ext cx="9692640" cy="548640"/>
          </a:xfrm>
          <a:prstGeom prst="rect">
            <a:avLst/>
          </a:prstGeom>
          <a:noFill/>
          <a:ln/>
        </p:spPr>
        <p:txBody>
          <a:bodyPr wrap="square" rtlCol="0" anchor="ctr"/>
          <a:lstStyle/>
          <a:p>
            <a:pPr indent="0" marL="0">
              <a:buNone/>
            </a:pPr>
            <a:r>
              <a:rPr lang="en-US" sz="1400" dirty="0">
                <a:solidFill>
                  <a:srgbClr val="5B6B7A"/>
                </a:solidFill>
                <a:latin typeface="Calibri" pitchFamily="34" charset="0"/>
                <a:ea typeface="Calibri" pitchFamily="34" charset="-122"/>
                <a:cs typeface="Calibri" pitchFamily="34" charset="-120"/>
              </a:rPr>
              <a:t>Después de cada pregunta se ve la clasificación, para mantener el ritmo y la diversión.</a:t>
            </a:r>
            <a:endParaRPr lang="en-US" sz="1400" dirty="0"/>
          </a:p>
        </p:txBody>
      </p:sp>
      <p:sp>
        <p:nvSpPr>
          <p:cNvPr id="15" name="Text 10"/>
          <p:cNvSpPr/>
          <p:nvPr/>
        </p:nvSpPr>
        <p:spPr>
          <a:xfrm>
            <a:off x="640080" y="5989320"/>
            <a:ext cx="10881360" cy="365760"/>
          </a:xfrm>
          <a:prstGeom prst="rect">
            <a:avLst/>
          </a:prstGeom>
          <a:noFill/>
          <a:ln/>
        </p:spPr>
        <p:txBody>
          <a:bodyPr wrap="square" rtlCol="0" anchor="ctr"/>
          <a:lstStyle/>
          <a:p>
            <a:pPr indent="0" marL="0">
              <a:buNone/>
            </a:pPr>
            <a:r>
              <a:rPr lang="en-US" sz="1300" i="1" dirty="0">
                <a:solidFill>
                  <a:srgbClr val="1C7293"/>
                </a:solidFill>
                <a:latin typeface="Calibri" pitchFamily="34" charset="0"/>
                <a:ea typeface="Calibri" pitchFamily="34" charset="-122"/>
                <a:cs typeface="Calibri" pitchFamily="34" charset="-120"/>
              </a:rPr>
              <a:t>Al terminar, repasamos juntos las preguntas que más hayan costado.</a:t>
            </a:r>
            <a:endParaRPr lang="en-US" sz="1300" dirty="0"/>
          </a:p>
        </p:txBody>
      </p:sp>
      <p:sp>
        <p:nvSpPr>
          <p:cNvPr id="16" name="Text 11"/>
          <p:cNvSpPr/>
          <p:nvPr/>
        </p:nvSpPr>
        <p:spPr>
          <a:xfrm>
            <a:off x="457200" y="6537960"/>
            <a:ext cx="7315200" cy="274320"/>
          </a:xfrm>
          <a:prstGeom prst="rect">
            <a:avLst/>
          </a:prstGeom>
          <a:noFill/>
          <a:ln/>
        </p:spPr>
        <p:txBody>
          <a:bodyPr wrap="square" rtlCol="0" anchor="ctr"/>
          <a:lstStyle/>
          <a:p>
            <a:pPr algn="l" indent="0" marL="0">
              <a:buNone/>
            </a:pPr>
            <a:r>
              <a:rPr lang="en-US" sz="1000" dirty="0">
                <a:solidFill>
                  <a:srgbClr val="5B6B7A"/>
                </a:solidFill>
                <a:latin typeface="Calibri" pitchFamily="34" charset="0"/>
                <a:ea typeface="Calibri" pitchFamily="34" charset="-122"/>
                <a:cs typeface="Calibri" pitchFamily="34" charset="-120"/>
              </a:rPr>
              <a:t>Práctica</a:t>
            </a:r>
            <a:endParaRPr lang="en-US" sz="1000" dirty="0"/>
          </a:p>
        </p:txBody>
      </p:sp>
      <p:sp>
        <p:nvSpPr>
          <p:cNvPr id="17" name="Text 12"/>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5394960" y="1463040"/>
            <a:ext cx="1371600" cy="1371600"/>
          </a:xfrm>
          <a:prstGeom prst="ellipse">
            <a:avLst/>
          </a:prstGeom>
          <a:solidFill>
            <a:srgbClr val="065A82"/>
          </a:solidFill>
          <a:ln/>
        </p:spPr>
      </p:sp>
      <p:pic>
        <p:nvPicPr>
          <p:cNvPr id="3" name="Image 0" descr="/home/claude/work/pptx_build/icons/comments.png">    </p:cNvPr>
          <p:cNvPicPr>
            <a:picLocks noChangeAspect="1"/>
          </p:cNvPicPr>
          <p:nvPr/>
        </p:nvPicPr>
        <p:blipFill>
          <a:blip r:embed="rId1"/>
          <a:stretch>
            <a:fillRect/>
          </a:stretch>
        </p:blipFill>
        <p:spPr>
          <a:xfrm>
            <a:off x="5586984" y="1655064"/>
            <a:ext cx="987552" cy="987552"/>
          </a:xfrm>
          <a:prstGeom prst="rect">
            <a:avLst/>
          </a:prstGeom>
        </p:spPr>
      </p:pic>
      <p:sp>
        <p:nvSpPr>
          <p:cNvPr id="4" name="Text 1"/>
          <p:cNvSpPr/>
          <p:nvPr/>
        </p:nvSpPr>
        <p:spPr>
          <a:xfrm>
            <a:off x="731520" y="3108960"/>
            <a:ext cx="10698480" cy="914400"/>
          </a:xfrm>
          <a:prstGeom prst="rect">
            <a:avLst/>
          </a:prstGeom>
          <a:noFill/>
          <a:ln/>
        </p:spPr>
        <p:txBody>
          <a:bodyPr wrap="square"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¿Preguntas?</a:t>
            </a:r>
            <a:endParaRPr lang="en-US" sz="4400" dirty="0"/>
          </a:p>
        </p:txBody>
      </p:sp>
      <p:sp>
        <p:nvSpPr>
          <p:cNvPr id="5" name="Text 2"/>
          <p:cNvSpPr/>
          <p:nvPr/>
        </p:nvSpPr>
        <p:spPr>
          <a:xfrm>
            <a:off x="731520" y="4297680"/>
            <a:ext cx="10698480" cy="548640"/>
          </a:xfrm>
          <a:prstGeom prst="rect">
            <a:avLst/>
          </a:prstGeom>
          <a:noFill/>
          <a:ln/>
        </p:spPr>
        <p:txBody>
          <a:bodyPr wrap="square" rtlCol="0" anchor="ctr"/>
          <a:lstStyle/>
          <a:p>
            <a:pPr algn="ctr" indent="0" marL="0">
              <a:buNone/>
            </a:pPr>
            <a:r>
              <a:rPr lang="en-US" sz="1800" b="1" dirty="0">
                <a:solidFill>
                  <a:srgbClr val="9FD8E8"/>
                </a:solidFill>
                <a:latin typeface="Calibri" pitchFamily="34" charset="0"/>
                <a:ea typeface="Calibri" pitchFamily="34" charset="-122"/>
                <a:cs typeface="Calibri" pitchFamily="34" charset="-120"/>
              </a:rPr>
              <a:t>¡Gracias!</a:t>
            </a:r>
            <a:endParaRPr lang="en-US" sz="1800" dirty="0"/>
          </a:p>
        </p:txBody>
      </p:sp>
      <p:sp>
        <p:nvSpPr>
          <p:cNvPr id="6" name="Text 3"/>
          <p:cNvSpPr/>
          <p:nvPr/>
        </p:nvSpPr>
        <p:spPr>
          <a:xfrm>
            <a:off x="731520" y="5120640"/>
            <a:ext cx="10698480" cy="365760"/>
          </a:xfrm>
          <a:prstGeom prst="rect">
            <a:avLst/>
          </a:prstGeom>
          <a:noFill/>
          <a:ln/>
        </p:spPr>
        <p:txBody>
          <a:bodyPr wrap="square" rtlCol="0" anchor="ctr"/>
          <a:lstStyle/>
          <a:p>
            <a:pPr algn="ctr" indent="0" marL="0">
              <a:buNone/>
            </a:pPr>
            <a:r>
              <a:rPr lang="en-US" sz="1300" dirty="0">
                <a:solidFill>
                  <a:srgbClr val="C9D6E3"/>
                </a:solidFill>
                <a:latin typeface="Calibri" pitchFamily="34" charset="0"/>
                <a:ea typeface="Calibri" pitchFamily="34" charset="-122"/>
                <a:cs typeface="Calibri" pitchFamily="34" charset="-120"/>
              </a:rPr>
              <a:t>Código y material en GitHub</a:t>
            </a:r>
            <a:endParaRPr lang="en-US" sz="1300" dirty="0"/>
          </a:p>
        </p:txBody>
      </p:sp>
      <p:sp>
        <p:nvSpPr>
          <p:cNvPr id="7" name="Text 4">
            <a:hlinkClick r:id="rId2" tooltip=""/>
          </p:cNvPr>
          <p:cNvSpPr/>
          <p:nvPr/>
        </p:nvSpPr>
        <p:spPr>
          <a:xfrm>
            <a:off x="731520" y="5440680"/>
            <a:ext cx="10698480" cy="411480"/>
          </a:xfrm>
          <a:prstGeom prst="rect">
            <a:avLst/>
          </a:prstGeom>
          <a:noFill/>
          <a:ln/>
        </p:spPr>
        <p:txBody>
          <a:bodyPr wrap="square" rtlCol="0" anchor="ctr"/>
          <a:lstStyle/>
          <a:p>
            <a:pPr algn="ctr" indent="0" marL="0">
              <a:buNone/>
            </a:pPr>
            <a:r>
              <a:rPr lang="en-US" sz="1600" b="1"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github.com/arita-pereira/bases-de-datos-relacionales-sql</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2026-10-07T11:46:21Z</dcterms:created>
  <dcterms:modified xsi:type="dcterms:W3CDTF">2026-10-07T11:46:21Z</dcterms:modified>
</cp:coreProperties>
</file>